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523dbc00149ac" /><Relationship Type="http://schemas.openxmlformats.org/officeDocument/2006/relationships/extended-properties" Target="/docProps/app.xml" Id="R62cb1da383ca4e8a" /><Relationship Type="http://schemas.openxmlformats.org/officeDocument/2006/relationships/officeDocument" Target="/ppt/presentation.xml" Id="R4fe4d7cc26f54a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b331afd2d74dcb"/>
  </p:sldMasterIdLst>
  <p:notesMasterIdLst>
    <p:notesMasterId xmlns:r="http://schemas.openxmlformats.org/officeDocument/2006/relationships" r:id="R296a7ed5bba24005"/>
  </p:notesMasterIdLst>
  <p:sldIdLst>
    <p:sldId xmlns:r="http://schemas.openxmlformats.org/officeDocument/2006/relationships" id="256" r:id="R0e251558d4264598"/>
    <p:sldId xmlns:r="http://schemas.openxmlformats.org/officeDocument/2006/relationships" id="257" r:id="R9c818582194c4ddf"/>
    <p:sldId xmlns:r="http://schemas.openxmlformats.org/officeDocument/2006/relationships" id="258" r:id="R8f476b7c040f4835"/>
    <p:sldId xmlns:r="http://schemas.openxmlformats.org/officeDocument/2006/relationships" id="259" r:id="R5e3864a1e7954ca1"/>
    <p:sldId xmlns:r="http://schemas.openxmlformats.org/officeDocument/2006/relationships" id="260" r:id="R0e1d7e421b254177"/>
    <p:sldId xmlns:r="http://schemas.openxmlformats.org/officeDocument/2006/relationships" id="261" r:id="Rd15ff7369d76435f"/>
    <p:sldId xmlns:r="http://schemas.openxmlformats.org/officeDocument/2006/relationships" id="262" r:id="R59425865ed38454e"/>
    <p:sldId xmlns:r="http://schemas.openxmlformats.org/officeDocument/2006/relationships" id="263" r:id="R967974178447410b"/>
    <p:sldId xmlns:r="http://schemas.openxmlformats.org/officeDocument/2006/relationships" id="264" r:id="R15371a0169214317"/>
    <p:sldId xmlns:r="http://schemas.openxmlformats.org/officeDocument/2006/relationships" id="265" r:id="R56b68f775f6b45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8baa083e9b4db2" /><Relationship Type="http://schemas.openxmlformats.org/officeDocument/2006/relationships/slideMaster" Target="/ppt/slideMasters/slideMaster1.xml" Id="R0eb331afd2d74dcb" /><Relationship Type="http://schemas.openxmlformats.org/officeDocument/2006/relationships/notesMaster" Target="/ppt/notesMasters/notesMaster1.xml" Id="R296a7ed5bba24005" /><Relationship Type="http://schemas.openxmlformats.org/officeDocument/2006/relationships/presProps" Target="/ppt/presProps.xml" Id="Ra918593e1a51485e" /><Relationship Type="http://schemas.openxmlformats.org/officeDocument/2006/relationships/tableStyles" Target="/ppt/tableStyles.xml" Id="R2e9f2a5743cb41b8" /><Relationship Type="http://schemas.openxmlformats.org/officeDocument/2006/relationships/slide" Target="/ppt/slides/slide1.xml" Id="R0e251558d4264598" /><Relationship Type="http://schemas.openxmlformats.org/officeDocument/2006/relationships/slide" Target="/ppt/slides/slide2.xml" Id="R9c818582194c4ddf" /><Relationship Type="http://schemas.openxmlformats.org/officeDocument/2006/relationships/slide" Target="/ppt/slides/slide3.xml" Id="R8f476b7c040f4835" /><Relationship Type="http://schemas.openxmlformats.org/officeDocument/2006/relationships/slide" Target="/ppt/slides/slide4.xml" Id="R5e3864a1e7954ca1" /><Relationship Type="http://schemas.openxmlformats.org/officeDocument/2006/relationships/slide" Target="/ppt/slides/slide5.xml" Id="R0e1d7e421b254177" /><Relationship Type="http://schemas.openxmlformats.org/officeDocument/2006/relationships/slide" Target="/ppt/slides/slide6.xml" Id="Rd15ff7369d76435f" /><Relationship Type="http://schemas.openxmlformats.org/officeDocument/2006/relationships/slide" Target="/ppt/slides/slide7.xml" Id="R59425865ed38454e" /><Relationship Type="http://schemas.openxmlformats.org/officeDocument/2006/relationships/slide" Target="/ppt/slides/slide8.xml" Id="R967974178447410b" /><Relationship Type="http://schemas.openxmlformats.org/officeDocument/2006/relationships/slide" Target="/ppt/slides/slide9.xml" Id="R15371a0169214317" /><Relationship Type="http://schemas.openxmlformats.org/officeDocument/2006/relationships/slide" Target="/ppt/slides/slide10.xml" Id="R56b68f775f6b45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2b55e6c834f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a3a7269cf34114" /><Relationship Type="http://schemas.openxmlformats.org/officeDocument/2006/relationships/notesMaster" Target="/ppt/notesMasters/notesMaster1.xml" Id="R993ad51e6e744f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0675d3f30443e" /><Relationship Type="http://schemas.openxmlformats.org/officeDocument/2006/relationships/notesMaster" Target="/ppt/notesMasters/notesMaster1.xml" Id="Ref9234b7fae043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f50fc6717e4c3c" /><Relationship Type="http://schemas.openxmlformats.org/officeDocument/2006/relationships/notesMaster" Target="/ppt/notesMasters/notesMaster1.xml" Id="Rb3d257c3a8d642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ec2b95d0824083" /><Relationship Type="http://schemas.openxmlformats.org/officeDocument/2006/relationships/notesMaster" Target="/ppt/notesMasters/notesMaster1.xml" Id="Rf5c4cd988bee4c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235c63471c4270" /><Relationship Type="http://schemas.openxmlformats.org/officeDocument/2006/relationships/notesMaster" Target="/ppt/notesMasters/notesMaster1.xml" Id="Rffbbc495203a4d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05b75e7cd8c47ba" /><Relationship Type="http://schemas.openxmlformats.org/officeDocument/2006/relationships/notesMaster" Target="/ppt/notesMasters/notesMaster1.xml" Id="Rfecf8e0eb63842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1f3b1d024048a1" /><Relationship Type="http://schemas.openxmlformats.org/officeDocument/2006/relationships/notesMaster" Target="/ppt/notesMasters/notesMaster1.xml" Id="R8301238bafb548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55713fc3954766" /><Relationship Type="http://schemas.openxmlformats.org/officeDocument/2006/relationships/notesMaster" Target="/ppt/notesMasters/notesMaster1.xml" Id="Rb208065acc294c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6df790bde84090" /><Relationship Type="http://schemas.openxmlformats.org/officeDocument/2006/relationships/notesMaster" Target="/ppt/notesMasters/notesMaster1.xml" Id="R944410bd435f42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e0b50c8f3934923" /><Relationship Type="http://schemas.openxmlformats.org/officeDocument/2006/relationships/notesMaster" Target="/ppt/notesMasters/notesMaster1.xml" Id="Rd011b54ca69948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frozen pilot evidence: tag pilot-v2-phase7-final-20260729.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README.md; data/v2/pilot; runs/v2/phase6_seed42_final.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data/v2/pilot/qa/pilot-qa-v2-owner-approved-20260724-r5.jsonl; runs/v2/phase6_seed42_final.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runs/v2/phase6_seed42_final/metrics/balanced_metrics.json.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runs/v2/phase6_seed42_final/statistics/preregistered_h1_h4_results.json.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audits/phase7_generation/v2/full_v2_success_checkpoint.json; docs/PHASE7_FINAL_AI_EVALUATED_STATUS.md.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runs/v2/phase7_generation_claude_top3_v2/evaluation_v2_ai/h5_results.json.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runs/v2/phase7_generation_claude_top3_v2/evaluation_v1/owner_audit_summary.json; owner notes in completed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README.md; docs/PHASE7_FINAL_AI_EVALUATED_STATUS.md; docs/PHASE6_SEED42_FINAL_CANONICAL_STATUS.md.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frozen pilot evidence: commit 40aad1a; tag pilot-v2-phase7-final-20260729.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b6e0e03784b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587273c554c90" /><Relationship Type="http://schemas.openxmlformats.org/officeDocument/2006/relationships/slideLayout" Target="/ppt/slideLayouts/slideLayout1.xml" Id="R20c1453b68ff41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c1453b68ff41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44cef0b5e4729" /><Relationship Type="http://schemas.openxmlformats.org/officeDocument/2006/relationships/notesSlide" Target="/ppt/notesSlides/notesSlide1.xml" Id="R769dfb398ec045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94f1fb601490c" /><Relationship Type="http://schemas.openxmlformats.org/officeDocument/2006/relationships/notesSlide" Target="/ppt/notesSlides/notesSlide2.xml" Id="Re91da1975334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06226ee98407c" /><Relationship Type="http://schemas.openxmlformats.org/officeDocument/2006/relationships/notesSlide" Target="/ppt/notesSlides/notesSlide3.xml" Id="Rd49011fd84c94cd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f9b2b8db24042" /><Relationship Type="http://schemas.openxmlformats.org/officeDocument/2006/relationships/chart" Target="/ppt/slides/charts/chart1.xml" Id="R15cc4b47827e4700" /><Relationship Type="http://schemas.openxmlformats.org/officeDocument/2006/relationships/notesSlide" Target="/ppt/notesSlides/notesSlide4.xml" Id="R7f2025031d8445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993650a3f34337" /><Relationship Type="http://schemas.openxmlformats.org/officeDocument/2006/relationships/notesSlide" Target="/ppt/notesSlides/notesSlide5.xml" Id="Re62d57ddf93441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6ebf299804c6a" /><Relationship Type="http://schemas.openxmlformats.org/officeDocument/2006/relationships/notesSlide" Target="/ppt/notesSlides/notesSlide6.xml" Id="R61bbe57b8e534f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11928d2724b7e" /><Relationship Type="http://schemas.openxmlformats.org/officeDocument/2006/relationships/chart" Target="/ppt/slides/charts/chart2.xml" Id="Rcfc508c667134cbd" /><Relationship Type="http://schemas.openxmlformats.org/officeDocument/2006/relationships/notesSlide" Target="/ppt/notesSlides/notesSlide7.xml" Id="R9b8815720be94c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eced0a3744e87" /><Relationship Type="http://schemas.openxmlformats.org/officeDocument/2006/relationships/notesSlide" Target="/ppt/notesSlides/notesSlide8.xml" Id="Rc4ef24258a824e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2906faceb47e0" /><Relationship Type="http://schemas.openxmlformats.org/officeDocument/2006/relationships/notesSlide" Target="/ppt/notesSlides/notesSlide9.xml" Id="R5608da93fedb40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bedd916a84195" /><Relationship Type="http://schemas.openxmlformats.org/officeDocument/2006/relationships/notesSlide" Target="/ppt/notesSlides/notesSlide10.xml" Id="R7e2eb54b20c84b0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MRR@10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BM25</c:v>
              </c:pt>
              <c:pt idx="1">
                <c:v>FAISS</c:v>
              </c:pt>
              <c:pt idx="2">
                <c:v>Graph</c:v>
              </c:pt>
              <c:pt idx="3">
                <c:v>Hybrid</c:v>
              </c:pt>
              <c:pt idx="4">
                <c:v>Prompt-RAG</c:v>
              </c:pt>
            </c:strLit>
          </c:cat>
          <c:val>
            <c:numLit>
              <c:formatCode>General</c:formatCode>
              <c:ptCount val="5"/>
              <c:pt idx="0">
                <c:v>0.9412</c:v>
              </c:pt>
              <c:pt idx="1">
                <c:v>0.8279</c:v>
              </c:pt>
              <c:pt idx="2">
                <c:v>0.6765</c:v>
              </c:pt>
              <c:pt idx="3">
                <c:v>0.9559</c:v>
              </c:pt>
              <c:pt idx="4">
                <c:v>0.9779</c:v>
              </c:pt>
            </c:numLit>
          </c:val>
        </c:ser>
        <c:ser>
          <c:idx val="1"/>
          <c:order val="1"/>
          <c:tx>
            <c:v>Recall@10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5"/>
              <c:pt idx="0">
                <c:v>BM25</c:v>
              </c:pt>
              <c:pt idx="1">
                <c:v>FAISS</c:v>
              </c:pt>
              <c:pt idx="2">
                <c:v>Graph</c:v>
              </c:pt>
              <c:pt idx="3">
                <c:v>Hybrid</c:v>
              </c:pt>
              <c:pt idx="4">
                <c:v>Prompt-RAG</c:v>
              </c:pt>
            </c:strLit>
          </c:cat>
          <c:val>
            <c:numLit>
              <c:formatCode>General</c:formatCode>
              <c:ptCount val="5"/>
              <c:pt idx="0">
                <c:v>0.8008</c:v>
              </c:pt>
              <c:pt idx="1">
                <c:v>0.7001</c:v>
              </c:pt>
              <c:pt idx="2">
                <c:v>0.6103</c:v>
              </c:pt>
              <c:pt idx="3">
                <c:v>0.8449</c:v>
              </c:pt>
              <c:pt idx="4">
                <c:v>0.8355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Spearman ρ × 100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4"/>
              <c:pt idx="0">
                <c:v>MRR → faithfulness</c:v>
              </c:pt>
              <c:pt idx="1">
                <c:v>MRR → correctness</c:v>
              </c:pt>
              <c:pt idx="2">
                <c:v>nDCG → correctness</c:v>
              </c:pt>
              <c:pt idx="3">
                <c:v>Evidence recall → completeness</c:v>
              </c:pt>
            </c:strLit>
          </c:cat>
          <c:val>
            <c:numLit>
              <c:formatCode>General</c:formatCode>
              <c:ptCount val="4"/>
              <c:pt idx="0">
                <c:v>-3.33</c:v>
              </c:pt>
              <c:pt idx="1">
                <c:v>17.53</c:v>
              </c:pt>
              <c:pt idx="2">
                <c:v>27</c:v>
              </c:pt>
              <c:pt idx="3">
                <c:v>33.95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0"/>
          <c:min val="-1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7D7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28B7E-CD6C-4D69-9C4B-691CB12A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M.TECH DISSERTATION · 2024AB05200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1FE2F4-2DD0-4792-B43A-4D2A9859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62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Retrieval quality is not one number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1DE86-E316-47F6-B321-77762C60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Sparse, dense, graph, hybrid, and LLM-reranked retrieval on Indian government-scheme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2D5EC-08D5-42BE-9DA6-0CB04DDF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Amulya Gupta · BITS Pilani WILP · July 2026</a:t>
            </a:r>
          </a:p>
        </p:txBody>
      </p:sp>
    </p:spTree>
    <p:extLst>
      <p:ext uri="{BB962C8B-B14F-4D97-AF65-F5344CB8AC3E}">
        <p14:creationId xmlns:p14="http://schemas.microsoft.com/office/powerpoint/2010/main" val="15717995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766D0BC-329E-42F2-AC0C-B41CA8E1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One controlled benchmark isolates retrieval differences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51D044-78AE-40C6-98D9-256929CE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BDE50-9BF3-4450-8807-7F434E16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Same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1EEBBB-3F60-4A47-9FFE-48441B8B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22 documents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140 chunks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7E433-B6B5-4886-A689-FD98B455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62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04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Same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9ECB9-1AC9-4858-A53C-9A0F95E0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34 questions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 categories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67CB1-B83A-4ADA-903E-798CCBB9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62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Five systems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16281-39C8-4098-B5DB-495B54EB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86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BM25 · FAISS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Graph · Hybrid · 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4B4BAE-D14D-46A3-A923-31123C97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9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Same judgments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F23B2-52DE-4EEB-B678-85EB4E49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755 pooled pairs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0 / 1 / 2 grades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119C1-9D76-48B7-A383-DF0A7CAC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6212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2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Separate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CD342-9BFC-45CA-8E9B-43BF1E8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170 answers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Top-3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D4A34-68BE-4D0A-A8ED-4C71690F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AA9AF9-D519-4577-86EF-A514B360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Design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CB0E3-94D6-4AF2-B6E7-75202C79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12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Hold corpus, questions, labels, metrics, prompt, and context depth constant—then preserve contradictory outcomes.</a:t>
            </a:r>
          </a:p>
        </p:txBody>
      </p:sp>
    </p:spTree>
    <p:extLst>
      <p:ext uri="{BB962C8B-B14F-4D97-AF65-F5344CB8AC3E}">
        <p14:creationId xmlns:p14="http://schemas.microsoft.com/office/powerpoint/2010/main" val="825848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1F011874-E793-405A-A53D-8519459F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Pilot is small, balanced, and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6ADA8-6E6B-49E5-8CB4-1F085F09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44201-A062-4171-A56B-C5E28DA2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5241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5CABB-8B7E-4C1D-945A-DC75EFD1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2EAE0-348D-4AC5-9FBE-7D310245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28875"/>
            <a:ext cx="2066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467F1-8803-41B0-801C-548DDD6D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source documents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CC142-740E-4C55-A514-97634B8C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47875"/>
            <a:ext cx="25241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84E53-139B-489C-8C10-51A601CC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B5675-FA62-4A49-A77D-A126A282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28875"/>
            <a:ext cx="2066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76AF5-E5AD-4C8D-B146-7817CECA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286125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frozen 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0F3E2C-A5D1-4E99-A3EF-F3F4FDAA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25241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6E5EE-6F72-4FB0-9A42-822C30B9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solidFill>
              <a:srgbClr val="F2A6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13849-9737-4F2B-9CC5-74E416E4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28875"/>
            <a:ext cx="2066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2D27D6-60AF-4057-937C-70E94EC7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86125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owner-approved questions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7FBA65-820B-41F2-96D6-1DF08AAE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47875"/>
            <a:ext cx="252412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6F5013-987A-4744-A9E3-2DB51719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047875"/>
            <a:ext cx="2524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1282B-1982-43E0-B011-29968C21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428875"/>
            <a:ext cx="20669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755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06A932-356C-42D3-8E72-DFA1C96B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86125"/>
            <a:ext cx="20669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pooled judgments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F3BE8-4CD4-4BBE-9275-176536B9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Category balance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B73CA-4BF5-415B-ADDE-FEC75A89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6 exact · 6 terminology · 6 paraphrase · 6 entity relation · 6 multi-hop · 4 synthesis</a:t>
            </a:r>
          </a:p>
        </p:txBody>
      </p:sp>
    </p:spTree>
    <p:extLst>
      <p:ext uri="{BB962C8B-B14F-4D97-AF65-F5344CB8AC3E}">
        <p14:creationId xmlns:p14="http://schemas.microsoft.com/office/powerpoint/2010/main" val="20381929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992DC486-CE32-46F0-A664-5A3B7770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Prompt-RAG leads rank quality; Hybrid leads recall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DE2A-4D2E-4EC8-B878-7BDE9B5B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7239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5cc4b47827e470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EA4F4-2FEB-48F8-94E4-7323BC13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0.9779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CE430F-39A8-4FDB-AF7F-552021A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highest MRR@10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Prompt-RAG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A9AE4-FD44-4BF2-9F15-88124010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0.8449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1FD10-2B82-4BD9-8917-CFA53D74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05325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highest Recall@10</a:t>
            </a:r>
          </a:p>
          <a:p xmlns:a="http://schemas.openxmlformats.org/drawingml/2006/main">
            <a:pPr algn="l">
              <a:def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Hybrid RRF</a:t>
            </a:r>
          </a:p>
        </p:txBody>
      </p:sp>
    </p:spTree>
    <p:extLst>
      <p:ext uri="{BB962C8B-B14F-4D97-AF65-F5344CB8AC3E}">
        <p14:creationId xmlns:p14="http://schemas.microsoft.com/office/powerpoint/2010/main" val="19792084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B183059-98FE-4596-9B45-BA2592D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Most preregistered advantages did not materialize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D8296E-75B2-4A93-ACD1-B3016647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539B5-6192-425C-A064-ED939414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H1  BM25 ≈ FAISS on exact + terminology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4E40B-39A5-4A36-B1B3-AE0511AB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A6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2A65A"/>
                </a:solidFill>
                <a:latin typeface="Helvetica Neue"/>
                <a:ea typeface="Helvetica Neue"/>
                <a:cs typeface="Helvetica Neue"/>
              </a:rPr>
              <a:t>INCONCLUSIVE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265CA-B58B-4B16-AE19-0874C40D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955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7879DE-88DA-40D8-8F65-3ADD3051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384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H2  FAISS &gt; BM25 on paraphrase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A7CD8-B2C0-4921-8A1D-88A4AAC8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384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NOT SUPPORTED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E22AF-A8C9-4893-B88F-3184BEFC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623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57BC86-C501-46F9-8B91-A0791850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052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H3  Graph &gt; flat retrieval on relations + multi-hop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F85D9-001E-4C95-A941-13B37AB9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052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NOT SUPPORTED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3661B-0A15-485F-B823-455797C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291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7995D-19A8-48BA-80E4-6A93207A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72025"/>
            <a:ext cx="771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H4  Hybrid has highest aggregate MRR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74A384-7137-4531-A8F6-2DF42035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720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NOT SUPPORTED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F00F4-9A25-4C3F-8876-1AA0F00C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95925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8B6632-DF4E-4308-A546-9529C801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007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Negative findings stay visible—no post-hoc hypothesis replacement.</a:t>
            </a:r>
          </a:p>
        </p:txBody>
      </p:sp>
    </p:spTree>
    <p:extLst>
      <p:ext uri="{BB962C8B-B14F-4D97-AF65-F5344CB8AC3E}">
        <p14:creationId xmlns:p14="http://schemas.microsoft.com/office/powerpoint/2010/main" val="16184619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E400C160-F947-48C0-ABEC-FC038161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Generation experiment holds answer conditions constant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148AD-A040-442A-BEB6-FFAC778B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4527C-E82B-4C8B-A9AA-CCFF8494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 systems × 34 questions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252D8-5D86-4B0F-8F92-3B8FCA63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Each system contributes its top-three chunks to one frozen prompt, schema, model, and citation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5E520-5B04-4031-A217-8ADE0292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F2582-AF1E-43DA-9EFE-BE37B25C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716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B459-E319-4721-ABF6-71FA06B2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3F38F4-571E-457B-A3C5-0352E771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98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6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valid answers of 170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A96B3-D108-42C9-89A7-97863C1D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14095-AC78-4A58-9A5E-9D073462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solidFill>
              <a:srgbClr val="F2A6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45559-4A6D-4AD8-99A9-18E93177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52625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$0.525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78A54-8851-430F-8EC5-15C405EB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9875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total provider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86476-004A-4022-8703-B7660FFE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Evaluation disclosure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45AB57-32E7-4204-856A-4FCC00BD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26 human-owner labels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144 offline AI-assisted labels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 composite quality score</a:t>
            </a:r>
          </a:p>
        </p:txBody>
      </p:sp>
    </p:spTree>
    <p:extLst>
      <p:ext uri="{BB962C8B-B14F-4D97-AF65-F5344CB8AC3E}">
        <p14:creationId xmlns:p14="http://schemas.microsoft.com/office/powerpoint/2010/main" val="16078337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909420AC-1EDA-46FF-980D-3BFE01CE9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Rank quality barely predicts faithfulness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FEAF4-04F6-421D-A602-8BC84D48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400050" y="1571625"/>
          <a:ext xmlns:a="http://schemas.openxmlformats.org/drawingml/2006/main" cx="7524750" cy="4429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c508c667134cb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32DF7-40D1-40BF-AD4F-160BA039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ρ = −0.0333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42E3A-619F-4802-93B8-3D491D3C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MRR and faithfulness are almost unrelated.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3A6D5-37A2-4BA6-820E-051607E9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Evidence coverage matters more for completeness than first-hit rank alone.</a:t>
            </a:r>
          </a:p>
        </p:txBody>
      </p:sp>
    </p:spTree>
    <p:extLst>
      <p:ext uri="{BB962C8B-B14F-4D97-AF65-F5344CB8AC3E}">
        <p14:creationId xmlns:p14="http://schemas.microsoft.com/office/powerpoint/2010/main" val="7044867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A3D79BCD-7E9E-4793-9637-1A8BD7A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Generator abstained too aggressively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B8695-0824-4067-9D72-4891E70C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5486D-AA8A-4185-9351-0693D03A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684DB2-F47D-4F11-8445-C9E98873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6666"/>
          </a:solidFill>
          <a:ln xmlns:a="http://schemas.openxmlformats.org/drawingml/2006/main" w="0">
            <a:solidFill>
              <a:srgbClr val="66666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F4375B-F221-4A64-87FB-EE58754D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860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33E533-4225-4C89-9B32-0A99F84F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432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literal abstentions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F3D3EF-8012-4088-8E87-9045127B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16ABC-78DA-48CC-B115-02782197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050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65A"/>
          </a:solidFill>
          <a:ln xmlns:a="http://schemas.openxmlformats.org/drawingml/2006/main" w="0">
            <a:solidFill>
              <a:srgbClr val="F2A6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44F800-A1AE-4696-B8C9-C30793F4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860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662F4-F417-4458-9D11-22A3B77C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incorrect abstentions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7A16D-7DC2-4C00-8530-97931F0B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05000"/>
            <a:ext cx="32385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2E3BE-C791-4A99-B339-FEB454F5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05000"/>
            <a:ext cx="3238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CBD92-F080-48DA-B721-9E1E2422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28600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14196-CC71-4352-A856-517D6CE6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4325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appropriate abstentions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CD86B-66C3-4069-A143-1D0B991E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72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Failure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99B11-72C6-4578-88C6-D21058AA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Evidence supported part—or all—of the requested answer, but generator withheld everything instead of answering supported components and flagging gaps.</a:t>
            </a:r>
          </a:p>
        </p:txBody>
      </p:sp>
    </p:spTree>
    <p:extLst>
      <p:ext uri="{BB962C8B-B14F-4D97-AF65-F5344CB8AC3E}">
        <p14:creationId xmlns:p14="http://schemas.microsoft.com/office/powerpoint/2010/main" val="6723009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D534D05D-C080-4B4D-8CD1-2F85CACAD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076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Contribution is controlled evidence—not a universal winner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13342B-E54B-4352-A6BA-5C3C2E5C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5AAC0-0DA1-4313-A13F-41913ADE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71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What this study establishes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392BF-218D-4431-90C7-C8AB07015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90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BM25 remains a strong policy-domain baseline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Hybrid improves judged recall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LLM reranking improves top-rank quality within candidate ceiling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Retrieval and generation require separate evaluation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Failed runs and corrections remain auditable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927DD-7A31-43A6-9728-2B88CF21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A6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2A65A"/>
                </a:solidFill>
                <a:latin typeface="Helvetica Neue"/>
                <a:ea typeface="Helvetica Neue"/>
                <a:cs typeface="Helvetica Neue"/>
              </a:rPr>
              <a:t>What this study does not establish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55621-38C2-4210-B7F1-ED4BA286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Population-level superiority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Final-scale corpus coverage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170 human-reviewed generation labels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Causal effect of retrieval on answer quality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Microsoft GraphRAG performance</a:t>
            </a:r>
          </a:p>
        </p:txBody>
      </p:sp>
    </p:spTree>
    <p:extLst>
      <p:ext uri="{BB962C8B-B14F-4D97-AF65-F5344CB8AC3E}">
        <p14:creationId xmlns:p14="http://schemas.microsoft.com/office/powerpoint/2010/main" val="9053740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5629E-969B-4908-83FD-C34A67CE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F4811-C037-421B-BED8-A9E7728A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287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88552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Choose retrieval by evidence need—then evaluate generation separately.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BAEDA-76D3-4C3B-A802-C5C1DF18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Frozen pilot · 494 tests passed · 17 documented lifecycle xfails · 0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CBCEE-CFEC-4C22-A899-A5952324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rPr>
              <a:t>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1424060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2026-07-28T18:55:27.9150000Z</dcterms:created>
  <dcterms:modified xsi:type="dcterms:W3CDTF">2026-07-28T18:55:27.9150000Z</dcterms:modified>
</coreProperties>
</file>