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d5bbb0ce8b4e4f" /><Relationship Type="http://schemas.openxmlformats.org/officeDocument/2006/relationships/extended-properties" Target="/docProps/app.xml" Id="Rfdb77e321b3d4acb" /><Relationship Type="http://schemas.openxmlformats.org/officeDocument/2006/relationships/officeDocument" Target="/ppt/presentation.xml" Id="R79bd89b2275c4b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ceca9101894d88"/>
  </p:sldMasterIdLst>
  <p:notesMasterIdLst>
    <p:notesMasterId xmlns:r="http://schemas.openxmlformats.org/officeDocument/2006/relationships" r:id="R5132c653542f42ca"/>
  </p:notesMasterIdLst>
  <p:sldIdLst>
    <p:sldId xmlns:r="http://schemas.openxmlformats.org/officeDocument/2006/relationships" id="256" r:id="R1a26603ae946466d"/>
    <p:sldId xmlns:r="http://schemas.openxmlformats.org/officeDocument/2006/relationships" id="257" r:id="R9751a75d456441a8"/>
    <p:sldId xmlns:r="http://schemas.openxmlformats.org/officeDocument/2006/relationships" id="258" r:id="R7111f839919243d1"/>
    <p:sldId xmlns:r="http://schemas.openxmlformats.org/officeDocument/2006/relationships" id="259" r:id="Ra892f51a3c2c4476"/>
    <p:sldId xmlns:r="http://schemas.openxmlformats.org/officeDocument/2006/relationships" id="260" r:id="R713935f463204778"/>
    <p:sldId xmlns:r="http://schemas.openxmlformats.org/officeDocument/2006/relationships" id="261" r:id="R4a601d18d1b94cf9"/>
    <p:sldId xmlns:r="http://schemas.openxmlformats.org/officeDocument/2006/relationships" id="262" r:id="Rda5f87cdf6554460"/>
    <p:sldId xmlns:r="http://schemas.openxmlformats.org/officeDocument/2006/relationships" id="263" r:id="R314f0df49952471a"/>
    <p:sldId xmlns:r="http://schemas.openxmlformats.org/officeDocument/2006/relationships" id="264" r:id="R34a60a211e6b41ab"/>
    <p:sldId xmlns:r="http://schemas.openxmlformats.org/officeDocument/2006/relationships" id="265" r:id="R3c9805009f974072"/>
    <p:sldId xmlns:r="http://schemas.openxmlformats.org/officeDocument/2006/relationships" id="266" r:id="R8cf83b803fc445f0"/>
    <p:sldId xmlns:r="http://schemas.openxmlformats.org/officeDocument/2006/relationships" id="267" r:id="Rf37f1023fbc14771"/>
    <p:sldId xmlns:r="http://schemas.openxmlformats.org/officeDocument/2006/relationships" id="268" r:id="R6d0f9af9192e4c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717c40951b4ed3" /><Relationship Type="http://schemas.openxmlformats.org/officeDocument/2006/relationships/slideMaster" Target="/ppt/slideMasters/slideMaster1.xml" Id="Re5ceca9101894d88" /><Relationship Type="http://schemas.openxmlformats.org/officeDocument/2006/relationships/notesMaster" Target="/ppt/notesMasters/notesMaster1.xml" Id="R5132c653542f42ca" /><Relationship Type="http://schemas.openxmlformats.org/officeDocument/2006/relationships/presProps" Target="/ppt/presProps.xml" Id="Rc07f6ef73a8248d5" /><Relationship Type="http://schemas.openxmlformats.org/officeDocument/2006/relationships/tableStyles" Target="/ppt/tableStyles.xml" Id="R0e4e96c1eeb446c6" /><Relationship Type="http://schemas.openxmlformats.org/officeDocument/2006/relationships/slide" Target="/ppt/slides/slide1.xml" Id="R1a26603ae946466d" /><Relationship Type="http://schemas.openxmlformats.org/officeDocument/2006/relationships/slide" Target="/ppt/slides/slide2.xml" Id="R9751a75d456441a8" /><Relationship Type="http://schemas.openxmlformats.org/officeDocument/2006/relationships/slide" Target="/ppt/slides/slide3.xml" Id="R7111f839919243d1" /><Relationship Type="http://schemas.openxmlformats.org/officeDocument/2006/relationships/slide" Target="/ppt/slides/slide4.xml" Id="Ra892f51a3c2c4476" /><Relationship Type="http://schemas.openxmlformats.org/officeDocument/2006/relationships/slide" Target="/ppt/slides/slide5.xml" Id="R713935f463204778" /><Relationship Type="http://schemas.openxmlformats.org/officeDocument/2006/relationships/slide" Target="/ppt/slides/slide6.xml" Id="R4a601d18d1b94cf9" /><Relationship Type="http://schemas.openxmlformats.org/officeDocument/2006/relationships/slide" Target="/ppt/slides/slide7.xml" Id="Rda5f87cdf6554460" /><Relationship Type="http://schemas.openxmlformats.org/officeDocument/2006/relationships/slide" Target="/ppt/slides/slide8.xml" Id="R314f0df49952471a" /><Relationship Type="http://schemas.openxmlformats.org/officeDocument/2006/relationships/slide" Target="/ppt/slides/slide9.xml" Id="R34a60a211e6b41ab" /><Relationship Type="http://schemas.openxmlformats.org/officeDocument/2006/relationships/slide" Target="/ppt/slides/slide10.xml" Id="R3c9805009f974072" /><Relationship Type="http://schemas.openxmlformats.org/officeDocument/2006/relationships/slide" Target="/ppt/slides/slide11.xml" Id="R8cf83b803fc445f0" /><Relationship Type="http://schemas.openxmlformats.org/officeDocument/2006/relationships/slide" Target="/ppt/slides/slide12.xml" Id="Rf37f1023fbc14771" /><Relationship Type="http://schemas.openxmlformats.org/officeDocument/2006/relationships/slide" Target="/ppt/slides/slide13.xml" Id="R6d0f9af9192e4c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58885a2e6848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01b046f3743ea" /><Relationship Type="http://schemas.openxmlformats.org/officeDocument/2006/relationships/notesMaster" Target="/ppt/notesMasters/notesMaster1.xml" Id="R404b6c8c94b34b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133e6f16f401b" /><Relationship Type="http://schemas.openxmlformats.org/officeDocument/2006/relationships/notesMaster" Target="/ppt/notesMasters/notesMaster1.xml" Id="R1cfab01c300640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8e86b35b804875" /><Relationship Type="http://schemas.openxmlformats.org/officeDocument/2006/relationships/notesMaster" Target="/ppt/notesMasters/notesMaster1.xml" Id="R33b38c16419c42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cc66242b804585" /><Relationship Type="http://schemas.openxmlformats.org/officeDocument/2006/relationships/notesMaster" Target="/ppt/notesMasters/notesMaster1.xml" Id="Rc131cf7a7c4b46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560c18c7c94105" /><Relationship Type="http://schemas.openxmlformats.org/officeDocument/2006/relationships/notesMaster" Target="/ppt/notesMasters/notesMaster1.xml" Id="Rd354f45fc4694f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53d36718b3461d" /><Relationship Type="http://schemas.openxmlformats.org/officeDocument/2006/relationships/notesMaster" Target="/ppt/notesMasters/notesMaster1.xml" Id="Rda97b59b8da743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ba5768289b40f9" /><Relationship Type="http://schemas.openxmlformats.org/officeDocument/2006/relationships/notesMaster" Target="/ppt/notesMasters/notesMaster1.xml" Id="Ra7dc4fe1819a40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59a8178a0b41e7" /><Relationship Type="http://schemas.openxmlformats.org/officeDocument/2006/relationships/notesMaster" Target="/ppt/notesMasters/notesMaster1.xml" Id="Rad3400eafba444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43c7eccfab49a5" /><Relationship Type="http://schemas.openxmlformats.org/officeDocument/2006/relationships/notesMaster" Target="/ppt/notesMasters/notesMaster1.xml" Id="R43c3c3246e0048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bc544c87414d93" /><Relationship Type="http://schemas.openxmlformats.org/officeDocument/2006/relationships/notesMaster" Target="/ppt/notesMasters/notesMaster1.xml" Id="R01f09ed479e448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cd219521b04b9e" /><Relationship Type="http://schemas.openxmlformats.org/officeDocument/2006/relationships/notesMaster" Target="/ppt/notesMasters/notesMaster1.xml" Id="R22c439dfc93b4f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42509aefab411d" /><Relationship Type="http://schemas.openxmlformats.org/officeDocument/2006/relationships/notesMaster" Target="/ppt/notesMasters/notesMaster1.xml" Id="Rb96613cbe74f4d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d26d56b8354f04" /><Relationship Type="http://schemas.openxmlformats.org/officeDocument/2006/relationships/notesMaster" Target="/ppt/notesMasters/notesMaster1.xml" Id="Rafbdb4d0d3bd48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central claim: retrieval winner changes with benchmark scale; auditability matters as much as leaderboard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submission/FINAL_DISSERTATION_REPORT_DRAFT.md</a:t>
            </a:r>
          </a:p>
          <a:p xmlns:a="http://schemas.openxmlformats.org/drawingml/2006/main">
            <a:r>
              <a:t>- docs/PHASE8_R4_FINAL_REPORT.md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controlled comparison: shared inputs, different retrieval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submission/FINAL_DISSERTATION_REPORT_DRAFT.md#chapter-1--introduction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no silent output replacement and explicit distinction between human and AI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submission/FINAL_DISSERTATION_REPORT_DRAFT.md#chapter-3--dataset-and-experimental-design</a:t>
            </a:r>
          </a:p>
          <a:p xmlns:a="http://schemas.openxmlformats.org/drawingml/2006/main">
            <a:r>
              <a:t>- docs/PHASE8_R4_FINAL_REPORT.md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remains canonical because relevance judgments received human regrade and adjudication.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runs/v2/phase6_seed42_final/human_regrade/agreement_report.json</a:t>
            </a:r>
          </a:p>
          <a:p xmlns:a="http://schemas.openxmlformats.org/drawingml/2006/main">
            <a:r>
              <a:t>- runs/v2/phase6_seed42_final/qrels/phase6_final_pooled_qrels.tsv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winner-only story. BM25 remains strong; preregistered superiority claims mostly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runs/v2/phase6_seed42_final/metrics/balanced_metrics.json</a:t>
            </a:r>
          </a:p>
          <a:p xmlns:a="http://schemas.openxmlformats.org/drawingml/2006/main">
            <a:r>
              <a:t>- runs/v2/phase6_seed42_final/statistics/preregistered_h1_h4_results.json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boundary before showing R4 metrics. This prevents automated expansion from becoming fabricated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docs/PHASE8_R4_FINAL_REPORT.md</a:t>
            </a:r>
          </a:p>
          <a:p xmlns:a="http://schemas.openxmlformats.org/drawingml/2006/main">
            <a:r>
              <a:t>- audits/phase8_r4/canonical_status.json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scaling result: Prompt-RAG no longer clearly leads nDCG; BM25 nearly ties it while costing nothing per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docs/PHASE8_R4_FINAL_REPORT.md#locked-test-retrieval-results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statistical detection from dissertation hypothesis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docs/PHASE8_R4_FINAL_REPORT.md#exploratory-statistics</a:t>
            </a:r>
          </a:p>
          <a:p xmlns:a="http://schemas.openxmlformats.org/drawingml/2006/main">
            <a:r>
              <a:t>- audits/phase8_r4/canonical_status.json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history is evidence of protocol discipline, not something to hide.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docs/PHASE8_R4_FINAL_REPORT.md#generation-execution</a:t>
            </a:r>
          </a:p>
          <a:p xmlns:a="http://schemas.openxmlformats.org/drawingml/2006/main">
            <a:r>
              <a:t>- audits/phase8_r4/canonical_status.json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say R4 answers were human validated. Offline evaluator transfers patterns from 26 Phase 7 owner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docs/PHASE8_R4_FINAL_REPORT.md#automated-generation-evaluation-and-h5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negative hypotheses as useful evidence, not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submission/FINAL_DISSERTATION_REPORT_DRAFT.md#chapter-8--conclusions-and-future-work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evidence-first. Invite questions about validation boundary and system trade-offs.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docs/PHASE8_R4_FINAL_REPORT.md#remaining-manual-work</a:t>
            </a:r>
          </a:p>
          <a:p xmlns:a="http://schemas.openxmlformats.org/drawingml/2006/main">
            <a:r>
              <a:t>- submission/FINAL_DISSERTATION_REPORT_DRAFT.md#chapter-7--validity-ethics-and-reproducibility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Pause. Use appendix/report for detailed category slices and artifact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submission/FINAL_DISSERTATION_REPORT_DRAFT.md</a:t>
            </a:r>
          </a:p>
          <a:p xmlns:a="http://schemas.openxmlformats.org/drawingml/2006/main">
            <a:r>
              <a:t>- docs/PHASE8_R4_FINAL_REPORT.md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10ff1e6e644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9f91d91294f42" /><Relationship Type="http://schemas.openxmlformats.org/officeDocument/2006/relationships/slideLayout" Target="/ppt/slideLayouts/slideLayout1.xml" Id="R46740cb64c1d40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740cb64c1d40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646546b654d19" /><Relationship Type="http://schemas.openxmlformats.org/officeDocument/2006/relationships/notesSlide" Target="/ppt/notesSlides/notesSlide1.xml" Id="R36582880ca694b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454b2be2145da" /><Relationship Type="http://schemas.openxmlformats.org/officeDocument/2006/relationships/notesSlide" Target="/ppt/notesSlides/notesSlide2.xml" Id="R0bcdf9509e3043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24c01124f42f7" /><Relationship Type="http://schemas.openxmlformats.org/officeDocument/2006/relationships/notesSlide" Target="/ppt/notesSlides/notesSlide3.xml" Id="R7df72dc01fb040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beab9e6804e24" /><Relationship Type="http://schemas.openxmlformats.org/officeDocument/2006/relationships/notesSlide" Target="/ppt/notesSlides/notesSlide4.xml" Id="R6904f54052fc4b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3906ad9884224" /><Relationship Type="http://schemas.openxmlformats.org/officeDocument/2006/relationships/chart" Target="/ppt/slides/charts/chart1.xml" Id="Rd71edcda125c4b0e" /><Relationship Type="http://schemas.openxmlformats.org/officeDocument/2006/relationships/notesSlide" Target="/ppt/notesSlides/notesSlide5.xml" Id="R0d91a137c9b94e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4873ba8ba4c6a" /><Relationship Type="http://schemas.openxmlformats.org/officeDocument/2006/relationships/notesSlide" Target="/ppt/notesSlides/notesSlide6.xml" Id="R340b3318e0a443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e74aa0aa34d05" /><Relationship Type="http://schemas.openxmlformats.org/officeDocument/2006/relationships/chart" Target="/ppt/slides/charts/chart2.xml" Id="R46c66920f6f844a7" /><Relationship Type="http://schemas.openxmlformats.org/officeDocument/2006/relationships/notesSlide" Target="/ppt/notesSlides/notesSlide7.xml" Id="R00278ee8de6149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03f587a4c436a" /><Relationship Type="http://schemas.openxmlformats.org/officeDocument/2006/relationships/notesSlide" Target="/ppt/notesSlides/notesSlide8.xml" Id="R7d420cf2e80740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d90aa98a1486d" /><Relationship Type="http://schemas.openxmlformats.org/officeDocument/2006/relationships/notesSlide" Target="/ppt/notesSlides/notesSlide9.xml" Id="Re22b8158f20e4e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19deeaa084d7b" /><Relationship Type="http://schemas.openxmlformats.org/officeDocument/2006/relationships/chart" Target="/ppt/slides/charts/chart3.xml" Id="R2fd0747a2bce4798" /><Relationship Type="http://schemas.openxmlformats.org/officeDocument/2006/relationships/notesSlide" Target="/ppt/notesSlides/notesSlide10.xml" Id="R755101af693f4d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a3bbfc7cb44da" /><Relationship Type="http://schemas.openxmlformats.org/officeDocument/2006/relationships/notesSlide" Target="/ppt/notesSlides/notesSlide11.xml" Id="R36888c56ec5d47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8808de9264455" /><Relationship Type="http://schemas.openxmlformats.org/officeDocument/2006/relationships/notesSlide" Target="/ppt/notesSlides/notesSlide12.xml" Id="R5f52a7d19f2b4a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8a8dfd13f49a0" /><Relationship Type="http://schemas.openxmlformats.org/officeDocument/2006/relationships/notesSlide" Target="/ppt/notesSlides/notesSlide13.xml" Id="R5bc6c22202eb40c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nDCG@10 (%)</c:v>
          </c:tx>
          <c:spPr>
            <a:solidFill xmlns:a="http://schemas.openxmlformats.org/drawingml/2006/main">
              <a:srgbClr val="2F80ED"/>
            </a:solidFill>
          </c:spPr>
          <c:cat>
            <c:strLit>
              <c:ptCount val="5"/>
              <c:pt idx="0">
                <c:v>BM25</c:v>
              </c:pt>
              <c:pt idx="1">
                <c:v>FAISS</c:v>
              </c:pt>
              <c:pt idx="2">
                <c:v>Graph</c:v>
              </c:pt>
              <c:pt idx="3">
                <c:v>Hybrid</c:v>
              </c:pt>
              <c:pt idx="4">
                <c:v>Prompt-RAG</c:v>
              </c:pt>
            </c:strLit>
          </c:cat>
          <c:val>
            <c:numLit>
              <c:formatCode>General</c:formatCode>
              <c:ptCount val="5"/>
              <c:pt idx="0">
                <c:v>82.35</c:v>
              </c:pt>
              <c:pt idx="1">
                <c:v>68.83</c:v>
              </c:pt>
              <c:pt idx="2">
                <c:v>62.14</c:v>
              </c:pt>
              <c:pt idx="3">
                <c:v>87.83</c:v>
              </c:pt>
              <c:pt idx="4">
                <c:v>89.07</c:v>
              </c:pt>
            </c:numLit>
          </c:val>
        </c:ser>
        <c:ser>
          <c:idx val="1"/>
          <c:order val="1"/>
          <c:tx>
            <c:v>Recall@10 (%)</c:v>
          </c:tx>
          <c:spPr>
            <a:solidFill xmlns:a="http://schemas.openxmlformats.org/drawingml/2006/main">
              <a:srgbClr val="F2994A"/>
            </a:solidFill>
          </c:spPr>
          <c:cat>
            <c:strLit>
              <c:ptCount val="5"/>
              <c:pt idx="0">
                <c:v>BM25</c:v>
              </c:pt>
              <c:pt idx="1">
                <c:v>FAISS</c:v>
              </c:pt>
              <c:pt idx="2">
                <c:v>Graph</c:v>
              </c:pt>
              <c:pt idx="3">
                <c:v>Hybrid</c:v>
              </c:pt>
              <c:pt idx="4">
                <c:v>Prompt-RAG</c:v>
              </c:pt>
            </c:strLit>
          </c:cat>
          <c:val>
            <c:numLit>
              <c:formatCode>General</c:formatCode>
              <c:ptCount val="5"/>
              <c:pt idx="0">
                <c:v>80.08</c:v>
              </c:pt>
              <c:pt idx="1">
                <c:v>70.01</c:v>
              </c:pt>
              <c:pt idx="2">
                <c:v>61.03</c:v>
              </c:pt>
              <c:pt idx="3">
                <c:v>84.49</c:v>
              </c:pt>
              <c:pt idx="4">
                <c:v>83.55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nDCG@10 (%)</c:v>
          </c:tx>
          <c:spPr>
            <a:solidFill xmlns:a="http://schemas.openxmlformats.org/drawingml/2006/main">
              <a:srgbClr val="2F80ED"/>
            </a:solidFill>
          </c:spPr>
          <c:cat>
            <c:strLit>
              <c:ptCount val="5"/>
              <c:pt idx="0">
                <c:v>BM25</c:v>
              </c:pt>
              <c:pt idx="1">
                <c:v>FAISS</c:v>
              </c:pt>
              <c:pt idx="2">
                <c:v>Graph</c:v>
              </c:pt>
              <c:pt idx="3">
                <c:v>Hybrid</c:v>
              </c:pt>
              <c:pt idx="4">
                <c:v>Prompt-RAG</c:v>
              </c:pt>
            </c:strLit>
          </c:cat>
          <c:val>
            <c:numLit>
              <c:formatCode>General</c:formatCode>
              <c:ptCount val="5"/>
              <c:pt idx="0">
                <c:v>64.12</c:v>
              </c:pt>
              <c:pt idx="1">
                <c:v>44.13</c:v>
              </c:pt>
              <c:pt idx="2">
                <c:v>46.28</c:v>
              </c:pt>
              <c:pt idx="3">
                <c:v>62.45</c:v>
              </c:pt>
              <c:pt idx="4">
                <c:v>64.08</c:v>
              </c:pt>
            </c:numLit>
          </c:val>
        </c:ser>
        <c:ser>
          <c:idx val="1"/>
          <c:order val="1"/>
          <c:tx>
            <c:v>Recall@10 (%)</c:v>
          </c:tx>
          <c:spPr>
            <a:solidFill xmlns:a="http://schemas.openxmlformats.org/drawingml/2006/main">
              <a:srgbClr val="F2994A"/>
            </a:solidFill>
          </c:spPr>
          <c:cat>
            <c:strLit>
              <c:ptCount val="5"/>
              <c:pt idx="0">
                <c:v>BM25</c:v>
              </c:pt>
              <c:pt idx="1">
                <c:v>FAISS</c:v>
              </c:pt>
              <c:pt idx="2">
                <c:v>Graph</c:v>
              </c:pt>
              <c:pt idx="3">
                <c:v>Hybrid</c:v>
              </c:pt>
              <c:pt idx="4">
                <c:v>Prompt-RAG</c:v>
              </c:pt>
            </c:strLit>
          </c:cat>
          <c:val>
            <c:numLit>
              <c:formatCode>General</c:formatCode>
              <c:ptCount val="5"/>
              <c:pt idx="0">
                <c:v>85</c:v>
              </c:pt>
              <c:pt idx="1">
                <c:v>66.25</c:v>
              </c:pt>
              <c:pt idx="2">
                <c:v>66.25</c:v>
              </c:pt>
              <c:pt idx="3">
                <c:v>85</c:v>
              </c:pt>
              <c:pt idx="4">
                <c:v>87.5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Mean correctness / completeness (% of max)</c:v>
          </c:tx>
          <c:spPr>
            <a:solidFill xmlns:a="http://schemas.openxmlformats.org/drawingml/2006/main">
              <a:srgbClr val="2F80ED"/>
            </a:solidFill>
          </c:spPr>
          <c:cat>
            <c:strLit>
              <c:ptCount val="5"/>
              <c:pt idx="0">
                <c:v>BM25</c:v>
              </c:pt>
              <c:pt idx="1">
                <c:v>FAISS</c:v>
              </c:pt>
              <c:pt idx="2">
                <c:v>Graph</c:v>
              </c:pt>
              <c:pt idx="3">
                <c:v>Hybrid</c:v>
              </c:pt>
              <c:pt idx="4">
                <c:v>Prompt-RAG</c:v>
              </c:pt>
            </c:strLit>
          </c:cat>
          <c:val>
            <c:numLit>
              <c:formatCode>General</c:formatCode>
              <c:ptCount val="5"/>
              <c:pt idx="0">
                <c:v>50</c:v>
              </c:pt>
              <c:pt idx="1">
                <c:v>55</c:v>
              </c:pt>
              <c:pt idx="2">
                <c:v>55</c:v>
              </c:pt>
              <c:pt idx="3">
                <c:v>50</c:v>
              </c:pt>
              <c:pt idx="4">
                <c:v>65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7BDAC-C571-4570-91F4-27E73FD1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M.TECH DISSERTATION · JULY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AE488-5218-4518-89C4-0481C68F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57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Comparative Analysis</a:t>
            </a:r>
          </a:p>
          <a:p xmlns:a="http://schemas.openxmlformats.org/drawingml/2006/main">
            <a:pPr algn="l">
              <a:defRPr sz="465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of Retrieval Strategies</a:t>
            </a:r>
          </a:p>
          <a:p xmlns:a="http://schemas.openxmlformats.org/drawingml/2006/main">
            <a:pPr algn="l">
              <a:defRPr sz="465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for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6FB6A-F4E2-4731-B975-20FB1176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Human-validated pilot + exploratory 6.8× corpus scaling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13165-82F1-4DAD-B34D-D7DB4501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863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Amulya Gupta · 2024AB05200</a:t>
            </a:r>
          </a:p>
          <a:p xmlns:a="http://schemas.openxmlformats.org/drawingml/2006/main">
            <a:pPr algn="l">
              <a:defRPr sz="15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BITS Pilani WILP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EDAB1-25E3-4F9F-9000-6049FF3F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2000"/>
            <a:ext cx="1905000" cy="4953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DA392-AADF-42AC-8479-FD4B7A68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1239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C07BA-1183-485F-9D74-7F0C93D2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955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retrieval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3BAC-C1FC-4E5B-8857-D53B835A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432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56CCF2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56CCF2"/>
                </a:solidFill>
                <a:latin typeface="Aptos"/>
                <a:ea typeface="Aptos"/>
                <a:cs typeface="Aptos"/>
              </a:rPr>
              <a:t>130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0F5A1-FF7E-45E4-85A4-F64EE0F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05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41FF3-7CA8-4E87-9EF5-11CA8A76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5720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954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27ACB-99EB-4592-94FD-BADF01AB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19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</p:spTree>
    <p:extLst>
      <p:ext uri="{BB962C8B-B14F-4D97-AF65-F5344CB8AC3E}">
        <p14:creationId xmlns:p14="http://schemas.microsoft.com/office/powerpoint/2010/main" val="568554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CCD99-C670-4159-894F-E3456B6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0C1BD-F266-457C-986F-7BB39359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One question, five retrieval paradigms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2F34D-F1C9-4007-A0B1-021B387E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9F2C6-F361-4C25-8982-0BDD978A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661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How do retrieval choices affect evidence quality—and does better ranking produce better answers?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759C4-C611-4727-BF1F-B12E79DA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9A295-0D5A-4AD5-9309-C32887F6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704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BM25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725A4-5BFC-41E1-B21F-F1A0530C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lexical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7FE28-CCB1-4833-A7BC-82D1F5C1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DB7A9-0700-4081-9709-84118B7A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7D612-ABCE-4267-BC67-4EEB6DEA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19400"/>
            <a:ext cx="1704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6CC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6CCF2"/>
                </a:solidFill>
                <a:latin typeface="Aptos"/>
                <a:ea typeface="Aptos"/>
                <a:cs typeface="Aptos"/>
              </a:rPr>
              <a:t>FAISS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26AAD-49BB-4009-9345-648C4335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3375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dense similarity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1ABF5-FC31-4CA1-A7B4-D2848F81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95750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same corpus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12DA0-4360-42B1-8719-EA86CE06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778F9-0A2F-4D3A-A0D6-7C44AABD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19400"/>
            <a:ext cx="1704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990DD-D31E-4F99-BE36-CFA6670A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entity links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78AC0-0218-46C5-A4E9-88FDAD94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95750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same qrels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219E3-D2D6-4DF7-A166-C4862AD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E99C9-3153-463B-9A18-C00858F2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19400"/>
            <a:ext cx="1704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96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19653"/>
                </a:solidFill>
                <a:latin typeface="Aptos"/>
                <a:ea typeface="Aptos"/>
                <a:cs typeface="Aptos"/>
              </a:rPr>
              <a:t>Hybrid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17908-BDE8-4F56-B772-F407B961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3375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rank fusion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9E516-D97C-4931-8B14-C4250BE8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95750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deterministic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33DCA-6EF8-4D56-8E71-DABAFD3C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1B48B-A186-4350-8C9A-94C22621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19400"/>
            <a:ext cx="1704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Prompt-RAG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6A4C22-3A06-4718-9122-4D41A9FF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3375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LLM reranking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487B9-E1DF-4DCC-8C2F-E41F6EF9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95750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same corpus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C0EB7-F09D-4C88-A04F-4B96B5CE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Evaluation separates ranking, evidence coverage, generation quality, latency, and cost.</a:t>
            </a:r>
          </a:p>
        </p:txBody>
      </p:sp>
    </p:spTree>
    <p:extLst>
      <p:ext uri="{BB962C8B-B14F-4D97-AF65-F5344CB8AC3E}">
        <p14:creationId xmlns:p14="http://schemas.microsoft.com/office/powerpoint/2010/main" val="1471334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19705-3495-4ED2-A6AD-4FC006BF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2EEAF-4539-41ED-ADD8-122C33AB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Controlled pipeline: retrieve → judge → generate → audit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7D195-8389-44D1-AD55-86E57BFC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11C68-F303-4BB9-989C-3E09DDA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047875" cy="24765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57D71-3212-4BDD-89F3-99977BF2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0AE82-DF49-4A2C-89A0-8A296B8F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704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Corpus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1A062-2015-491F-B13A-3179227F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stable chunk 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CAE7E-948C-430F-8C3C-C86901C1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9562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91946-827C-4BAC-A463-B32C16FA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90750"/>
            <a:ext cx="2047875" cy="24765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11821-DB79-48B2-9015-A890F350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D2287-A60D-4138-8FE6-BDD81693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05125"/>
            <a:ext cx="1704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Five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244CD-6DFE-4B8E-9C27-B44A06A8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2425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frozen rankings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94504-3335-4F0E-8DB4-07BBEA3E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9562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A688E-677A-4FA7-9DDC-03A082E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47875" cy="24765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22E79-E19D-42E8-8BB0-1AF2125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6A147-5061-4D03-AC5A-97197967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05125"/>
            <a:ext cx="1704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Qrels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88713-FE5C-4E2E-B9E3-581F7278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blind relevance grades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C419A-1080-47A6-B5F0-05B32A07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EBB82-C7B9-4ED1-8FA6-74B480A3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90750"/>
            <a:ext cx="2047875" cy="24765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3E90-5D3E-4B4A-8D8F-68F5E0FA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8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F3FAA-FD15-4566-9349-6087F1F9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905125"/>
            <a:ext cx="1704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Generation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C4C6F-3ED6-4B5E-80BA-A1834FC8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2425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same top-3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F4439-1521-410D-AED4-14DEB658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9562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CA3A7-2C9E-42B5-BA72-83FFCCDE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2047875" cy="24765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EF8DF-CCFA-4864-AA80-B9B8ADEE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8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6A92C9-5A84-4122-8C41-B54ABD07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05125"/>
            <a:ext cx="1704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398CE3-DF6A-44CB-8A9B-FC0BF36C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2425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human + disclosed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862B0C-8ABD-4407-936C-8486D290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28A06-0EB8-416D-B419-091A5181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hashes · manifests · zero retries · separate failed evidence · hard cost caps</a:t>
            </a:r>
          </a:p>
        </p:txBody>
      </p:sp>
    </p:spTree>
    <p:extLst>
      <p:ext uri="{BB962C8B-B14F-4D97-AF65-F5344CB8AC3E}">
        <p14:creationId xmlns:p14="http://schemas.microsoft.com/office/powerpoint/2010/main" val="268405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FA4B3-3C67-4164-A96B-2040DD66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75C64-B26D-4B46-B810-3DF5BEB1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Canonical pilot: small, judged, reproducible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94EAF-DB86-4363-B19C-9E6E355F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1B7A0-0F62-4561-A4AC-146E49ED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Confirmatory evidential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E8C88-A182-43B9-8F97-518068A8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E1AA0-45B5-4C2A-82CB-D2C94DA2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C9CE3-1D84-4435-BF51-12DBA2E3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86E76-F9D7-477D-810F-A379D2B3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CAB12-AA04-4DCC-93DA-A5C7C8E9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9653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19653"/>
                </a:solidFill>
                <a:latin typeface="Aptos"/>
                <a:ea typeface="Aptos"/>
                <a:cs typeface="Aptos"/>
              </a:rPr>
              <a:t>140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3CBFF-086D-4875-AFBB-FBF85360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E31DF-2602-423D-B837-DD8FDE14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EAE2E-AB6B-4633-BD6E-FD599593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956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B4621-1E62-4379-AD94-5146FBF2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38625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owner-approved questions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A1B89-3491-4E20-9F87-28E32B0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755 pooled pairs · 114-row human regrade · κ = 0.7421 · 14 owner-adjudicated disagreements</a:t>
            </a:r>
          </a:p>
        </p:txBody>
      </p:sp>
    </p:spTree>
    <p:extLst>
      <p:ext uri="{BB962C8B-B14F-4D97-AF65-F5344CB8AC3E}">
        <p14:creationId xmlns:p14="http://schemas.microsoft.com/office/powerpoint/2010/main" val="1451447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7540C-938D-462B-9F11-A93965E5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9626A-59F2-415B-9E4A-2DD69E7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Pilot result: reranking leads quality; fusion leads recall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0E382-55FF-4DC0-B3D0-1FC3DFE5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1edcda125c4b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909E4-965E-40FB-8A67-EF18F134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695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5C258-CFCB-417C-BCE7-6CBD0269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46CDB-8C04-4EA8-A5CE-87E24B54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38325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Prompt-RAG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084CA-3ED8-406D-81C8-D26049D6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19325"/>
            <a:ext cx="329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Best MRR 0.9779</a:t>
            </a:r>
          </a:p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Best nDCG 0.8907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CF04C-F0A3-4F6D-AD51-33B26159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695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3F516-31FA-421A-B031-F9C89994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53"/>
          </a:solidFill>
          <a:ln xmlns:a="http://schemas.openxmlformats.org/drawingml/2006/main" w="0">
            <a:solidFill>
              <a:srgbClr val="2196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70A5D-C976-4555-B0CB-DF02356F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Hybrid RRF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6444C-769A-4FFA-A221-A5959AAF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86200"/>
            <a:ext cx="329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Best Recall 0.8449</a:t>
            </a:r>
          </a:p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Strong nDCG 0.8783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424BF-4F71-4D0E-A4FB-B396AD94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657A"/>
                </a:solidFill>
                <a:latin typeface="Aptos"/>
                <a:ea typeface="Aptos"/>
                <a:cs typeface="Aptos"/>
              </a:rPr>
              <a:t>H1 inconclusive · H2/H3/H4 not supported</a:t>
            </a:r>
          </a:p>
        </p:txBody>
      </p:sp>
    </p:spTree>
    <p:extLst>
      <p:ext uri="{BB962C8B-B14F-4D97-AF65-F5344CB8AC3E}">
        <p14:creationId xmlns:p14="http://schemas.microsoft.com/office/powerpoint/2010/main" val="236567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D5FE7-4080-48C7-8533-A535C71D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448EB-2B2D-4007-8FE8-243167B1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Phase 8 R4: scale test, not pilot replacement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78CAA-9644-43CB-B24E-51F9AF3E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7E0CF-BC42-4045-B81D-C0CD0C49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Corpus 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67AD7-37D1-4034-A24D-BDFAE27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D5321-EBB0-44B6-8E38-ED6A131A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431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1115D-B690-4793-8171-39E76AE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70D31-3879-41FE-8756-AE4EB328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43125"/>
            <a:ext cx="904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130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6BC2B-9699-4260-8DBD-E0F10ADC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431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196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9653"/>
                </a:solidFill>
                <a:latin typeface="Aptos"/>
                <a:ea typeface="Aptos"/>
                <a:cs typeface="Aptos"/>
              </a:rPr>
              <a:t>5.9×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3FA83-8EE9-451A-A716-9332CAB3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04828-15D0-4310-820A-4EDDA232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099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140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548CF-884D-438F-910C-3749276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99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D4CA6-F8C4-458D-89D9-EBB2D50C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09925"/>
            <a:ext cx="904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954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1290B-D5EC-403F-BED8-D13960F7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099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196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9653"/>
                </a:solidFill>
                <a:latin typeface="Aptos"/>
                <a:ea typeface="Aptos"/>
                <a:cs typeface="Aptos"/>
              </a:rPr>
              <a:t>6.8×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E4788-2D50-4E53-993B-9FF61D58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Primary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8011E-5AFE-426B-A9CF-28B4D3FE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767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51A74-1E61-46E5-8D27-309CA7EF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767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90A81-016C-4C83-B6F7-5A5AE646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76725"/>
            <a:ext cx="904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D521-F124-4250-B6C1-D7206E43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767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196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9653"/>
                </a:solidFill>
                <a:latin typeface="Aptos"/>
                <a:ea typeface="Aptos"/>
                <a:cs typeface="Aptos"/>
              </a:rPr>
              <a:t>2.9×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6A55A-5465-4D4D-8FFC-0B31B47D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53149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E1654-D364-4B2A-9271-3D7EE522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573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R4 validity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53074-5C73-45AF-8F9E-254192EA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28875"/>
            <a:ext cx="4667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✓ five systems rebuilt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✓ 100-query locked evaluation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✓ cost-controlled retrieval + generation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✕ gold crosswalks not human-reviewed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✕ 100 answer labels AI-assigned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✕ 20 synthesis candidates kept separate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5F713-119F-4E64-BE99-CA476024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Conclusion: engineering scalability demonstrated; confirmatory validity remains with pilot.</a:t>
            </a:r>
          </a:p>
        </p:txBody>
      </p:sp>
    </p:spTree>
    <p:extLst>
      <p:ext uri="{BB962C8B-B14F-4D97-AF65-F5344CB8AC3E}">
        <p14:creationId xmlns:p14="http://schemas.microsoft.com/office/powerpoint/2010/main" val="32201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5132B-2D04-415C-88B9-DBF8DB95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77293-BE27-4370-889A-EC843CC2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R4 locked test: BM25 and Prompt-RAG converge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0A55-46EB-45C5-AF29-4EEF1687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571625"/>
          <a:ext xmlns:a="http://schemas.openxmlformats.org/drawingml/2006/main" cx="7524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c66920f6f844a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CE521-D67E-4AA9-8E27-89B7C648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3505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224AC-AD78-4CC8-A6A5-DA5CD2A2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0AFFF-C244-4C22-9050-223C172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383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BM25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62F2F-1B5A-4BBC-80DC-7F0271DB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1932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Best MRR 0.6071</a:t>
            </a:r>
          </a:p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Best nDCG 0.6412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A58BE-94B0-421B-BB10-DC87B881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3505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C3BD5-80F7-4CFD-8E7C-A50BA6CF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27B65-969B-464C-AAE9-7698BDFA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052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Prompt-RAG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4D7A9-A12E-421C-A2D8-679C949D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862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Best Recall 0.8750</a:t>
            </a:r>
          </a:p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nDCG 0.6408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4BD34-8E46-433B-A811-5E1E74A0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350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657A"/>
                </a:solidFill>
                <a:latin typeface="Aptos"/>
                <a:ea typeface="Aptos"/>
                <a:cs typeface="Aptos"/>
              </a:rPr>
              <a:t>Ordering changed after expansion</a:t>
            </a:r>
          </a:p>
        </p:txBody>
      </p:sp>
    </p:spTree>
    <p:extLst>
      <p:ext uri="{BB962C8B-B14F-4D97-AF65-F5344CB8AC3E}">
        <p14:creationId xmlns:p14="http://schemas.microsoft.com/office/powerpoint/2010/main" val="5439983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B2EA8-C962-47A9-A799-021EA4CC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1FF43-A82E-4EDC-98E7-2C59A03C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What changed—and what survived scaling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98DAD-15DE-494F-9C89-F8D71EE9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16B54-E51E-4CD2-A5C2-11C7BC34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0C3ED-FAA2-4D03-B4AF-D42596CD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53"/>
          </a:solidFill>
          <a:ln xmlns:a="http://schemas.openxmlformats.org/drawingml/2006/main" w="0">
            <a:solidFill>
              <a:srgbClr val="219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2FE71-12C2-4025-A053-AA2CA496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Stable finding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77CCE-B7B3-4CED-947A-E0FB6F03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FAISS remained weakest or near-weakest. BM25, Hybrid, and Prompt-RAG each beat FAISS on exploratory locked-test nDCG after Holm correction.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51457-D2EB-49D5-9A56-E81E7C35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DEDE8-1FCC-4903-A737-972CA6B9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D79A6-CC7E-43A9-94BE-146B0CF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38325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Changed 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90487-220A-47BB-A89C-15F177B6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Pilot Prompt-RAG led nDCG. R4 BM25 led by 0.0004—practically tied. Benchmark construction changed system ordering.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F6858-D4B9-49C2-A5A5-7A99D7D3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8C019-A629-4943-9CC5-362EE110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28E67-D409-4B0D-9F90-1ECA6038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Not established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2B585-AFFF-4011-8452-34F271AF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Other pairwise differences were not significant after correction. R4 does not confirm preregistered H1–H4.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D89AB-BB33-459A-B7B6-7A39C2A1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BAD5F-ED26-4400-8740-C48EE57F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19FAC-AAF4-4F7E-826F-AFA7A74D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Operational trade-off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F3AF4-0D4F-411A-BD88-A804FC7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Prompt-RAG mean latency 16.82 s. Other latency unavailable—not treated as zero. Retrieval API cost: $2.430722.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227B2-66A4-4F8D-9581-A24A09EA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657A"/>
                </a:solidFill>
                <a:latin typeface="Aptos"/>
                <a:ea typeface="Aptos"/>
                <a:cs typeface="Aptos"/>
              </a:rPr>
              <a:t>Exploratory tests: 10,000 paired sign flips + bootstrap CIs · seed 42 · Holm family correction</a:t>
            </a:r>
          </a:p>
        </p:txBody>
      </p:sp>
    </p:spTree>
    <p:extLst>
      <p:ext uri="{BB962C8B-B14F-4D97-AF65-F5344CB8AC3E}">
        <p14:creationId xmlns:p14="http://schemas.microsoft.com/office/powerpoint/2010/main" val="501769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48024-F08A-43D0-B6D5-C7D1EB3C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57BF8-D25B-4340-8A19-10BEF4B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Generation study: same prompt, same context depth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54768-3C83-44F6-9C4D-2721BB52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8137B-62B3-4764-AA2E-64577623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 balanced queries × 5 retrieval systems = 100 answers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A9F11-D699-409A-99D4-5E288496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B1A0B-E03D-46E4-82DD-E2D997CB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Top-3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EBABF-A537-4644-B2FF-758056CD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1743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frozen per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696DB-28E2-4DF2-B84D-7F12AB8C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EAD95-4767-492E-8155-DE66C266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575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Claude Haiku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00EA6-5862-4ECC-A086-C75F3B99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71875"/>
            <a:ext cx="1743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temperature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0FD57-C8E0-4BE7-B980-2142A79E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64F42-09B0-4E09-B8C6-B7B8B09B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575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Citation 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F0CE4-9131-4D87-B1BA-5B52E4AE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71875"/>
            <a:ext cx="1743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claim ↔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8C0B4-9978-4E36-8EC8-F6BA329A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0E206-7F78-4911-AC8B-79F67E50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B2885-3EAC-431F-A46C-EB06AB9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71875"/>
            <a:ext cx="1743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schema + semantics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2B624-3DB0-499E-B72F-861A6E7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2047875" cy="2190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37333-A7FE-4CF0-9C81-D4D8DF2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37717-D127-4CF6-B584-F28F6252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71875"/>
            <a:ext cx="1743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disclosed AI labels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101CB-5187-48D1-B1B7-97FEDB75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96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19653"/>
                </a:solidFill>
                <a:latin typeface="Aptos"/>
                <a:ea typeface="Aptos"/>
                <a:cs typeface="Aptos"/>
              </a:rPr>
              <a:t>100/100 valid · cumulative R4 API cost $2.860550 / $3.70 cap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1FB36-0A97-4BAE-BBA0-DF1958BF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Failed attempts preserved; zero retries, fallback, or concealed replacement</a:t>
            </a:r>
          </a:p>
        </p:txBody>
      </p:sp>
    </p:spTree>
    <p:extLst>
      <p:ext uri="{BB962C8B-B14F-4D97-AF65-F5344CB8AC3E}">
        <p14:creationId xmlns:p14="http://schemas.microsoft.com/office/powerpoint/2010/main" val="27615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FF028-8B79-4E7F-9ECF-926494D3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3D600-59CF-46DA-8D09-0BD08239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R4 answer quality: promising signal, automated only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10F1E-9541-48BE-AFC0-31062F09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685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d0747a2bce479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3DA91-D8C7-4B69-9CD1-47FA2896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4076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730AC-E8EC-4D8E-98BD-364D84AD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C2062-E38C-4B43-985D-FE3889F4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38325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Best automated 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11271-F0F7-4646-A326-BCE9794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19325"/>
            <a:ext cx="3676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Prompt-RAG: 1.3</a:t>
            </a:r>
          </a:p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8 literal abstentions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AEB8C-AE35-47E9-96B1-32B148C8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4076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C10CB-27B1-42CB-987A-D36A63D1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4D2A9-A49C-4479-BCC4-30B0BC89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Critical limitation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0F39A-42F3-4C99-844D-A4430B55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86200"/>
            <a:ext cx="3676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100/100 labels AI-assigned</a:t>
            </a:r>
          </a:p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0 owner-labelled overlap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F5D1D-3639-4AF8-B810-00787706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95875"/>
            <a:ext cx="407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657A"/>
                </a:solidFill>
                <a:latin typeface="Aptos"/>
                <a:ea typeface="Aptos"/>
                <a:cs typeface="Aptos"/>
              </a:rPr>
              <a:t>AI–owner agreement for R4: not estimable</a:t>
            </a:r>
          </a:p>
        </p:txBody>
      </p:sp>
    </p:spTree>
    <p:extLst>
      <p:ext uri="{BB962C8B-B14F-4D97-AF65-F5344CB8AC3E}">
        <p14:creationId xmlns:p14="http://schemas.microsoft.com/office/powerpoint/2010/main" val="8877243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AE228-43DE-43C5-A001-4960E43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9CAB7-12DB-4C79-BFC3-3726B554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Answer to research questions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278F3-21E3-4B91-8CFA-331CBACB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FB8D8-2AA3-4943-A596-32DE011B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CBDF4-7A1B-4186-87DD-3A17076B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52F63-A809-4600-9F1D-96B7AD79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1 · Lexical retrieval remains formidable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F043A-36F1-4991-9B72-B3F2177C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BM25 was strong in pilot and led R4 locked-test MRR/nDCG.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DA375-D36F-4A7A-B922-576C308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4A693-C064-4047-A6B0-EB4ED0D5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CF2"/>
          </a:solidFill>
          <a:ln xmlns:a="http://schemas.openxmlformats.org/drawingml/2006/main" w="0">
            <a:solidFill>
              <a:srgbClr val="56CC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34DC9-828B-4467-B0C7-25C2D477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907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2 · Dense retrieval did not win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D3DCF-1188-46FD-815E-F376E64C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FAISS failed pilot H2 and remained below lexical/fused/reranked systems in R4.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2C941-F50B-4FD3-976E-BA5A120F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7B7D8-90E5-48FF-B126-A4699A9F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53"/>
          </a:solidFill>
          <a:ln xmlns:a="http://schemas.openxmlformats.org/drawingml/2006/main" w="0">
            <a:solidFill>
              <a:srgbClr val="2196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AFA9C-B8EC-40EA-B680-59330194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3 · Fusion improves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BAD29-8B5E-45CD-A43F-A3D385F6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Hybrid led pilot Recall and matched BM25 recall in R4, but did not universally dominate.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40431-6CC3-47AD-8D3D-8CD05EB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86125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8135C-FBEB-4188-9CA0-420D4173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861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F099E-A98C-4073-BDA1-4FA3C18C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57575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4 · Reranking trades cost for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5BD2A-368D-4357-BCC8-46593FA0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38575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Prompt-RAG led pilot nDCG and R4 recall; scale removed clear nDCG advantage.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406DA-AD45-4F63-A51C-804F87EB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Core contribution: auditable comparison showing retrieval quality is multidimensional and scale-sensitive.</a:t>
            </a:r>
          </a:p>
        </p:txBody>
      </p:sp>
    </p:spTree>
    <p:extLst>
      <p:ext uri="{BB962C8B-B14F-4D97-AF65-F5344CB8AC3E}">
        <p14:creationId xmlns:p14="http://schemas.microsoft.com/office/powerpoint/2010/main" val="16033612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910A3-FBBD-423E-8025-F4EE5698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DISSERTATION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B11E-4B55-4509-A7E3-5A23B81A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Honest boundary—and next validation step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96245-9AEF-45E2-98FC-C9DAA0A0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A4640-B400-42EF-B9B0-AC24BA44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96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19653"/>
                </a:solidFill>
                <a:latin typeface="Aptos"/>
                <a:ea typeface="Aptos"/>
                <a:cs typeface="Aptos"/>
              </a:rPr>
              <a:t>Supported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19526-49A9-47C8-8899-1E9B1FC3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238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reproducible five-system pilot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human-adjudicated pilot qrels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scalable 130-document pipeline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cost/failure audit trail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separate retrieval and generation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17181-8782-496F-84E0-ED08B53C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716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Still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D903A-C5F2-4AEC-9B27-5BF63386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5238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human-review R4 gold crosswalks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human-audit R4 generated answers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validate 20 synthesis candidates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multilingual and independently sampled queries</a:t>
            </a:r>
          </a:p>
          <a:p xmlns:a="http://schemas.openxmlformats.org/drawingml/2006/main">
            <a:pPr algn="l">
              <a:defRPr sz="1650" b="0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32B"/>
                </a:solidFill>
                <a:latin typeface="Aptos"/>
                <a:ea typeface="Aptos"/>
                <a:cs typeface="Aptos"/>
              </a:rPr>
              <a:t>• external multi-rater replication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D4684-6056-4CBB-83DE-44291EF2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201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473C8-05CA-47BB-A11F-CBF9A72E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supports claims. R4 supports scalability. Neither alone proves universal superiority.</a:t>
            </a:r>
          </a:p>
        </p:txBody>
      </p:sp>
    </p:spTree>
    <p:extLst>
      <p:ext uri="{BB962C8B-B14F-4D97-AF65-F5344CB8AC3E}">
        <p14:creationId xmlns:p14="http://schemas.microsoft.com/office/powerpoint/2010/main" val="4765037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D236A-AD45-42A7-AF8C-B0A4E49A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30DAA-06AA-4864-A212-9379644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132B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0B132B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30FF4-AC0E-44FA-8C56-E09A7B9D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Pilot: human-validated evidence</a:t>
            </a:r>
          </a:p>
          <a:p xmlns:a="http://schemas.openxmlformats.org/drawingml/2006/main">
            <a:pPr algn="l">
              <a:defRPr sz="18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R4: exploratory scaling evidence</a:t>
            </a:r>
          </a:p>
          <a:p xmlns:a="http://schemas.openxmlformats.org/drawingml/2006/main">
            <a:pPr algn="l">
              <a:defRPr sz="1875" b="0">
                <a:solidFill>
                  <a:srgbClr val="55657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5657A"/>
                </a:solidFill>
                <a:latin typeface="Aptos"/>
                <a:ea typeface="Aptos"/>
                <a:cs typeface="Aptos"/>
              </a:rPr>
              <a:t>Repository: fully auditable lineage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80F0E-CE74-492B-84DA-A6EF88F0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59FF5-342E-4D7D-AFCE-55C6BC84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667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Retrieval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quality is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scale-sensitive</a:t>
            </a:r>
          </a:p>
        </p:txBody>
      </p:sp>
    </p:spTree>
    <p:extLst>
      <p:ext uri="{BB962C8B-B14F-4D97-AF65-F5344CB8AC3E}">
        <p14:creationId xmlns:p14="http://schemas.microsoft.com/office/powerpoint/2010/main" val="1817787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2026-07-29T20:32:50.0950000Z</dcterms:created>
  <dcterms:modified xsi:type="dcterms:W3CDTF">2026-07-29T20:32:50.0950000Z</dcterms:modified>
</coreProperties>
</file>