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Do NOT start with "I compared five retrievers" — that was the mistake last time.
Say: "I want to start with the situation this work exists to serve, because the technical result only matters in that context."
Then go to slide 2. Keep this slide to about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was missing entirely last time.
Talk through the three boxes left to right. Take your time — 45 seconds.
The line to land: "The generator cannot repair evidence it never received." If retrieval hands over the rural housing document, a perfectly faithful, perfectly fluent, perfectly cited answer is still wrong — and the citizen has no way to tell.
That is why I evaluated retrieval and not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acronym table. These are not decorations — they are the primary key of the domain. A scheme name IS the retrieval signal.
Key sentence: an embedding model has never been rewarded for knowing that MIG means Middle Income Group in an Indian housing statute. A keyword index doesn't need to know — it just matches.
That sets up the whole result.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justification slide. If the examiner only remembers one slide for "why", it should be this one.
The argument: the field's confidence about dense retrieval comes from benchmarks whose statistical properties are the opposite of a policy corpus. Transferring the conclusion is an assumption, not a result.
Say the line out loud: "Nobody actually knew. The assumption had never been tested here."
If he asks "why does this need a dissertation" — this slide is the answer.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research question in one breath, then pause.
The three boxes pre-empt the three obvious challenges: "why not just build a system", "why not cite existing benchmarks", "why does cost belong in a retrieval study".
30 seconds. Don't read the boxes verbatim — gesture at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benchmark as an ASSET, not as setup work. It is reusable and it did not exist before.
κ = 0.7421 is substantial agreement. If he questions the labels, this is your defence: blind regrade on a 114-row sample, disagreements adjudicated, pooled across systems so nobody is graded on their own candidates.
Emphasise "frozen before evaluation" — it forecloses the overfitting question.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quickly here — 30 seconds. This is the least interesting slide and the examiner already believes you can implement retrievers.
The three control conditions at the bottom are what make it a comparison rather than a demo. Say "zero retries, failed runs preserved rather than replaced" — that is unusual rigour and worth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before you say this. This is the moment of the talk.
"The most effective retriever on this corpus is also the oldest and the cheapest one in the study."
Do not oversell — the honest framing is: on THIS corpus, with THIS benchmark. Prompt-RAG and Hybrid do edge it on aggregate MRR, and you should say so before he points it out. The point is that a 1994 algorithm with no GPU is within 0.04 of an LLM reranker that costs 20,000x more latency.
If he asks "is the difference significant" — go straight to slide 13, you have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intellectual core of the talk.
Walk the rows top to bottom. Note that on four of six categories BM25 is at or near 1.000.
Then the paraphrase row: 0.833 against 0.408. Half.
The examiner may say "six questions is not many" — agree immediately, and say the direction reproduces on the independent holdout (slide 14: 0.667 vs 0.500) but the interval crosses zero and you are not claiming significance. That answer is on slide 13.
60 seconds. This is worth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DEMO HERE. Have retrieval_evidence_demo.html already open in a browser tab, on this exact question — it loads on v2q-018 by default.
Show him: the five columns, the green rows, FAISS's first correct hit sitting at rank 5. Click a row and read the passage FAISS ranked first instead.
Then offer: "pick any question you like." Let him drive. That is the moment that converts a sceptical examiner — he can audit the claim himself, live.
Budget 2-3 minutes for the demo. Then come back to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Explaining the mechanism is what separates a result from an anecdote. An examiner wants to know you understand WHY, not just WHAT.
Point four is important and you should volunteer it: the graph scoring 0.000 on paraphrase is not a bug you failed to fix. It is a structural property of NER-dependent retrieval. Saying that clearly turns an apparent failure into an analytical finding.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"so what should someone actually do", which is what a practitioner-examiner cares about.
The number to say out loud: 0.037 MRR for 24,000 times the latency.
Be precise about the latency caveat — these are warm-cache retrieval-only figures and the Prompt-RAG number comes from a 24-call trace. If he pushes on measurement rigour, that footnote is your answer.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apologise on this slide. Deliver it as strength.
The line: "A preregistered study that confirms everything it predicted has usually not been preregistered." Say it and stop. It reframes the whole scorecard.
If he presses on H1 being inconclusive: the equivalence criterion required the confidence interval to sit entirely within ±0.05, and with twelve questions it simply cannot. Reporting that honestly is correct; claiming equivalence would not have been.
Be ready for: "so your main claim isn't statistically significant?" Answer: correct, and I say so. The confidence intervals cross zero. What I claim is a consistent directional finding that reproduces on an independent holdout, plus a mechanism that explains it, plus a benchmark that lets anyone test it at larger n. I do not claim decisive superiority.
50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caveat before he does: the intervals cross zero.
But the direction reproduces on an independently acquired holdout with frozen configurations. That is the strongest generalisation evidence available at this sample size, and it is exactly what preregistration is for.
On the scale test: be firm that R4 is engineering evidence, not confirmatory evidence, because the labels are AI-assigned. Volunteering that boundary is what makes the rest of your claims credible.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his original objection directly: what was this for.
Four concrete artefacts. Lead with the benchmark — it is the durable contribution and it is genuinely reusable.
Closing line is deliberate: "Anyone can now disagree with me and prove it." That is what a research contribution is, and it signals you understand the difference between a demo and a study.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limits deliberately — stating them yourself is what makes the earlier claims credible.
Do not end apologetically. End with: "The benchmark and the pipeline are the durable part. The result is a finding that anyone can now check."
Then stop and take questions. Keep the demo tab open — if a question is about a specific query, answer it live in the demo rather than from memory. That is the single most persuasive thing available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566928" y="685800"/>
            <a:ext cx="11027664" cy="274320"/>
          </a:xfrm>
          <a:prstGeom prst="rect">
            <a:avLst/>
          </a:prstGeom>
          <a:noFill/>
          <a:ln/>
        </p:spPr>
        <p:txBody>
          <a:bodyPr wrap="square" lIns="0" tIns="0" rIns="0" bIns="0" rtlCol="0" anchor="ctr"/>
          <a:lstStyle/>
          <a:p>
            <a:pPr indent="0" marL="0">
              <a:buNone/>
            </a:pPr>
            <a:r>
              <a:rPr lang="en-US" sz="1000" spc="260" kern="0" dirty="0">
                <a:solidFill>
                  <a:srgbClr val="8A96A8"/>
                </a:solidFill>
                <a:latin typeface="Calibri" pitchFamily="34" charset="0"/>
                <a:ea typeface="Calibri" pitchFamily="34" charset="-122"/>
                <a:cs typeface="Calibri" pitchFamily="34" charset="-120"/>
              </a:rPr>
              <a:t>M.TECH DISSERTATION  ·  BITS PILANI WILP  ·  AUGUST 2026</a:t>
            </a:r>
            <a:endParaRPr lang="en-US" sz="1000" dirty="0"/>
          </a:p>
        </p:txBody>
      </p:sp>
      <p:sp>
        <p:nvSpPr>
          <p:cNvPr id="3" name="Text 1"/>
          <p:cNvSpPr/>
          <p:nvPr/>
        </p:nvSpPr>
        <p:spPr>
          <a:xfrm>
            <a:off x="566928" y="1371600"/>
            <a:ext cx="8778240" cy="2651760"/>
          </a:xfrm>
          <a:prstGeom prst="rect">
            <a:avLst/>
          </a:prstGeom>
          <a:noFill/>
          <a:ln/>
        </p:spPr>
        <p:txBody>
          <a:bodyPr wrap="square" lIns="0" tIns="0" rIns="0" bIns="0" rtlCol="0" anchor="t"/>
          <a:lstStyle/>
          <a:p>
            <a:pPr indent="0" marL="0">
              <a:lnSpc>
                <a:spcPts val="5000"/>
              </a:lnSpc>
              <a:buNone/>
            </a:pPr>
            <a:r>
              <a:rPr lang="en-US" sz="4000" dirty="0">
                <a:solidFill>
                  <a:srgbClr val="FFFFFF"/>
                </a:solidFill>
                <a:latin typeface="Cambria" pitchFamily="34" charset="0"/>
                <a:ea typeface="Cambria" pitchFamily="34" charset="-122"/>
                <a:cs typeface="Cambria" pitchFamily="34" charset="-120"/>
              </a:rPr>
              <a:t>Which retriever finds</a:t>
            </a:r>
            <a:endParaRPr lang="en-US" sz="4000" dirty="0"/>
          </a:p>
          <a:p>
            <a:pPr indent="0" marL="0">
              <a:lnSpc>
                <a:spcPts val="5000"/>
              </a:lnSpc>
              <a:buNone/>
            </a:pPr>
            <a:r>
              <a:rPr lang="en-US" sz="4000" dirty="0">
                <a:solidFill>
                  <a:srgbClr val="FFFFFF"/>
                </a:solidFill>
                <a:latin typeface="Cambria" pitchFamily="34" charset="0"/>
                <a:ea typeface="Cambria" pitchFamily="34" charset="-122"/>
                <a:cs typeface="Cambria" pitchFamily="34" charset="-120"/>
              </a:rPr>
              <a:t>the right rule </a:t>
            </a:r>
            <a:endParaRPr lang="en-US" sz="4000" dirty="0"/>
          </a:p>
          <a:p>
            <a:pPr indent="0" marL="0">
              <a:lnSpc>
                <a:spcPts val="5000"/>
              </a:lnSpc>
              <a:buNone/>
            </a:pPr>
            <a:r>
              <a:rPr lang="en-US" sz="4000" i="1" dirty="0">
                <a:solidFill>
                  <a:srgbClr val="C0492A"/>
                </a:solidFill>
                <a:latin typeface="Cambria" pitchFamily="34" charset="0"/>
                <a:ea typeface="Cambria" pitchFamily="34" charset="-122"/>
                <a:cs typeface="Cambria" pitchFamily="34" charset="-120"/>
              </a:rPr>
              <a:t>when a citizen</a:t>
            </a:r>
            <a:endParaRPr lang="en-US" sz="4000" dirty="0"/>
          </a:p>
          <a:p>
            <a:pPr indent="0" marL="0">
              <a:lnSpc>
                <a:spcPts val="5000"/>
              </a:lnSpc>
              <a:buNone/>
            </a:pPr>
            <a:r>
              <a:rPr lang="en-US" sz="4000" i="1" dirty="0">
                <a:solidFill>
                  <a:srgbClr val="C0492A"/>
                </a:solidFill>
                <a:latin typeface="Cambria" pitchFamily="34" charset="0"/>
                <a:ea typeface="Cambria" pitchFamily="34" charset="-122"/>
                <a:cs typeface="Cambria" pitchFamily="34" charset="-120"/>
              </a:rPr>
              <a:t>asks about a welfare scheme?</a:t>
            </a:r>
            <a:endParaRPr lang="en-US" sz="4000" dirty="0"/>
          </a:p>
        </p:txBody>
      </p:sp>
      <p:sp>
        <p:nvSpPr>
          <p:cNvPr id="4" name="Text 2"/>
          <p:cNvSpPr/>
          <p:nvPr/>
        </p:nvSpPr>
        <p:spPr>
          <a:xfrm>
            <a:off x="566928" y="4160520"/>
            <a:ext cx="7680960" cy="548640"/>
          </a:xfrm>
          <a:prstGeom prst="rect">
            <a:avLst/>
          </a:prstGeom>
          <a:noFill/>
          <a:ln/>
        </p:spPr>
        <p:txBody>
          <a:bodyPr wrap="square" lIns="0" tIns="0" rIns="0" bIns="0" rtlCol="0" anchor="ctr"/>
          <a:lstStyle/>
          <a:p>
            <a:pPr indent="0" marL="0">
              <a:lnSpc>
                <a:spcPts val="2200"/>
              </a:lnSpc>
              <a:buNone/>
            </a:pPr>
            <a:r>
              <a:rPr lang="en-US" sz="1450" dirty="0">
                <a:solidFill>
                  <a:srgbClr val="B9C2CF"/>
                </a:solidFill>
                <a:latin typeface="Calibri" pitchFamily="34" charset="0"/>
                <a:ea typeface="Calibri" pitchFamily="34" charset="-122"/>
                <a:cs typeface="Calibri" pitchFamily="34" charset="-120"/>
              </a:rPr>
              <a:t>A controlled evaluation of five retrieval strategies on 22 Indian government policy documents.</a:t>
            </a:r>
            <a:endParaRPr lang="en-US" sz="1450" dirty="0"/>
          </a:p>
        </p:txBody>
      </p:sp>
      <p:sp>
        <p:nvSpPr>
          <p:cNvPr id="5" name="Text 3"/>
          <p:cNvSpPr/>
          <p:nvPr/>
        </p:nvSpPr>
        <p:spPr>
          <a:xfrm>
            <a:off x="566928" y="5074920"/>
            <a:ext cx="2194560" cy="566928"/>
          </a:xfrm>
          <a:prstGeom prst="rect">
            <a:avLst/>
          </a:prstGeom>
          <a:noFill/>
          <a:ln/>
        </p:spPr>
        <p:txBody>
          <a:bodyPr wrap="square" lIns="0" tIns="0" rIns="0" bIns="0" rtlCol="0" anchor="ctr"/>
          <a:lstStyle/>
          <a:p>
            <a:pPr indent="0" marL="0">
              <a:buNone/>
            </a:pPr>
            <a:r>
              <a:rPr lang="en-US" sz="3600" dirty="0">
                <a:solidFill>
                  <a:srgbClr val="C0492A"/>
                </a:solidFill>
                <a:latin typeface="Cambria" pitchFamily="34" charset="0"/>
                <a:ea typeface="Cambria" pitchFamily="34" charset="-122"/>
                <a:cs typeface="Cambria" pitchFamily="34" charset="-120"/>
              </a:rPr>
              <a:t>22</a:t>
            </a:r>
            <a:endParaRPr lang="en-US" sz="3600" dirty="0"/>
          </a:p>
        </p:txBody>
      </p:sp>
      <p:sp>
        <p:nvSpPr>
          <p:cNvPr id="6" name="Text 4"/>
          <p:cNvSpPr/>
          <p:nvPr/>
        </p:nvSpPr>
        <p:spPr>
          <a:xfrm>
            <a:off x="566928" y="5650992"/>
            <a:ext cx="2377440" cy="274320"/>
          </a:xfrm>
          <a:prstGeom prst="rect">
            <a:avLst/>
          </a:prstGeom>
          <a:noFill/>
          <a:ln/>
        </p:spPr>
        <p:txBody>
          <a:bodyPr wrap="square" lIns="0" tIns="0" rIns="0" bIns="0" rtlCol="0" anchor="ctr"/>
          <a:lstStyle/>
          <a:p>
            <a:pPr indent="0" marL="0">
              <a:buNone/>
            </a:pPr>
            <a:r>
              <a:rPr lang="en-US" sz="850" spc="150" kern="0" dirty="0">
                <a:solidFill>
                  <a:srgbClr val="8A96A8"/>
                </a:solidFill>
                <a:latin typeface="Calibri" pitchFamily="34" charset="0"/>
                <a:ea typeface="Calibri" pitchFamily="34" charset="-122"/>
                <a:cs typeface="Calibri" pitchFamily="34" charset="-120"/>
              </a:rPr>
              <a:t>POLICY DOCUMENTS</a:t>
            </a:r>
            <a:endParaRPr lang="en-US" sz="850" dirty="0"/>
          </a:p>
        </p:txBody>
      </p:sp>
      <p:sp>
        <p:nvSpPr>
          <p:cNvPr id="7" name="Text 5"/>
          <p:cNvSpPr/>
          <p:nvPr/>
        </p:nvSpPr>
        <p:spPr>
          <a:xfrm>
            <a:off x="3323844" y="5074920"/>
            <a:ext cx="2194560" cy="566928"/>
          </a:xfrm>
          <a:prstGeom prst="rect">
            <a:avLst/>
          </a:prstGeom>
          <a:noFill/>
          <a:ln/>
        </p:spPr>
        <p:txBody>
          <a:bodyPr wrap="square" lIns="0" tIns="0" rIns="0" bIns="0" rtlCol="0" anchor="ctr"/>
          <a:lstStyle/>
          <a:p>
            <a:pPr indent="0" marL="0">
              <a:buNone/>
            </a:pPr>
            <a:r>
              <a:rPr lang="en-US" sz="3600" dirty="0">
                <a:solidFill>
                  <a:srgbClr val="C0492A"/>
                </a:solidFill>
                <a:latin typeface="Cambria" pitchFamily="34" charset="0"/>
                <a:ea typeface="Cambria" pitchFamily="34" charset="-122"/>
                <a:cs typeface="Cambria" pitchFamily="34" charset="-120"/>
              </a:rPr>
              <a:t>34</a:t>
            </a:r>
            <a:endParaRPr lang="en-US" sz="3600" dirty="0"/>
          </a:p>
        </p:txBody>
      </p:sp>
      <p:sp>
        <p:nvSpPr>
          <p:cNvPr id="8" name="Text 6"/>
          <p:cNvSpPr/>
          <p:nvPr/>
        </p:nvSpPr>
        <p:spPr>
          <a:xfrm>
            <a:off x="3323844" y="5650992"/>
            <a:ext cx="2377440" cy="274320"/>
          </a:xfrm>
          <a:prstGeom prst="rect">
            <a:avLst/>
          </a:prstGeom>
          <a:noFill/>
          <a:ln/>
        </p:spPr>
        <p:txBody>
          <a:bodyPr wrap="square" lIns="0" tIns="0" rIns="0" bIns="0" rtlCol="0" anchor="ctr"/>
          <a:lstStyle/>
          <a:p>
            <a:pPr indent="0" marL="0">
              <a:buNone/>
            </a:pPr>
            <a:r>
              <a:rPr lang="en-US" sz="850" spc="150" kern="0" dirty="0">
                <a:solidFill>
                  <a:srgbClr val="8A96A8"/>
                </a:solidFill>
                <a:latin typeface="Calibri" pitchFamily="34" charset="0"/>
                <a:ea typeface="Calibri" pitchFamily="34" charset="-122"/>
                <a:cs typeface="Calibri" pitchFamily="34" charset="-120"/>
              </a:rPr>
              <a:t>HAND-GRADED QUESTIONS</a:t>
            </a:r>
            <a:endParaRPr lang="en-US" sz="850" dirty="0"/>
          </a:p>
        </p:txBody>
      </p:sp>
      <p:sp>
        <p:nvSpPr>
          <p:cNvPr id="9" name="Text 7"/>
          <p:cNvSpPr/>
          <p:nvPr/>
        </p:nvSpPr>
        <p:spPr>
          <a:xfrm>
            <a:off x="6080760" y="5074920"/>
            <a:ext cx="2194560" cy="566928"/>
          </a:xfrm>
          <a:prstGeom prst="rect">
            <a:avLst/>
          </a:prstGeom>
          <a:noFill/>
          <a:ln/>
        </p:spPr>
        <p:txBody>
          <a:bodyPr wrap="square" lIns="0" tIns="0" rIns="0" bIns="0" rtlCol="0" anchor="ctr"/>
          <a:lstStyle/>
          <a:p>
            <a:pPr indent="0" marL="0">
              <a:buNone/>
            </a:pPr>
            <a:r>
              <a:rPr lang="en-US" sz="3600" dirty="0">
                <a:solidFill>
                  <a:srgbClr val="C0492A"/>
                </a:solidFill>
                <a:latin typeface="Cambria" pitchFamily="34" charset="0"/>
                <a:ea typeface="Cambria" pitchFamily="34" charset="-122"/>
                <a:cs typeface="Cambria" pitchFamily="34" charset="-120"/>
              </a:rPr>
              <a:t>183</a:t>
            </a:r>
            <a:endParaRPr lang="en-US" sz="3600" dirty="0"/>
          </a:p>
        </p:txBody>
      </p:sp>
      <p:sp>
        <p:nvSpPr>
          <p:cNvPr id="10" name="Text 8"/>
          <p:cNvSpPr/>
          <p:nvPr/>
        </p:nvSpPr>
        <p:spPr>
          <a:xfrm>
            <a:off x="6080760" y="5650992"/>
            <a:ext cx="2377440" cy="274320"/>
          </a:xfrm>
          <a:prstGeom prst="rect">
            <a:avLst/>
          </a:prstGeom>
          <a:noFill/>
          <a:ln/>
        </p:spPr>
        <p:txBody>
          <a:bodyPr wrap="square" lIns="0" tIns="0" rIns="0" bIns="0" rtlCol="0" anchor="ctr"/>
          <a:lstStyle/>
          <a:p>
            <a:pPr indent="0" marL="0">
              <a:buNone/>
            </a:pPr>
            <a:r>
              <a:rPr lang="en-US" sz="850" spc="150" kern="0" dirty="0">
                <a:solidFill>
                  <a:srgbClr val="8A96A8"/>
                </a:solidFill>
                <a:latin typeface="Calibri" pitchFamily="34" charset="0"/>
                <a:ea typeface="Calibri" pitchFamily="34" charset="-122"/>
                <a:cs typeface="Calibri" pitchFamily="34" charset="-120"/>
              </a:rPr>
              <a:t>HUMAN RELEVANCE JUDGEMENTS</a:t>
            </a:r>
            <a:endParaRPr lang="en-US" sz="850" dirty="0"/>
          </a:p>
        </p:txBody>
      </p:sp>
      <p:sp>
        <p:nvSpPr>
          <p:cNvPr id="11" name="Text 9"/>
          <p:cNvSpPr/>
          <p:nvPr/>
        </p:nvSpPr>
        <p:spPr>
          <a:xfrm>
            <a:off x="8837676" y="5074920"/>
            <a:ext cx="2194560" cy="566928"/>
          </a:xfrm>
          <a:prstGeom prst="rect">
            <a:avLst/>
          </a:prstGeom>
          <a:noFill/>
          <a:ln/>
        </p:spPr>
        <p:txBody>
          <a:bodyPr wrap="square" lIns="0" tIns="0" rIns="0" bIns="0" rtlCol="0" anchor="ctr"/>
          <a:lstStyle/>
          <a:p>
            <a:pPr indent="0" marL="0">
              <a:buNone/>
            </a:pPr>
            <a:r>
              <a:rPr lang="en-US" sz="3600" dirty="0">
                <a:solidFill>
                  <a:srgbClr val="C0492A"/>
                </a:solidFill>
                <a:latin typeface="Cambria" pitchFamily="34" charset="0"/>
                <a:ea typeface="Cambria" pitchFamily="34" charset="-122"/>
                <a:cs typeface="Cambria" pitchFamily="34" charset="-120"/>
              </a:rPr>
              <a:t>5</a:t>
            </a:r>
            <a:endParaRPr lang="en-US" sz="3600" dirty="0"/>
          </a:p>
        </p:txBody>
      </p:sp>
      <p:sp>
        <p:nvSpPr>
          <p:cNvPr id="12" name="Text 10"/>
          <p:cNvSpPr/>
          <p:nvPr/>
        </p:nvSpPr>
        <p:spPr>
          <a:xfrm>
            <a:off x="8837676" y="5650992"/>
            <a:ext cx="2377440" cy="274320"/>
          </a:xfrm>
          <a:prstGeom prst="rect">
            <a:avLst/>
          </a:prstGeom>
          <a:noFill/>
          <a:ln/>
        </p:spPr>
        <p:txBody>
          <a:bodyPr wrap="square" lIns="0" tIns="0" rIns="0" bIns="0" rtlCol="0" anchor="ctr"/>
          <a:lstStyle/>
          <a:p>
            <a:pPr indent="0" marL="0">
              <a:buNone/>
            </a:pPr>
            <a:r>
              <a:rPr lang="en-US" sz="850" spc="150" kern="0" dirty="0">
                <a:solidFill>
                  <a:srgbClr val="8A96A8"/>
                </a:solidFill>
                <a:latin typeface="Calibri" pitchFamily="34" charset="0"/>
                <a:ea typeface="Calibri" pitchFamily="34" charset="-122"/>
                <a:cs typeface="Calibri" pitchFamily="34" charset="-120"/>
              </a:rPr>
              <a:t>RETRIEVAL SYSTEMS</a:t>
            </a:r>
            <a:endParaRPr lang="en-US" sz="850" dirty="0"/>
          </a:p>
        </p:txBody>
      </p:sp>
      <p:sp>
        <p:nvSpPr>
          <p:cNvPr id="13" name="Text 11"/>
          <p:cNvSpPr/>
          <p:nvPr/>
        </p:nvSpPr>
        <p:spPr>
          <a:xfrm>
            <a:off x="566928" y="6199632"/>
            <a:ext cx="11027664" cy="274320"/>
          </a:xfrm>
          <a:prstGeom prst="rect">
            <a:avLst/>
          </a:prstGeom>
          <a:noFill/>
          <a:ln/>
        </p:spPr>
        <p:txBody>
          <a:bodyPr wrap="square" lIns="0" tIns="0" rIns="0" bIns="0" rtlCol="0" anchor="ctr"/>
          <a:lstStyle/>
          <a:p>
            <a:pPr indent="0" marL="0">
              <a:buNone/>
            </a:pPr>
            <a:r>
              <a:rPr lang="en-US" sz="1000" spc="80" kern="0" dirty="0">
                <a:solidFill>
                  <a:srgbClr val="6E7B8E"/>
                </a:solidFill>
                <a:latin typeface="Calibri" pitchFamily="34" charset="0"/>
                <a:ea typeface="Calibri" pitchFamily="34" charset="-122"/>
                <a:cs typeface="Calibri" pitchFamily="34" charset="-120"/>
              </a:rPr>
              <a:t>Amulya Gupta   ·   2024AB05200   ·   Supervisor: Anushka Gupta, TCS Research</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66928" y="329184"/>
            <a:ext cx="548640" cy="274320"/>
          </a:xfrm>
          <a:prstGeom prst="rect">
            <a:avLst/>
          </a:prstGeom>
          <a:noFill/>
          <a:ln/>
        </p:spPr>
        <p:txBody>
          <a:bodyPr wrap="square" rtlCol="0" anchor="ctr"/>
          <a:lstStyle/>
          <a:p>
            <a:pPr indent="0" marL="0">
              <a:buNone/>
            </a:pPr>
            <a:r>
              <a:rPr lang="en-US" sz="1100" b="1" spc="200" kern="0" dirty="0">
                <a:solidFill>
                  <a:srgbClr val="C0492A"/>
                </a:solidFill>
                <a:latin typeface="Calibri" pitchFamily="34" charset="0"/>
                <a:ea typeface="Calibri" pitchFamily="34" charset="-122"/>
                <a:cs typeface="Calibri" pitchFamily="34" charset="-120"/>
              </a:rPr>
              <a:t>01</a:t>
            </a:r>
            <a:endParaRPr lang="en-US" sz="1100" dirty="0"/>
          </a:p>
        </p:txBody>
      </p:sp>
      <p:sp>
        <p:nvSpPr>
          <p:cNvPr id="3" name="Text 1"/>
          <p:cNvSpPr/>
          <p:nvPr/>
        </p:nvSpPr>
        <p:spPr>
          <a:xfrm>
            <a:off x="1069848" y="329184"/>
            <a:ext cx="7315200" cy="274320"/>
          </a:xfrm>
          <a:prstGeom prst="rect">
            <a:avLst/>
          </a:prstGeom>
          <a:noFill/>
          <a:ln/>
        </p:spPr>
        <p:txBody>
          <a:bodyPr wrap="square" rtlCol="0" anchor="ctr"/>
          <a:lstStyle/>
          <a:p>
            <a:pPr indent="0" marL="0">
              <a:buNone/>
            </a:pPr>
            <a:r>
              <a:rPr lang="en-US" sz="950" spc="240" kern="0" dirty="0">
                <a:solidFill>
                  <a:srgbClr val="6E7787"/>
                </a:solidFill>
                <a:latin typeface="Calibri" pitchFamily="34" charset="0"/>
                <a:ea typeface="Calibri" pitchFamily="34" charset="-122"/>
                <a:cs typeface="Calibri" pitchFamily="34" charset="-120"/>
              </a:rPr>
              <a:t>THE PROBLEM</a:t>
            </a:r>
            <a:endParaRPr lang="en-US" sz="950" dirty="0"/>
          </a:p>
        </p:txBody>
      </p:sp>
      <p:sp>
        <p:nvSpPr>
          <p:cNvPr id="4" name="Text 2"/>
          <p:cNvSpPr/>
          <p:nvPr/>
        </p:nvSpPr>
        <p:spPr>
          <a:xfrm>
            <a:off x="566928" y="777240"/>
            <a:ext cx="11027664" cy="868680"/>
          </a:xfrm>
          <a:prstGeom prst="rect">
            <a:avLst/>
          </a:prstGeom>
          <a:noFill/>
          <a:ln/>
        </p:spPr>
        <p:txBody>
          <a:bodyPr wrap="square" lIns="0" tIns="0" rIns="0" bIns="0" rtlCol="0" anchor="t"/>
          <a:lstStyle/>
          <a:p>
            <a:pPr indent="0" marL="0">
              <a:lnSpc>
                <a:spcPts val="3696"/>
              </a:lnSpc>
              <a:buNone/>
            </a:pPr>
            <a:r>
              <a:rPr lang="en-US" sz="3300" dirty="0">
                <a:solidFill>
                  <a:srgbClr val="1B2A41"/>
                </a:solidFill>
                <a:latin typeface="Cambria" pitchFamily="34" charset="0"/>
                <a:ea typeface="Cambria" pitchFamily="34" charset="-122"/>
                <a:cs typeface="Cambria" pitchFamily="34" charset="-120"/>
              </a:rPr>
              <a:t>Somebody asks whether they qualify.</a:t>
            </a:r>
            <a:endParaRPr lang="en-US" sz="3300" dirty="0"/>
          </a:p>
          <a:p>
            <a:pPr indent="0" marL="0">
              <a:lnSpc>
                <a:spcPts val="3696"/>
              </a:lnSpc>
              <a:buNone/>
            </a:pPr>
            <a:r>
              <a:rPr lang="en-US" sz="3300" dirty="0">
                <a:solidFill>
                  <a:srgbClr val="1B2A41"/>
                </a:solidFill>
                <a:latin typeface="Cambria" pitchFamily="34" charset="0"/>
                <a:ea typeface="Cambria" pitchFamily="34" charset="-122"/>
                <a:cs typeface="Cambria" pitchFamily="34" charset="-120"/>
              </a:rPr>
              <a:t>The system answers confidently.</a:t>
            </a:r>
            <a:endParaRPr lang="en-US" sz="3300" dirty="0"/>
          </a:p>
        </p:txBody>
      </p:sp>
      <p:sp>
        <p:nvSpPr>
          <p:cNvPr id="5" name="Text 3"/>
          <p:cNvSpPr/>
          <p:nvPr/>
        </p:nvSpPr>
        <p:spPr>
          <a:xfrm>
            <a:off x="566928" y="1874520"/>
            <a:ext cx="8601578" cy="777240"/>
          </a:xfrm>
          <a:prstGeom prst="rect">
            <a:avLst/>
          </a:prstGeom>
          <a:noFill/>
          <a:ln/>
        </p:spPr>
        <p:txBody>
          <a:bodyPr wrap="square" lIns="0" tIns="0" rIns="0" bIns="0" rtlCol="0" anchor="t"/>
          <a:lstStyle/>
          <a:p>
            <a:pPr indent="0" marL="0">
              <a:lnSpc>
                <a:spcPts val="2103"/>
              </a:lnSpc>
              <a:buNone/>
            </a:pPr>
            <a:r>
              <a:rPr lang="en-US" sz="1450" dirty="0">
                <a:solidFill>
                  <a:srgbClr val="3D4859"/>
                </a:solidFill>
                <a:latin typeface="Calibri" pitchFamily="34" charset="0"/>
                <a:ea typeface="Calibri" pitchFamily="34" charset="-122"/>
                <a:cs typeface="Calibri" pitchFamily="34" charset="-120"/>
              </a:rPr>
              <a:t>Government departments, NGOs and citizen helpdesks are deploying RAG assistants over scheme guidelines. The failure that matters is not a clumsy sentence — it is a confident answer built on the wrong document.</a:t>
            </a:r>
            <a:endParaRPr lang="en-US" sz="1450" dirty="0"/>
          </a:p>
        </p:txBody>
      </p:sp>
      <p:sp>
        <p:nvSpPr>
          <p:cNvPr id="6" name="Shape 4"/>
          <p:cNvSpPr/>
          <p:nvPr/>
        </p:nvSpPr>
        <p:spPr>
          <a:xfrm>
            <a:off x="566928" y="2880360"/>
            <a:ext cx="3493008" cy="1874520"/>
          </a:xfrm>
          <a:prstGeom prst="rect">
            <a:avLst/>
          </a:prstGeom>
          <a:solidFill>
            <a:srgbClr val="EDE8DC"/>
          </a:solidFill>
          <a:ln w="9525">
            <a:solidFill>
              <a:srgbClr val="D4CEC0"/>
            </a:solidFill>
            <a:prstDash val="solid"/>
          </a:ln>
        </p:spPr>
      </p:sp>
      <p:sp>
        <p:nvSpPr>
          <p:cNvPr id="7" name="Text 5"/>
          <p:cNvSpPr/>
          <p:nvPr/>
        </p:nvSpPr>
        <p:spPr>
          <a:xfrm>
            <a:off x="822960" y="3118104"/>
            <a:ext cx="2980944" cy="237744"/>
          </a:xfrm>
          <a:prstGeom prst="rect">
            <a:avLst/>
          </a:prstGeom>
          <a:noFill/>
          <a:ln/>
        </p:spPr>
        <p:txBody>
          <a:bodyPr wrap="square" lIns="0" tIns="0" rIns="0" bIns="0" rtlCol="0" anchor="ctr"/>
          <a:lstStyle/>
          <a:p>
            <a:pPr indent="0" marL="0">
              <a:buNone/>
            </a:pPr>
            <a:r>
              <a:rPr lang="en-US" sz="900" b="1" spc="160" kern="0" dirty="0">
                <a:solidFill>
                  <a:srgbClr val="3D4859"/>
                </a:solidFill>
                <a:latin typeface="Calibri" pitchFamily="34" charset="0"/>
                <a:ea typeface="Calibri" pitchFamily="34" charset="-122"/>
                <a:cs typeface="Calibri" pitchFamily="34" charset="-120"/>
              </a:rPr>
              <a:t>THE QUESTION</a:t>
            </a:r>
            <a:endParaRPr lang="en-US" sz="900" dirty="0"/>
          </a:p>
        </p:txBody>
      </p:sp>
      <p:sp>
        <p:nvSpPr>
          <p:cNvPr id="8" name="Text 6"/>
          <p:cNvSpPr/>
          <p:nvPr/>
        </p:nvSpPr>
        <p:spPr>
          <a:xfrm>
            <a:off x="822960" y="3447288"/>
            <a:ext cx="2980944" cy="1143000"/>
          </a:xfrm>
          <a:prstGeom prst="rect">
            <a:avLst/>
          </a:prstGeom>
          <a:noFill/>
          <a:ln/>
        </p:spPr>
        <p:txBody>
          <a:bodyPr wrap="square" lIns="0" tIns="0" rIns="0" bIns="0" rtlCol="0" anchor="t"/>
          <a:lstStyle/>
          <a:p>
            <a:pPr indent="0" marL="0">
              <a:lnSpc>
                <a:spcPts val="2200"/>
              </a:lnSpc>
              <a:buNone/>
            </a:pPr>
            <a:r>
              <a:rPr lang="en-US" sz="1500" dirty="0">
                <a:solidFill>
                  <a:srgbClr val="1B2A41"/>
                </a:solidFill>
                <a:latin typeface="Cambria" pitchFamily="34" charset="0"/>
                <a:ea typeface="Cambria" pitchFamily="34" charset="-122"/>
                <a:cs typeface="Cambria" pitchFamily="34" charset="-120"/>
              </a:rPr>
              <a:t>"I earn ₹18,000 a month and live in the city. Can I get help buying a house?"</a:t>
            </a:r>
            <a:endParaRPr lang="en-US" sz="1500" dirty="0"/>
          </a:p>
        </p:txBody>
      </p:sp>
      <p:sp>
        <p:nvSpPr>
          <p:cNvPr id="9" name="Shape 7"/>
          <p:cNvSpPr/>
          <p:nvPr/>
        </p:nvSpPr>
        <p:spPr>
          <a:xfrm>
            <a:off x="4334256" y="2880360"/>
            <a:ext cx="3493008" cy="1874520"/>
          </a:xfrm>
          <a:prstGeom prst="rect">
            <a:avLst/>
          </a:prstGeom>
          <a:solidFill>
            <a:srgbClr val="DFEADE"/>
          </a:solidFill>
          <a:ln w="9525">
            <a:solidFill>
              <a:srgbClr val="D4CEC0"/>
            </a:solidFill>
            <a:prstDash val="solid"/>
          </a:ln>
        </p:spPr>
      </p:sp>
      <p:sp>
        <p:nvSpPr>
          <p:cNvPr id="10" name="Text 8"/>
          <p:cNvSpPr/>
          <p:nvPr/>
        </p:nvSpPr>
        <p:spPr>
          <a:xfrm>
            <a:off x="4590288" y="3118104"/>
            <a:ext cx="2980944" cy="237744"/>
          </a:xfrm>
          <a:prstGeom prst="rect">
            <a:avLst/>
          </a:prstGeom>
          <a:noFill/>
          <a:ln/>
        </p:spPr>
        <p:txBody>
          <a:bodyPr wrap="square" lIns="0" tIns="0" rIns="0" bIns="0" rtlCol="0" anchor="ctr"/>
          <a:lstStyle/>
          <a:p>
            <a:pPr indent="0" marL="0">
              <a:buNone/>
            </a:pPr>
            <a:r>
              <a:rPr lang="en-US" sz="900" b="1" spc="160" kern="0" dirty="0">
                <a:solidFill>
                  <a:srgbClr val="2C6B4F"/>
                </a:solidFill>
                <a:latin typeface="Calibri" pitchFamily="34" charset="0"/>
                <a:ea typeface="Calibri" pitchFamily="34" charset="-122"/>
                <a:cs typeface="Calibri" pitchFamily="34" charset="-120"/>
              </a:rPr>
              <a:t>WHAT SHOULD BE RETRIEVED</a:t>
            </a:r>
            <a:endParaRPr lang="en-US" sz="900" dirty="0"/>
          </a:p>
        </p:txBody>
      </p:sp>
      <p:sp>
        <p:nvSpPr>
          <p:cNvPr id="11" name="Text 9"/>
          <p:cNvSpPr/>
          <p:nvPr/>
        </p:nvSpPr>
        <p:spPr>
          <a:xfrm>
            <a:off x="4590288" y="3447288"/>
            <a:ext cx="2980944" cy="1143000"/>
          </a:xfrm>
          <a:prstGeom prst="rect">
            <a:avLst/>
          </a:prstGeom>
          <a:noFill/>
          <a:ln/>
        </p:spPr>
        <p:txBody>
          <a:bodyPr wrap="square" lIns="0" tIns="0" rIns="0" bIns="0" rtlCol="0" anchor="t"/>
          <a:lstStyle/>
          <a:p>
            <a:pPr indent="0" marL="0">
              <a:lnSpc>
                <a:spcPts val="2200"/>
              </a:lnSpc>
              <a:buNone/>
            </a:pPr>
            <a:r>
              <a:rPr lang="en-US" sz="1500" dirty="0">
                <a:solidFill>
                  <a:srgbClr val="1B2A41"/>
                </a:solidFill>
                <a:latin typeface="Cambria" pitchFamily="34" charset="0"/>
                <a:ea typeface="Cambria" pitchFamily="34" charset="-122"/>
                <a:cs typeface="Cambria" pitchFamily="34" charset="-120"/>
              </a:rPr>
              <a:t>The PMAY-Urban guideline defining EWS, LIG and MIG income bands and the benefit each receives.</a:t>
            </a:r>
            <a:endParaRPr lang="en-US" sz="1500" dirty="0"/>
          </a:p>
        </p:txBody>
      </p:sp>
      <p:sp>
        <p:nvSpPr>
          <p:cNvPr id="12" name="Shape 10"/>
          <p:cNvSpPr/>
          <p:nvPr/>
        </p:nvSpPr>
        <p:spPr>
          <a:xfrm>
            <a:off x="8101584" y="2880360"/>
            <a:ext cx="3493008" cy="1874520"/>
          </a:xfrm>
          <a:prstGeom prst="rect">
            <a:avLst/>
          </a:prstGeom>
          <a:solidFill>
            <a:srgbClr val="F4E0D8"/>
          </a:solidFill>
          <a:ln w="9525">
            <a:solidFill>
              <a:srgbClr val="D4CEC0"/>
            </a:solidFill>
            <a:prstDash val="solid"/>
          </a:ln>
        </p:spPr>
      </p:sp>
      <p:sp>
        <p:nvSpPr>
          <p:cNvPr id="13" name="Text 11"/>
          <p:cNvSpPr/>
          <p:nvPr/>
        </p:nvSpPr>
        <p:spPr>
          <a:xfrm>
            <a:off x="8357616" y="3118104"/>
            <a:ext cx="2980944" cy="237744"/>
          </a:xfrm>
          <a:prstGeom prst="rect">
            <a:avLst/>
          </a:prstGeom>
          <a:noFill/>
          <a:ln/>
        </p:spPr>
        <p:txBody>
          <a:bodyPr wrap="square" lIns="0" tIns="0" rIns="0" bIns="0" rtlCol="0" anchor="ctr"/>
          <a:lstStyle/>
          <a:p>
            <a:pPr indent="0" marL="0">
              <a:buNone/>
            </a:pPr>
            <a:r>
              <a:rPr lang="en-US" sz="900" b="1" spc="160" kern="0" dirty="0">
                <a:solidFill>
                  <a:srgbClr val="C0492A"/>
                </a:solidFill>
                <a:latin typeface="Calibri" pitchFamily="34" charset="0"/>
                <a:ea typeface="Calibri" pitchFamily="34" charset="-122"/>
                <a:cs typeface="Calibri" pitchFamily="34" charset="-120"/>
              </a:rPr>
              <a:t>WHAT GOES WRONG</a:t>
            </a:r>
            <a:endParaRPr lang="en-US" sz="900" dirty="0"/>
          </a:p>
        </p:txBody>
      </p:sp>
      <p:sp>
        <p:nvSpPr>
          <p:cNvPr id="14" name="Text 12"/>
          <p:cNvSpPr/>
          <p:nvPr/>
        </p:nvSpPr>
        <p:spPr>
          <a:xfrm>
            <a:off x="8357616" y="3447288"/>
            <a:ext cx="2980944" cy="1143000"/>
          </a:xfrm>
          <a:prstGeom prst="rect">
            <a:avLst/>
          </a:prstGeom>
          <a:noFill/>
          <a:ln/>
        </p:spPr>
        <p:txBody>
          <a:bodyPr wrap="square" lIns="0" tIns="0" rIns="0" bIns="0" rtlCol="0" anchor="t"/>
          <a:lstStyle/>
          <a:p>
            <a:pPr indent="0" marL="0">
              <a:lnSpc>
                <a:spcPts val="2200"/>
              </a:lnSpc>
              <a:buNone/>
            </a:pPr>
            <a:r>
              <a:rPr lang="en-US" sz="1500" dirty="0">
                <a:solidFill>
                  <a:srgbClr val="1B2A41"/>
                </a:solidFill>
                <a:latin typeface="Cambria" pitchFamily="34" charset="0"/>
                <a:ea typeface="Cambria" pitchFamily="34" charset="-122"/>
                <a:cs typeface="Cambria" pitchFamily="34" charset="-120"/>
              </a:rPr>
              <a:t>A retriever returns the rural housing scheme instead. The generator answers faithfully — from the wrong rulebook.</a:t>
            </a:r>
            <a:endParaRPr lang="en-US" sz="1500" dirty="0"/>
          </a:p>
        </p:txBody>
      </p:sp>
      <p:sp>
        <p:nvSpPr>
          <p:cNvPr id="15" name="Text 13"/>
          <p:cNvSpPr/>
          <p:nvPr/>
        </p:nvSpPr>
        <p:spPr>
          <a:xfrm>
            <a:off x="566928" y="5074920"/>
            <a:ext cx="11027664" cy="365760"/>
          </a:xfrm>
          <a:prstGeom prst="rect">
            <a:avLst/>
          </a:prstGeom>
          <a:noFill/>
          <a:ln/>
        </p:spPr>
        <p:txBody>
          <a:bodyPr wrap="square" lIns="0" tIns="0" rIns="0" bIns="0" rtlCol="0" anchor="ctr"/>
          <a:lstStyle/>
          <a:p>
            <a:pPr indent="0" marL="0">
              <a:buNone/>
            </a:pPr>
            <a:r>
              <a:rPr lang="en-US" sz="1800" i="1" dirty="0">
                <a:solidFill>
                  <a:srgbClr val="1B2A41"/>
                </a:solidFill>
                <a:latin typeface="Cambria" pitchFamily="34" charset="0"/>
                <a:ea typeface="Cambria" pitchFamily="34" charset="-122"/>
                <a:cs typeface="Cambria" pitchFamily="34" charset="-120"/>
              </a:rPr>
              <a:t>The generator cannot repair evidence it never received. Retrieval decides whether the answer is safe.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66928" y="329184"/>
            <a:ext cx="548640" cy="274320"/>
          </a:xfrm>
          <a:prstGeom prst="rect">
            <a:avLst/>
          </a:prstGeom>
          <a:noFill/>
          <a:ln/>
        </p:spPr>
        <p:txBody>
          <a:bodyPr wrap="square" rtlCol="0" anchor="ctr"/>
          <a:lstStyle/>
          <a:p>
            <a:pPr indent="0" marL="0">
              <a:buNone/>
            </a:pPr>
            <a:r>
              <a:rPr lang="en-US" sz="1100" b="1" spc="200" kern="0" dirty="0">
                <a:solidFill>
                  <a:srgbClr val="C0492A"/>
                </a:solidFill>
                <a:latin typeface="Calibri" pitchFamily="34" charset="0"/>
                <a:ea typeface="Calibri" pitchFamily="34" charset="-122"/>
                <a:cs typeface="Calibri" pitchFamily="34" charset="-120"/>
              </a:rPr>
              <a:t>02</a:t>
            </a:r>
            <a:endParaRPr lang="en-US" sz="1100" dirty="0"/>
          </a:p>
        </p:txBody>
      </p:sp>
      <p:sp>
        <p:nvSpPr>
          <p:cNvPr id="3" name="Text 1"/>
          <p:cNvSpPr/>
          <p:nvPr/>
        </p:nvSpPr>
        <p:spPr>
          <a:xfrm>
            <a:off x="1069848" y="329184"/>
            <a:ext cx="7315200" cy="274320"/>
          </a:xfrm>
          <a:prstGeom prst="rect">
            <a:avLst/>
          </a:prstGeom>
          <a:noFill/>
          <a:ln/>
        </p:spPr>
        <p:txBody>
          <a:bodyPr wrap="square" rtlCol="0" anchor="ctr"/>
          <a:lstStyle/>
          <a:p>
            <a:pPr indent="0" marL="0">
              <a:buNone/>
            </a:pPr>
            <a:r>
              <a:rPr lang="en-US" sz="950" spc="240" kern="0" dirty="0">
                <a:solidFill>
                  <a:srgbClr val="6E7787"/>
                </a:solidFill>
                <a:latin typeface="Calibri" pitchFamily="34" charset="0"/>
                <a:ea typeface="Calibri" pitchFamily="34" charset="-122"/>
                <a:cs typeface="Calibri" pitchFamily="34" charset="-120"/>
              </a:rPr>
              <a:t>WHY IT IS HARD</a:t>
            </a:r>
            <a:endParaRPr lang="en-US" sz="950" dirty="0"/>
          </a:p>
        </p:txBody>
      </p:sp>
      <p:sp>
        <p:nvSpPr>
          <p:cNvPr id="4" name="Text 2"/>
          <p:cNvSpPr/>
          <p:nvPr/>
        </p:nvSpPr>
        <p:spPr>
          <a:xfrm>
            <a:off x="566928" y="777240"/>
            <a:ext cx="11027664" cy="868680"/>
          </a:xfrm>
          <a:prstGeom prst="rect">
            <a:avLst/>
          </a:prstGeom>
          <a:noFill/>
          <a:ln/>
        </p:spPr>
        <p:txBody>
          <a:bodyPr wrap="square" lIns="0" tIns="0" rIns="0" bIns="0" rtlCol="0" anchor="t"/>
          <a:lstStyle/>
          <a:p>
            <a:pPr indent="0" marL="0">
              <a:lnSpc>
                <a:spcPts val="3696"/>
              </a:lnSpc>
              <a:buNone/>
            </a:pPr>
            <a:r>
              <a:rPr lang="en-US" sz="3300" dirty="0">
                <a:solidFill>
                  <a:srgbClr val="1B2A41"/>
                </a:solidFill>
                <a:latin typeface="Cambria" pitchFamily="34" charset="0"/>
                <a:ea typeface="Cambria" pitchFamily="34" charset="-122"/>
                <a:cs typeface="Cambria" pitchFamily="34" charset="-120"/>
              </a:rPr>
              <a:t>Policy language does not look like</a:t>
            </a:r>
            <a:endParaRPr lang="en-US" sz="3300" dirty="0"/>
          </a:p>
          <a:p>
            <a:pPr indent="0" marL="0">
              <a:lnSpc>
                <a:spcPts val="3696"/>
              </a:lnSpc>
              <a:buNone/>
            </a:pPr>
            <a:r>
              <a:rPr lang="en-US" sz="3300" dirty="0">
                <a:solidFill>
                  <a:srgbClr val="1B2A41"/>
                </a:solidFill>
                <a:latin typeface="Cambria" pitchFamily="34" charset="0"/>
                <a:ea typeface="Cambria" pitchFamily="34" charset="-122"/>
                <a:cs typeface="Cambria" pitchFamily="34" charset="-120"/>
              </a:rPr>
              <a:t>the text these retrievers were trained on.</a:t>
            </a:r>
            <a:endParaRPr lang="en-US" sz="3300" dirty="0"/>
          </a:p>
        </p:txBody>
      </p:sp>
      <p:sp>
        <p:nvSpPr>
          <p:cNvPr id="5" name="Text 3"/>
          <p:cNvSpPr/>
          <p:nvPr/>
        </p:nvSpPr>
        <p:spPr>
          <a:xfrm>
            <a:off x="566928" y="1874520"/>
            <a:ext cx="8601578" cy="777240"/>
          </a:xfrm>
          <a:prstGeom prst="rect">
            <a:avLst/>
          </a:prstGeom>
          <a:noFill/>
          <a:ln/>
        </p:spPr>
        <p:txBody>
          <a:bodyPr wrap="square" lIns="0" tIns="0" rIns="0" bIns="0" rtlCol="0" anchor="t"/>
          <a:lstStyle/>
          <a:p>
            <a:pPr indent="0" marL="0">
              <a:lnSpc>
                <a:spcPts val="2103"/>
              </a:lnSpc>
              <a:buNone/>
            </a:pPr>
            <a:r>
              <a:rPr lang="en-US" sz="1450" dirty="0">
                <a:solidFill>
                  <a:srgbClr val="3D4859"/>
                </a:solidFill>
                <a:latin typeface="Calibri" pitchFamily="34" charset="0"/>
                <a:ea typeface="Calibri" pitchFamily="34" charset="-122"/>
                <a:cs typeface="Calibri" pitchFamily="34" charset="-120"/>
              </a:rPr>
              <a:t>Embedding models are trained on web and encyclopaedic text. Indian scheme documentation is a different register: dense with acronyms, statutory phrasing, and administratively defined categories that carry precise legal meaning.</a:t>
            </a:r>
            <a:endParaRPr lang="en-US" sz="1450" dirty="0"/>
          </a:p>
        </p:txBody>
      </p:sp>
      <p:sp>
        <p:nvSpPr>
          <p:cNvPr id="6" name="Shape 4"/>
          <p:cNvSpPr/>
          <p:nvPr/>
        </p:nvSpPr>
        <p:spPr>
          <a:xfrm>
            <a:off x="566928" y="2926080"/>
            <a:ext cx="8503920" cy="566928"/>
          </a:xfrm>
          <a:prstGeom prst="rect">
            <a:avLst/>
          </a:prstGeom>
          <a:solidFill>
            <a:srgbClr val="EDE8DC"/>
          </a:solidFill>
          <a:ln w="12700">
            <a:solidFill>
              <a:srgbClr val="333333"/>
            </a:solidFill>
            <a:prstDash val="solid"/>
          </a:ln>
        </p:spPr>
      </p:sp>
      <p:sp>
        <p:nvSpPr>
          <p:cNvPr id="7" name="Text 5"/>
          <p:cNvSpPr/>
          <p:nvPr/>
        </p:nvSpPr>
        <p:spPr>
          <a:xfrm>
            <a:off x="768096" y="3054096"/>
            <a:ext cx="2103120" cy="310896"/>
          </a:xfrm>
          <a:prstGeom prst="rect">
            <a:avLst/>
          </a:prstGeom>
          <a:noFill/>
          <a:ln/>
        </p:spPr>
        <p:txBody>
          <a:bodyPr wrap="square" lIns="0" tIns="0" rIns="0" bIns="0" rtlCol="0" anchor="ctr"/>
          <a:lstStyle/>
          <a:p>
            <a:pPr indent="0" marL="0">
              <a:buNone/>
            </a:pPr>
            <a:r>
              <a:rPr lang="en-US" sz="1300" b="1" dirty="0">
                <a:solidFill>
                  <a:srgbClr val="C0492A"/>
                </a:solidFill>
                <a:latin typeface="Calibri" pitchFamily="34" charset="0"/>
                <a:ea typeface="Calibri" pitchFamily="34" charset="-122"/>
                <a:cs typeface="Calibri" pitchFamily="34" charset="-120"/>
              </a:rPr>
              <a:t>PMAY-G</a:t>
            </a:r>
            <a:endParaRPr lang="en-US" sz="1300" dirty="0"/>
          </a:p>
        </p:txBody>
      </p:sp>
      <p:sp>
        <p:nvSpPr>
          <p:cNvPr id="8" name="Text 6"/>
          <p:cNvSpPr/>
          <p:nvPr/>
        </p:nvSpPr>
        <p:spPr>
          <a:xfrm>
            <a:off x="2944368" y="3063240"/>
            <a:ext cx="3931920" cy="310896"/>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Pradhan Mantri Awas Yojana – Gramin</a:t>
            </a:r>
            <a:endParaRPr lang="en-US" sz="1200" dirty="0"/>
          </a:p>
        </p:txBody>
      </p:sp>
      <p:sp>
        <p:nvSpPr>
          <p:cNvPr id="9" name="Text 7"/>
          <p:cNvSpPr/>
          <p:nvPr/>
        </p:nvSpPr>
        <p:spPr>
          <a:xfrm>
            <a:off x="6967728" y="3072384"/>
            <a:ext cx="2011680" cy="310896"/>
          </a:xfrm>
          <a:prstGeom prst="rect">
            <a:avLst/>
          </a:prstGeom>
          <a:noFill/>
          <a:ln/>
        </p:spPr>
        <p:txBody>
          <a:bodyPr wrap="square" lIns="0" tIns="0" rIns="0" bIns="0" rtlCol="0" anchor="ctr"/>
          <a:lstStyle/>
          <a:p>
            <a:pPr indent="0" marL="0">
              <a:buNone/>
            </a:pPr>
            <a:r>
              <a:rPr lang="en-US" sz="1100" i="1" dirty="0">
                <a:solidFill>
                  <a:srgbClr val="6E7787"/>
                </a:solidFill>
                <a:latin typeface="Calibri" pitchFamily="34" charset="0"/>
                <a:ea typeface="Calibri" pitchFamily="34" charset="-122"/>
                <a:cs typeface="Calibri" pitchFamily="34" charset="-120"/>
              </a:rPr>
              <a:t>rural housing</a:t>
            </a:r>
            <a:endParaRPr lang="en-US" sz="1100" dirty="0"/>
          </a:p>
        </p:txBody>
      </p:sp>
      <p:sp>
        <p:nvSpPr>
          <p:cNvPr id="10" name="Text 8"/>
          <p:cNvSpPr/>
          <p:nvPr/>
        </p:nvSpPr>
        <p:spPr>
          <a:xfrm>
            <a:off x="768096" y="3621024"/>
            <a:ext cx="2103120" cy="310896"/>
          </a:xfrm>
          <a:prstGeom prst="rect">
            <a:avLst/>
          </a:prstGeom>
          <a:noFill/>
          <a:ln/>
        </p:spPr>
        <p:txBody>
          <a:bodyPr wrap="square" lIns="0" tIns="0" rIns="0" bIns="0" rtlCol="0" anchor="ctr"/>
          <a:lstStyle/>
          <a:p>
            <a:pPr indent="0" marL="0">
              <a:buNone/>
            </a:pPr>
            <a:r>
              <a:rPr lang="en-US" sz="1300" b="1" dirty="0">
                <a:solidFill>
                  <a:srgbClr val="C0492A"/>
                </a:solidFill>
                <a:latin typeface="Calibri" pitchFamily="34" charset="0"/>
                <a:ea typeface="Calibri" pitchFamily="34" charset="-122"/>
                <a:cs typeface="Calibri" pitchFamily="34" charset="-120"/>
              </a:rPr>
              <a:t>EWS / LIG / MIG</a:t>
            </a:r>
            <a:endParaRPr lang="en-US" sz="1300" dirty="0"/>
          </a:p>
        </p:txBody>
      </p:sp>
      <p:sp>
        <p:nvSpPr>
          <p:cNvPr id="11" name="Text 9"/>
          <p:cNvSpPr/>
          <p:nvPr/>
        </p:nvSpPr>
        <p:spPr>
          <a:xfrm>
            <a:off x="2944368" y="3630168"/>
            <a:ext cx="3931920" cy="310896"/>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Economically Weaker Section, Low and Middle Income Group</a:t>
            </a:r>
            <a:endParaRPr lang="en-US" sz="1200" dirty="0"/>
          </a:p>
        </p:txBody>
      </p:sp>
      <p:sp>
        <p:nvSpPr>
          <p:cNvPr id="12" name="Text 10"/>
          <p:cNvSpPr/>
          <p:nvPr/>
        </p:nvSpPr>
        <p:spPr>
          <a:xfrm>
            <a:off x="6967728" y="3639312"/>
            <a:ext cx="2011680" cy="310896"/>
          </a:xfrm>
          <a:prstGeom prst="rect">
            <a:avLst/>
          </a:prstGeom>
          <a:noFill/>
          <a:ln/>
        </p:spPr>
        <p:txBody>
          <a:bodyPr wrap="square" lIns="0" tIns="0" rIns="0" bIns="0" rtlCol="0" anchor="ctr"/>
          <a:lstStyle/>
          <a:p>
            <a:pPr indent="0" marL="0">
              <a:buNone/>
            </a:pPr>
            <a:r>
              <a:rPr lang="en-US" sz="1100" i="1" dirty="0">
                <a:solidFill>
                  <a:srgbClr val="6E7787"/>
                </a:solidFill>
                <a:latin typeface="Calibri" pitchFamily="34" charset="0"/>
                <a:ea typeface="Calibri" pitchFamily="34" charset="-122"/>
                <a:cs typeface="Calibri" pitchFamily="34" charset="-120"/>
              </a:rPr>
              <a:t>statutory income bands</a:t>
            </a:r>
            <a:endParaRPr lang="en-US" sz="1100" dirty="0"/>
          </a:p>
        </p:txBody>
      </p:sp>
      <p:sp>
        <p:nvSpPr>
          <p:cNvPr id="13" name="Shape 11"/>
          <p:cNvSpPr/>
          <p:nvPr/>
        </p:nvSpPr>
        <p:spPr>
          <a:xfrm>
            <a:off x="566928" y="4059936"/>
            <a:ext cx="8503920" cy="566928"/>
          </a:xfrm>
          <a:prstGeom prst="rect">
            <a:avLst/>
          </a:prstGeom>
          <a:solidFill>
            <a:srgbClr val="EDE8DC"/>
          </a:solidFill>
          <a:ln w="12700">
            <a:solidFill>
              <a:srgbClr val="333333"/>
            </a:solidFill>
            <a:prstDash val="solid"/>
          </a:ln>
        </p:spPr>
      </p:sp>
      <p:sp>
        <p:nvSpPr>
          <p:cNvPr id="14" name="Text 12"/>
          <p:cNvSpPr/>
          <p:nvPr/>
        </p:nvSpPr>
        <p:spPr>
          <a:xfrm>
            <a:off x="768096" y="4187952"/>
            <a:ext cx="2103120" cy="310896"/>
          </a:xfrm>
          <a:prstGeom prst="rect">
            <a:avLst/>
          </a:prstGeom>
          <a:noFill/>
          <a:ln/>
        </p:spPr>
        <p:txBody>
          <a:bodyPr wrap="square" lIns="0" tIns="0" rIns="0" bIns="0" rtlCol="0" anchor="ctr"/>
          <a:lstStyle/>
          <a:p>
            <a:pPr indent="0" marL="0">
              <a:buNone/>
            </a:pPr>
            <a:r>
              <a:rPr lang="en-US" sz="1300" b="1" dirty="0">
                <a:solidFill>
                  <a:srgbClr val="C0492A"/>
                </a:solidFill>
                <a:latin typeface="Calibri" pitchFamily="34" charset="0"/>
                <a:ea typeface="Calibri" pitchFamily="34" charset="-122"/>
                <a:cs typeface="Calibri" pitchFamily="34" charset="-120"/>
              </a:rPr>
              <a:t>PM JANMAN</a:t>
            </a:r>
            <a:endParaRPr lang="en-US" sz="1300" dirty="0"/>
          </a:p>
        </p:txBody>
      </p:sp>
      <p:sp>
        <p:nvSpPr>
          <p:cNvPr id="15" name="Text 13"/>
          <p:cNvSpPr/>
          <p:nvPr/>
        </p:nvSpPr>
        <p:spPr>
          <a:xfrm>
            <a:off x="2944368" y="4197096"/>
            <a:ext cx="3931920" cy="310896"/>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PM Janjati Adivasi Nyaya Maha Abhiyan</a:t>
            </a:r>
            <a:endParaRPr lang="en-US" sz="1200" dirty="0"/>
          </a:p>
        </p:txBody>
      </p:sp>
      <p:sp>
        <p:nvSpPr>
          <p:cNvPr id="16" name="Text 14"/>
          <p:cNvSpPr/>
          <p:nvPr/>
        </p:nvSpPr>
        <p:spPr>
          <a:xfrm>
            <a:off x="6967728" y="4206240"/>
            <a:ext cx="2011680" cy="310896"/>
          </a:xfrm>
          <a:prstGeom prst="rect">
            <a:avLst/>
          </a:prstGeom>
          <a:noFill/>
          <a:ln/>
        </p:spPr>
        <p:txBody>
          <a:bodyPr wrap="square" lIns="0" tIns="0" rIns="0" bIns="0" rtlCol="0" anchor="ctr"/>
          <a:lstStyle/>
          <a:p>
            <a:pPr indent="0" marL="0">
              <a:buNone/>
            </a:pPr>
            <a:r>
              <a:rPr lang="en-US" sz="1100" i="1" dirty="0">
                <a:solidFill>
                  <a:srgbClr val="6E7787"/>
                </a:solidFill>
                <a:latin typeface="Calibri" pitchFamily="34" charset="0"/>
                <a:ea typeface="Calibri" pitchFamily="34" charset="-122"/>
                <a:cs typeface="Calibri" pitchFamily="34" charset="-120"/>
              </a:rPr>
              <a:t>vulnerable tribal groups</a:t>
            </a:r>
            <a:endParaRPr lang="en-US" sz="1100" dirty="0"/>
          </a:p>
        </p:txBody>
      </p:sp>
      <p:sp>
        <p:nvSpPr>
          <p:cNvPr id="17" name="Text 15"/>
          <p:cNvSpPr/>
          <p:nvPr/>
        </p:nvSpPr>
        <p:spPr>
          <a:xfrm>
            <a:off x="768096" y="4754880"/>
            <a:ext cx="2103120" cy="310896"/>
          </a:xfrm>
          <a:prstGeom prst="rect">
            <a:avLst/>
          </a:prstGeom>
          <a:noFill/>
          <a:ln/>
        </p:spPr>
        <p:txBody>
          <a:bodyPr wrap="square" lIns="0" tIns="0" rIns="0" bIns="0" rtlCol="0" anchor="ctr"/>
          <a:lstStyle/>
          <a:p>
            <a:pPr indent="0" marL="0">
              <a:buNone/>
            </a:pPr>
            <a:r>
              <a:rPr lang="en-US" sz="1300" b="1" dirty="0">
                <a:solidFill>
                  <a:srgbClr val="C0492A"/>
                </a:solidFill>
                <a:latin typeface="Calibri" pitchFamily="34" charset="0"/>
                <a:ea typeface="Calibri" pitchFamily="34" charset="-122"/>
                <a:cs typeface="Calibri" pitchFamily="34" charset="-120"/>
              </a:rPr>
              <a:t>PMJDY</a:t>
            </a:r>
            <a:endParaRPr lang="en-US" sz="1300" dirty="0"/>
          </a:p>
        </p:txBody>
      </p:sp>
      <p:sp>
        <p:nvSpPr>
          <p:cNvPr id="18" name="Text 16"/>
          <p:cNvSpPr/>
          <p:nvPr/>
        </p:nvSpPr>
        <p:spPr>
          <a:xfrm>
            <a:off x="2944368" y="4764024"/>
            <a:ext cx="3931920" cy="310896"/>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Pradhan Mantri Jan Dhan Yojana</a:t>
            </a:r>
            <a:endParaRPr lang="en-US" sz="1200" dirty="0"/>
          </a:p>
        </p:txBody>
      </p:sp>
      <p:sp>
        <p:nvSpPr>
          <p:cNvPr id="19" name="Text 17"/>
          <p:cNvSpPr/>
          <p:nvPr/>
        </p:nvSpPr>
        <p:spPr>
          <a:xfrm>
            <a:off x="6967728" y="4773168"/>
            <a:ext cx="2011680" cy="310896"/>
          </a:xfrm>
          <a:prstGeom prst="rect">
            <a:avLst/>
          </a:prstGeom>
          <a:noFill/>
          <a:ln/>
        </p:spPr>
        <p:txBody>
          <a:bodyPr wrap="square" lIns="0" tIns="0" rIns="0" bIns="0" rtlCol="0" anchor="ctr"/>
          <a:lstStyle/>
          <a:p>
            <a:pPr indent="0" marL="0">
              <a:buNone/>
            </a:pPr>
            <a:r>
              <a:rPr lang="en-US" sz="1100" i="1" dirty="0">
                <a:solidFill>
                  <a:srgbClr val="6E7787"/>
                </a:solidFill>
                <a:latin typeface="Calibri" pitchFamily="34" charset="0"/>
                <a:ea typeface="Calibri" pitchFamily="34" charset="-122"/>
                <a:cs typeface="Calibri" pitchFamily="34" charset="-120"/>
              </a:rPr>
              <a:t>financial inclusion</a:t>
            </a:r>
            <a:endParaRPr lang="en-US" sz="1100" dirty="0"/>
          </a:p>
        </p:txBody>
      </p:sp>
      <p:sp>
        <p:nvSpPr>
          <p:cNvPr id="20" name="Shape 18"/>
          <p:cNvSpPr/>
          <p:nvPr/>
        </p:nvSpPr>
        <p:spPr>
          <a:xfrm>
            <a:off x="9253728" y="2926080"/>
            <a:ext cx="2340864" cy="2267712"/>
          </a:xfrm>
          <a:prstGeom prst="rect">
            <a:avLst/>
          </a:prstGeom>
          <a:solidFill>
            <a:srgbClr val="F4E0D8"/>
          </a:solidFill>
          <a:ln w="9525">
            <a:solidFill>
              <a:srgbClr val="D4CEC0"/>
            </a:solidFill>
            <a:prstDash val="solid"/>
          </a:ln>
        </p:spPr>
      </p:sp>
      <p:sp>
        <p:nvSpPr>
          <p:cNvPr id="21" name="Text 19"/>
          <p:cNvSpPr/>
          <p:nvPr/>
        </p:nvSpPr>
        <p:spPr>
          <a:xfrm>
            <a:off x="9473184" y="3182112"/>
            <a:ext cx="1901952" cy="1828800"/>
          </a:xfrm>
          <a:prstGeom prst="rect">
            <a:avLst/>
          </a:prstGeom>
          <a:noFill/>
          <a:ln/>
        </p:spPr>
        <p:txBody>
          <a:bodyPr wrap="square" lIns="0" tIns="0" rIns="0" bIns="0" rtlCol="0" anchor="t"/>
          <a:lstStyle/>
          <a:p>
            <a:pPr indent="0" marL="0">
              <a:lnSpc>
                <a:spcPts val="1900"/>
              </a:lnSpc>
              <a:buNone/>
            </a:pPr>
            <a:r>
              <a:rPr lang="en-US" sz="1350" dirty="0">
                <a:solidFill>
                  <a:srgbClr val="1B2A41"/>
                </a:solidFill>
                <a:latin typeface="Cambria" pitchFamily="34" charset="0"/>
                <a:ea typeface="Cambria" pitchFamily="34" charset="-122"/>
                <a:cs typeface="Cambria" pitchFamily="34" charset="-120"/>
              </a:rPr>
              <a:t>An embedding trained on Wikipedia has no reason to place "MIG" near "middle income household" — but a keyword index matches it exactly, every time.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66928" y="329184"/>
            <a:ext cx="548640" cy="274320"/>
          </a:xfrm>
          <a:prstGeom prst="rect">
            <a:avLst/>
          </a:prstGeom>
          <a:noFill/>
          <a:ln/>
        </p:spPr>
        <p:txBody>
          <a:bodyPr wrap="square" rtlCol="0" anchor="ctr"/>
          <a:lstStyle/>
          <a:p>
            <a:pPr indent="0" marL="0">
              <a:buNone/>
            </a:pPr>
            <a:r>
              <a:rPr lang="en-US" sz="1100" b="1" spc="200" kern="0" dirty="0">
                <a:solidFill>
                  <a:srgbClr val="C0492A"/>
                </a:solidFill>
                <a:latin typeface="Calibri" pitchFamily="34" charset="0"/>
                <a:ea typeface="Calibri" pitchFamily="34" charset="-122"/>
                <a:cs typeface="Calibri" pitchFamily="34" charset="-120"/>
              </a:rPr>
              <a:t>03</a:t>
            </a:r>
            <a:endParaRPr lang="en-US" sz="1100" dirty="0"/>
          </a:p>
        </p:txBody>
      </p:sp>
      <p:sp>
        <p:nvSpPr>
          <p:cNvPr id="3" name="Text 1"/>
          <p:cNvSpPr/>
          <p:nvPr/>
        </p:nvSpPr>
        <p:spPr>
          <a:xfrm>
            <a:off x="1069848" y="329184"/>
            <a:ext cx="7315200" cy="274320"/>
          </a:xfrm>
          <a:prstGeom prst="rect">
            <a:avLst/>
          </a:prstGeom>
          <a:noFill/>
          <a:ln/>
        </p:spPr>
        <p:txBody>
          <a:bodyPr wrap="square" rtlCol="0" anchor="ctr"/>
          <a:lstStyle/>
          <a:p>
            <a:pPr indent="0" marL="0">
              <a:buNone/>
            </a:pPr>
            <a:r>
              <a:rPr lang="en-US" sz="950" spc="240" kern="0" dirty="0">
                <a:solidFill>
                  <a:srgbClr val="6E7787"/>
                </a:solidFill>
                <a:latin typeface="Calibri" pitchFamily="34" charset="0"/>
                <a:ea typeface="Calibri" pitchFamily="34" charset="-122"/>
                <a:cs typeface="Calibri" pitchFamily="34" charset="-120"/>
              </a:rPr>
              <a:t>THE GAP</a:t>
            </a:r>
            <a:endParaRPr lang="en-US" sz="950" dirty="0"/>
          </a:p>
        </p:txBody>
      </p:sp>
      <p:sp>
        <p:nvSpPr>
          <p:cNvPr id="4" name="Text 2"/>
          <p:cNvSpPr/>
          <p:nvPr/>
        </p:nvSpPr>
        <p:spPr>
          <a:xfrm>
            <a:off x="566928" y="777240"/>
            <a:ext cx="11027664" cy="868680"/>
          </a:xfrm>
          <a:prstGeom prst="rect">
            <a:avLst/>
          </a:prstGeom>
          <a:noFill/>
          <a:ln/>
        </p:spPr>
        <p:txBody>
          <a:bodyPr wrap="square" lIns="0" tIns="0" rIns="0" bIns="0" rtlCol="0" anchor="t"/>
          <a:lstStyle/>
          <a:p>
            <a:pPr indent="0" marL="0">
              <a:lnSpc>
                <a:spcPts val="3696"/>
              </a:lnSpc>
              <a:buNone/>
            </a:pPr>
            <a:r>
              <a:rPr lang="en-US" sz="3300" dirty="0">
                <a:solidFill>
                  <a:srgbClr val="1B2A41"/>
                </a:solidFill>
                <a:latin typeface="Cambria" pitchFamily="34" charset="0"/>
                <a:ea typeface="Cambria" pitchFamily="34" charset="-122"/>
                <a:cs typeface="Cambria" pitchFamily="34" charset="-120"/>
              </a:rPr>
              <a:t>The field measured this on web search,</a:t>
            </a:r>
            <a:endParaRPr lang="en-US" sz="3300" dirty="0"/>
          </a:p>
          <a:p>
            <a:pPr indent="0" marL="0">
              <a:lnSpc>
                <a:spcPts val="3696"/>
              </a:lnSpc>
              <a:buNone/>
            </a:pPr>
            <a:r>
              <a:rPr lang="en-US" sz="3300" dirty="0">
                <a:solidFill>
                  <a:srgbClr val="1B2A41"/>
                </a:solidFill>
                <a:latin typeface="Cambria" pitchFamily="34" charset="0"/>
                <a:ea typeface="Cambria" pitchFamily="34" charset="-122"/>
                <a:cs typeface="Cambria" pitchFamily="34" charset="-120"/>
              </a:rPr>
              <a:t>then generalised the conclusion.</a:t>
            </a:r>
            <a:endParaRPr lang="en-US" sz="3300" dirty="0"/>
          </a:p>
        </p:txBody>
      </p:sp>
      <p:sp>
        <p:nvSpPr>
          <p:cNvPr id="5" name="Shape 3"/>
          <p:cNvSpPr/>
          <p:nvPr/>
        </p:nvSpPr>
        <p:spPr>
          <a:xfrm>
            <a:off x="566928" y="2148840"/>
            <a:ext cx="5321808" cy="2286000"/>
          </a:xfrm>
          <a:prstGeom prst="rect">
            <a:avLst/>
          </a:prstGeom>
          <a:solidFill>
            <a:srgbClr val="EDE8DC"/>
          </a:solidFill>
          <a:ln w="9525">
            <a:solidFill>
              <a:srgbClr val="D4CEC0"/>
            </a:solidFill>
            <a:prstDash val="solid"/>
          </a:ln>
        </p:spPr>
      </p:sp>
      <p:sp>
        <p:nvSpPr>
          <p:cNvPr id="6" name="Text 4"/>
          <p:cNvSpPr/>
          <p:nvPr/>
        </p:nvSpPr>
        <p:spPr>
          <a:xfrm>
            <a:off x="841248" y="2386584"/>
            <a:ext cx="4773168" cy="237744"/>
          </a:xfrm>
          <a:prstGeom prst="rect">
            <a:avLst/>
          </a:prstGeom>
          <a:noFill/>
          <a:ln/>
        </p:spPr>
        <p:txBody>
          <a:bodyPr wrap="square" lIns="0" tIns="0" rIns="0" bIns="0" rtlCol="0" anchor="ctr"/>
          <a:lstStyle/>
          <a:p>
            <a:pPr indent="0" marL="0">
              <a:buNone/>
            </a:pPr>
            <a:r>
              <a:rPr lang="en-US" sz="900" b="1" spc="160" kern="0" dirty="0">
                <a:solidFill>
                  <a:srgbClr val="6E7787"/>
                </a:solidFill>
                <a:latin typeface="Calibri" pitchFamily="34" charset="0"/>
                <a:ea typeface="Calibri" pitchFamily="34" charset="-122"/>
                <a:cs typeface="Calibri" pitchFamily="34" charset="-120"/>
              </a:rPr>
              <a:t>WHAT THE BENCHMARKS MEASURE</a:t>
            </a:r>
            <a:endParaRPr lang="en-US" sz="900" dirty="0"/>
          </a:p>
        </p:txBody>
      </p:sp>
      <p:sp>
        <p:nvSpPr>
          <p:cNvPr id="7" name="Text 5"/>
          <p:cNvSpPr/>
          <p:nvPr/>
        </p:nvSpPr>
        <p:spPr>
          <a:xfrm>
            <a:off x="841248" y="2752344"/>
            <a:ext cx="4773168" cy="1463040"/>
          </a:xfrm>
          <a:prstGeom prst="rect">
            <a:avLst/>
          </a:prstGeom>
          <a:noFill/>
          <a:ln/>
        </p:spPr>
        <p:txBody>
          <a:bodyPr wrap="square" lIns="0" tIns="0" rIns="0" bIns="0" rtlCol="0" anchor="t"/>
          <a:lstStyle/>
          <a:p>
            <a:pPr indent="0" marL="0">
              <a:lnSpc>
                <a:spcPts val="2000"/>
              </a:lnSpc>
              <a:buNone/>
            </a:pPr>
            <a:r>
              <a:rPr lang="en-US" sz="1400" dirty="0">
                <a:solidFill>
                  <a:srgbClr val="1B2A41"/>
                </a:solidFill>
                <a:latin typeface="Calibri" pitchFamily="34" charset="0"/>
                <a:ea typeface="Calibri" pitchFamily="34" charset="-122"/>
                <a:cs typeface="Calibri" pitchFamily="34" charset="-120"/>
              </a:rPr>
              <a:t>MS MARCO · 500,000 queries
Natural Questions · 300,000 queries
</a:t>
            </a:r>
            <a:pPr indent="0" marL="0">
              <a:lnSpc>
                <a:spcPts val="2000"/>
              </a:lnSpc>
              <a:buNone/>
            </a:pPr>
            <a:r>
              <a:rPr lang="en-US" sz="1300" dirty="0">
                <a:solidFill>
                  <a:srgbClr val="3D4859"/>
                </a:solidFill>
                <a:latin typeface="Calibri" pitchFamily="34" charset="0"/>
                <a:ea typeface="Calibri" pitchFamily="34" charset="-122"/>
                <a:cs typeface="Calibri" pitchFamily="34" charset="-120"/>
              </a:rPr>
              <a:t>Open-domain web text. Large, diverse vocabulary. Heavy paraphrase between question and passage. On this material dense embeddings reliably beat lexical baselines — and that finding became the default assumption.</a:t>
            </a:r>
            <a:endParaRPr lang="en-US" sz="1400" dirty="0"/>
          </a:p>
        </p:txBody>
      </p:sp>
      <p:sp>
        <p:nvSpPr>
          <p:cNvPr id="8" name="Shape 6"/>
          <p:cNvSpPr/>
          <p:nvPr/>
        </p:nvSpPr>
        <p:spPr>
          <a:xfrm>
            <a:off x="6272784" y="2148840"/>
            <a:ext cx="5321808" cy="2286000"/>
          </a:xfrm>
          <a:prstGeom prst="rect">
            <a:avLst/>
          </a:prstGeom>
          <a:solidFill>
            <a:srgbClr val="F4E0D8"/>
          </a:solidFill>
          <a:ln w="9525">
            <a:solidFill>
              <a:srgbClr val="D4CEC0"/>
            </a:solidFill>
            <a:prstDash val="solid"/>
          </a:ln>
        </p:spPr>
      </p:sp>
      <p:sp>
        <p:nvSpPr>
          <p:cNvPr id="9" name="Text 7"/>
          <p:cNvSpPr/>
          <p:nvPr/>
        </p:nvSpPr>
        <p:spPr>
          <a:xfrm>
            <a:off x="6547104" y="2386584"/>
            <a:ext cx="4773168" cy="237744"/>
          </a:xfrm>
          <a:prstGeom prst="rect">
            <a:avLst/>
          </a:prstGeom>
          <a:noFill/>
          <a:ln/>
        </p:spPr>
        <p:txBody>
          <a:bodyPr wrap="square" lIns="0" tIns="0" rIns="0" bIns="0" rtlCol="0" anchor="ctr"/>
          <a:lstStyle/>
          <a:p>
            <a:pPr indent="0" marL="0">
              <a:buNone/>
            </a:pPr>
            <a:r>
              <a:rPr lang="en-US" sz="900" b="1" spc="160" kern="0" dirty="0">
                <a:solidFill>
                  <a:srgbClr val="C0492A"/>
                </a:solidFill>
                <a:latin typeface="Calibri" pitchFamily="34" charset="0"/>
                <a:ea typeface="Calibri" pitchFamily="34" charset="-122"/>
                <a:cs typeface="Calibri" pitchFamily="34" charset="-120"/>
              </a:rPr>
              <a:t>WHAT A POLICY CORPUS ACTUALLY IS</a:t>
            </a:r>
            <a:endParaRPr lang="en-US" sz="900" dirty="0"/>
          </a:p>
        </p:txBody>
      </p:sp>
      <p:sp>
        <p:nvSpPr>
          <p:cNvPr id="10" name="Text 8"/>
          <p:cNvSpPr/>
          <p:nvPr/>
        </p:nvSpPr>
        <p:spPr>
          <a:xfrm>
            <a:off x="6547104" y="2752344"/>
            <a:ext cx="4773168" cy="1554480"/>
          </a:xfrm>
          <a:prstGeom prst="rect">
            <a:avLst/>
          </a:prstGeom>
          <a:noFill/>
          <a:ln/>
        </p:spPr>
        <p:txBody>
          <a:bodyPr wrap="square" lIns="0" tIns="0" rIns="0" bIns="0" rtlCol="0" anchor="t"/>
          <a:lstStyle/>
          <a:p>
            <a:pPr indent="0" marL="0">
              <a:lnSpc>
                <a:spcPts val="2000"/>
              </a:lnSpc>
              <a:buNone/>
            </a:pPr>
            <a:r>
              <a:rPr lang="en-US" sz="1400" dirty="0">
                <a:solidFill>
                  <a:srgbClr val="1B2A41"/>
                </a:solidFill>
                <a:latin typeface="Calibri" pitchFamily="34" charset="0"/>
                <a:ea typeface="Calibri" pitchFamily="34" charset="-122"/>
                <a:cs typeface="Calibri" pitchFamily="34" charset="-120"/>
              </a:rPr>
              <a:t>22 documents · bounded vocabulary
</a:t>
            </a:r>
            <a:pPr indent="0" marL="0">
              <a:lnSpc>
                <a:spcPts val="2000"/>
              </a:lnSpc>
              <a:buNone/>
            </a:pPr>
            <a:r>
              <a:rPr lang="en-US" sz="1300" dirty="0">
                <a:solidFill>
                  <a:srgbClr val="3D4859"/>
                </a:solidFill>
                <a:latin typeface="Calibri" pitchFamily="34" charset="0"/>
                <a:ea typeface="Calibri" pitchFamily="34" charset="-122"/>
                <a:cs typeface="Calibri" pitchFamily="34" charset="-120"/>
              </a:rPr>
              <a:t>Scheme names repeat verbatim. Terminology is administratively fixed. Paraphrase is limited because the legal wording is the wording. None of the properties that make dense retrieval win are present — and nobody had published a controlled measurement on this material.</a:t>
            </a:r>
            <a:endParaRPr lang="en-US" sz="1400" dirty="0"/>
          </a:p>
        </p:txBody>
      </p:sp>
      <p:sp>
        <p:nvSpPr>
          <p:cNvPr id="11" name="Text 9"/>
          <p:cNvSpPr/>
          <p:nvPr/>
        </p:nvSpPr>
        <p:spPr>
          <a:xfrm>
            <a:off x="566928" y="4828032"/>
            <a:ext cx="11027664" cy="411480"/>
          </a:xfrm>
          <a:prstGeom prst="rect">
            <a:avLst/>
          </a:prstGeom>
          <a:noFill/>
          <a:ln/>
        </p:spPr>
        <p:txBody>
          <a:bodyPr wrap="square" lIns="0" tIns="0" rIns="0" bIns="0" rtlCol="0" anchor="ctr"/>
          <a:lstStyle/>
          <a:p>
            <a:pPr indent="0" marL="0">
              <a:buNone/>
            </a:pPr>
            <a:r>
              <a:rPr lang="en-US" sz="1800" i="1" dirty="0">
                <a:solidFill>
                  <a:srgbClr val="1B2A41"/>
                </a:solidFill>
                <a:latin typeface="Cambria" pitchFamily="34" charset="0"/>
                <a:ea typeface="Cambria" pitchFamily="34" charset="-122"/>
                <a:cs typeface="Cambria" pitchFamily="34" charset="-120"/>
              </a:rPr>
              <a:t>So the honest position before this work was: nobody actually knew. The assumption had never been tested here.</a:t>
            </a:r>
            <a:endParaRPr lang="en-US" sz="1800" dirty="0"/>
          </a:p>
        </p:txBody>
      </p:sp>
      <p:sp>
        <p:nvSpPr>
          <p:cNvPr id="12" name="Text 10"/>
          <p:cNvSpPr/>
          <p:nvPr/>
        </p:nvSpPr>
        <p:spPr>
          <a:xfrm>
            <a:off x="566928" y="5285232"/>
            <a:ext cx="11027664" cy="365760"/>
          </a:xfrm>
          <a:prstGeom prst="rect">
            <a:avLst/>
          </a:prstGeom>
          <a:noFill/>
          <a:ln/>
        </p:spPr>
        <p:txBody>
          <a:bodyPr wrap="square" lIns="0" tIns="0" rIns="0" bIns="0" rtlCol="0" anchor="ctr"/>
          <a:lstStyle/>
          <a:p>
            <a:pPr indent="0" marL="0">
              <a:buNone/>
            </a:pPr>
            <a:r>
              <a:rPr lang="en-US" sz="1350" dirty="0">
                <a:solidFill>
                  <a:srgbClr val="6E7787"/>
                </a:solidFill>
                <a:latin typeface="Calibri" pitchFamily="34" charset="0"/>
                <a:ea typeface="Calibri" pitchFamily="34" charset="-122"/>
                <a:cs typeface="Calibri" pitchFamily="34" charset="-120"/>
              </a:rPr>
              <a:t>That is the gap this dissertation exists to close.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566928" y="329184"/>
            <a:ext cx="548640" cy="274320"/>
          </a:xfrm>
          <a:prstGeom prst="rect">
            <a:avLst/>
          </a:prstGeom>
          <a:noFill/>
          <a:ln/>
        </p:spPr>
        <p:txBody>
          <a:bodyPr wrap="square" rtlCol="0" anchor="ctr"/>
          <a:lstStyle/>
          <a:p>
            <a:pPr indent="0" marL="0">
              <a:buNone/>
            </a:pPr>
            <a:r>
              <a:rPr lang="en-US" sz="1100" b="1" spc="200" kern="0" dirty="0">
                <a:solidFill>
                  <a:srgbClr val="C0492A"/>
                </a:solidFill>
                <a:latin typeface="Calibri" pitchFamily="34" charset="0"/>
                <a:ea typeface="Calibri" pitchFamily="34" charset="-122"/>
                <a:cs typeface="Calibri" pitchFamily="34" charset="-120"/>
              </a:rPr>
              <a:t>04</a:t>
            </a:r>
            <a:endParaRPr lang="en-US" sz="1100" dirty="0"/>
          </a:p>
        </p:txBody>
      </p:sp>
      <p:sp>
        <p:nvSpPr>
          <p:cNvPr id="3" name="Text 1"/>
          <p:cNvSpPr/>
          <p:nvPr/>
        </p:nvSpPr>
        <p:spPr>
          <a:xfrm>
            <a:off x="1069848" y="329184"/>
            <a:ext cx="7315200" cy="274320"/>
          </a:xfrm>
          <a:prstGeom prst="rect">
            <a:avLst/>
          </a:prstGeom>
          <a:noFill/>
          <a:ln/>
        </p:spPr>
        <p:txBody>
          <a:bodyPr wrap="square" rtlCol="0" anchor="ctr"/>
          <a:lstStyle/>
          <a:p>
            <a:pPr indent="0" marL="0">
              <a:buNone/>
            </a:pPr>
            <a:r>
              <a:rPr lang="en-US" sz="950" spc="240" kern="0" dirty="0">
                <a:solidFill>
                  <a:srgbClr val="8A96A8"/>
                </a:solidFill>
                <a:latin typeface="Calibri" pitchFamily="34" charset="0"/>
                <a:ea typeface="Calibri" pitchFamily="34" charset="-122"/>
                <a:cs typeface="Calibri" pitchFamily="34" charset="-120"/>
              </a:rPr>
              <a:t>THE QUESTION</a:t>
            </a:r>
            <a:endParaRPr lang="en-US" sz="950" dirty="0"/>
          </a:p>
        </p:txBody>
      </p:sp>
      <p:sp>
        <p:nvSpPr>
          <p:cNvPr id="4" name="Text 2"/>
          <p:cNvSpPr/>
          <p:nvPr/>
        </p:nvSpPr>
        <p:spPr>
          <a:xfrm>
            <a:off x="566928" y="1051560"/>
            <a:ext cx="11027664" cy="320040"/>
          </a:xfrm>
          <a:prstGeom prst="rect">
            <a:avLst/>
          </a:prstGeom>
          <a:noFill/>
          <a:ln/>
        </p:spPr>
        <p:txBody>
          <a:bodyPr wrap="square" lIns="0" tIns="0" rIns="0" bIns="0" rtlCol="0" anchor="ctr"/>
          <a:lstStyle/>
          <a:p>
            <a:pPr indent="0" marL="0">
              <a:buNone/>
            </a:pPr>
            <a:r>
              <a:rPr lang="en-US" sz="1100" spc="240" kern="0" dirty="0">
                <a:solidFill>
                  <a:srgbClr val="8A96A8"/>
                </a:solidFill>
                <a:latin typeface="Calibri" pitchFamily="34" charset="0"/>
                <a:ea typeface="Calibri" pitchFamily="34" charset="-122"/>
                <a:cs typeface="Calibri" pitchFamily="34" charset="-120"/>
              </a:rPr>
              <a:t>Research question</a:t>
            </a:r>
            <a:endParaRPr lang="en-US" sz="1100" dirty="0"/>
          </a:p>
        </p:txBody>
      </p:sp>
      <p:sp>
        <p:nvSpPr>
          <p:cNvPr id="5" name="Text 3"/>
          <p:cNvSpPr/>
          <p:nvPr/>
        </p:nvSpPr>
        <p:spPr>
          <a:xfrm>
            <a:off x="566928" y="1572768"/>
            <a:ext cx="10241280" cy="1920240"/>
          </a:xfrm>
          <a:prstGeom prst="rect">
            <a:avLst/>
          </a:prstGeom>
          <a:noFill/>
          <a:ln/>
        </p:spPr>
        <p:txBody>
          <a:bodyPr wrap="square" lIns="0" tIns="0" rIns="0" bIns="0" rtlCol="0" anchor="t"/>
          <a:lstStyle/>
          <a:p>
            <a:pPr indent="0" marL="0">
              <a:lnSpc>
                <a:spcPts val="4200"/>
              </a:lnSpc>
              <a:buNone/>
            </a:pPr>
            <a:r>
              <a:rPr lang="en-US" sz="3000" dirty="0">
                <a:solidFill>
                  <a:srgbClr val="FFFFFF"/>
                </a:solidFill>
                <a:latin typeface="Cambria" pitchFamily="34" charset="0"/>
                <a:ea typeface="Cambria" pitchFamily="34" charset="-122"/>
                <a:cs typeface="Cambria" pitchFamily="34" charset="-120"/>
              </a:rPr>
              <a:t>On a domain-specific government policy corpus, which retrieval strategy actually puts the correct evidence in front of the generator — and at what operational cost?</a:t>
            </a:r>
            <a:endParaRPr lang="en-US" sz="3000" dirty="0"/>
          </a:p>
        </p:txBody>
      </p:sp>
      <p:sp>
        <p:nvSpPr>
          <p:cNvPr id="6" name="Shape 4"/>
          <p:cNvSpPr/>
          <p:nvPr/>
        </p:nvSpPr>
        <p:spPr>
          <a:xfrm>
            <a:off x="566928" y="3794760"/>
            <a:ext cx="3480816" cy="1691640"/>
          </a:xfrm>
          <a:prstGeom prst="rect">
            <a:avLst/>
          </a:prstGeom>
          <a:solidFill>
            <a:srgbClr val="253750"/>
          </a:solidFill>
          <a:ln w="12700">
            <a:solidFill>
              <a:srgbClr val="333333"/>
            </a:solidFill>
            <a:prstDash val="solid"/>
          </a:ln>
        </p:spPr>
      </p:sp>
      <p:sp>
        <p:nvSpPr>
          <p:cNvPr id="7" name="Text 5"/>
          <p:cNvSpPr/>
          <p:nvPr/>
        </p:nvSpPr>
        <p:spPr>
          <a:xfrm>
            <a:off x="804672" y="4014216"/>
            <a:ext cx="3005328" cy="457200"/>
          </a:xfrm>
          <a:prstGeom prst="rect">
            <a:avLst/>
          </a:prstGeom>
          <a:noFill/>
          <a:ln/>
        </p:spPr>
        <p:txBody>
          <a:bodyPr wrap="square" lIns="0" tIns="0" rIns="0" bIns="0" rtlCol="0" anchor="ctr"/>
          <a:lstStyle/>
          <a:p>
            <a:pPr indent="0" marL="0">
              <a:lnSpc>
                <a:spcPts val="1700"/>
              </a:lnSpc>
              <a:buNone/>
            </a:pPr>
            <a:r>
              <a:rPr lang="en-US" sz="1250" b="1" dirty="0">
                <a:solidFill>
                  <a:srgbClr val="C0492A"/>
                </a:solidFill>
                <a:latin typeface="Calibri" pitchFamily="34" charset="0"/>
                <a:ea typeface="Calibri" pitchFamily="34" charset="-122"/>
                <a:cs typeface="Calibri" pitchFamily="34" charset="-120"/>
              </a:rPr>
              <a:t>Answerable only by measurement</a:t>
            </a:r>
            <a:endParaRPr lang="en-US" sz="1250" dirty="0"/>
          </a:p>
        </p:txBody>
      </p:sp>
      <p:sp>
        <p:nvSpPr>
          <p:cNvPr id="8" name="Text 6"/>
          <p:cNvSpPr/>
          <p:nvPr/>
        </p:nvSpPr>
        <p:spPr>
          <a:xfrm>
            <a:off x="804672" y="4489704"/>
            <a:ext cx="3005328" cy="868680"/>
          </a:xfrm>
          <a:prstGeom prst="rect">
            <a:avLst/>
          </a:prstGeom>
          <a:noFill/>
          <a:ln/>
        </p:spPr>
        <p:txBody>
          <a:bodyPr wrap="square" lIns="0" tIns="0" rIns="0" bIns="0" rtlCol="0" anchor="t"/>
          <a:lstStyle/>
          <a:p>
            <a:pPr indent="0" marL="0">
              <a:lnSpc>
                <a:spcPts val="1600"/>
              </a:lnSpc>
              <a:buNone/>
            </a:pPr>
            <a:r>
              <a:rPr lang="en-US" sz="1150" dirty="0">
                <a:solidFill>
                  <a:srgbClr val="B9C2CF"/>
                </a:solidFill>
                <a:latin typeface="Calibri" pitchFamily="34" charset="0"/>
                <a:ea typeface="Calibri" pitchFamily="34" charset="-122"/>
                <a:cs typeface="Calibri" pitchFamily="34" charset="-120"/>
              </a:rPr>
              <a:t>A system demonstration proves nothing. The question requires a benchmark with human relevance judgements and systems frozen before evaluation.</a:t>
            </a:r>
            <a:endParaRPr lang="en-US" sz="1150" dirty="0"/>
          </a:p>
        </p:txBody>
      </p:sp>
      <p:sp>
        <p:nvSpPr>
          <p:cNvPr id="9" name="Shape 7"/>
          <p:cNvSpPr/>
          <p:nvPr/>
        </p:nvSpPr>
        <p:spPr>
          <a:xfrm>
            <a:off x="4340352" y="3794760"/>
            <a:ext cx="3480816" cy="1691640"/>
          </a:xfrm>
          <a:prstGeom prst="rect">
            <a:avLst/>
          </a:prstGeom>
          <a:solidFill>
            <a:srgbClr val="253750"/>
          </a:solidFill>
          <a:ln w="12700">
            <a:solidFill>
              <a:srgbClr val="333333"/>
            </a:solidFill>
            <a:prstDash val="solid"/>
          </a:ln>
        </p:spPr>
      </p:sp>
      <p:sp>
        <p:nvSpPr>
          <p:cNvPr id="10" name="Text 8"/>
          <p:cNvSpPr/>
          <p:nvPr/>
        </p:nvSpPr>
        <p:spPr>
          <a:xfrm>
            <a:off x="4578096" y="4014216"/>
            <a:ext cx="3005328" cy="457200"/>
          </a:xfrm>
          <a:prstGeom prst="rect">
            <a:avLst/>
          </a:prstGeom>
          <a:noFill/>
          <a:ln/>
        </p:spPr>
        <p:txBody>
          <a:bodyPr wrap="square" lIns="0" tIns="0" rIns="0" bIns="0" rtlCol="0" anchor="ctr"/>
          <a:lstStyle/>
          <a:p>
            <a:pPr indent="0" marL="0">
              <a:lnSpc>
                <a:spcPts val="1700"/>
              </a:lnSpc>
              <a:buNone/>
            </a:pPr>
            <a:r>
              <a:rPr lang="en-US" sz="1250" b="1" dirty="0">
                <a:solidFill>
                  <a:srgbClr val="C0492A"/>
                </a:solidFill>
                <a:latin typeface="Calibri" pitchFamily="34" charset="0"/>
                <a:ea typeface="Calibri" pitchFamily="34" charset="-122"/>
                <a:cs typeface="Calibri" pitchFamily="34" charset="-120"/>
              </a:rPr>
              <a:t>Answerable only on this domain</a:t>
            </a:r>
            <a:endParaRPr lang="en-US" sz="1250" dirty="0"/>
          </a:p>
        </p:txBody>
      </p:sp>
      <p:sp>
        <p:nvSpPr>
          <p:cNvPr id="11" name="Text 9"/>
          <p:cNvSpPr/>
          <p:nvPr/>
        </p:nvSpPr>
        <p:spPr>
          <a:xfrm>
            <a:off x="4578096" y="4489704"/>
            <a:ext cx="3005328" cy="868680"/>
          </a:xfrm>
          <a:prstGeom prst="rect">
            <a:avLst/>
          </a:prstGeom>
          <a:noFill/>
          <a:ln/>
        </p:spPr>
        <p:txBody>
          <a:bodyPr wrap="square" lIns="0" tIns="0" rIns="0" bIns="0" rtlCol="0" anchor="t"/>
          <a:lstStyle/>
          <a:p>
            <a:pPr indent="0" marL="0">
              <a:lnSpc>
                <a:spcPts val="1600"/>
              </a:lnSpc>
              <a:buNone/>
            </a:pPr>
            <a:r>
              <a:rPr lang="en-US" sz="1150" dirty="0">
                <a:solidFill>
                  <a:srgbClr val="B9C2CF"/>
                </a:solidFill>
                <a:latin typeface="Calibri" pitchFamily="34" charset="0"/>
                <a:ea typeface="Calibri" pitchFamily="34" charset="-122"/>
                <a:cs typeface="Calibri" pitchFamily="34" charset="-120"/>
              </a:rPr>
              <a:t>Results from MS MARCO cannot be borrowed. The corpus properties that drive the answer are the ones being studied.</a:t>
            </a:r>
            <a:endParaRPr lang="en-US" sz="1150" dirty="0"/>
          </a:p>
        </p:txBody>
      </p:sp>
      <p:sp>
        <p:nvSpPr>
          <p:cNvPr id="12" name="Shape 10"/>
          <p:cNvSpPr/>
          <p:nvPr/>
        </p:nvSpPr>
        <p:spPr>
          <a:xfrm>
            <a:off x="8113776" y="3794760"/>
            <a:ext cx="3480816" cy="1691640"/>
          </a:xfrm>
          <a:prstGeom prst="rect">
            <a:avLst/>
          </a:prstGeom>
          <a:solidFill>
            <a:srgbClr val="253750"/>
          </a:solidFill>
          <a:ln w="12700">
            <a:solidFill>
              <a:srgbClr val="333333"/>
            </a:solidFill>
            <a:prstDash val="solid"/>
          </a:ln>
        </p:spPr>
      </p:sp>
      <p:sp>
        <p:nvSpPr>
          <p:cNvPr id="13" name="Text 11"/>
          <p:cNvSpPr/>
          <p:nvPr/>
        </p:nvSpPr>
        <p:spPr>
          <a:xfrm>
            <a:off x="8351520" y="4014216"/>
            <a:ext cx="3005328" cy="457200"/>
          </a:xfrm>
          <a:prstGeom prst="rect">
            <a:avLst/>
          </a:prstGeom>
          <a:noFill/>
          <a:ln/>
        </p:spPr>
        <p:txBody>
          <a:bodyPr wrap="square" lIns="0" tIns="0" rIns="0" bIns="0" rtlCol="0" anchor="ctr"/>
          <a:lstStyle/>
          <a:p>
            <a:pPr indent="0" marL="0">
              <a:lnSpc>
                <a:spcPts val="1700"/>
              </a:lnSpc>
              <a:buNone/>
            </a:pPr>
            <a:r>
              <a:rPr lang="en-US" sz="1250" b="1" dirty="0">
                <a:solidFill>
                  <a:srgbClr val="C0492A"/>
                </a:solidFill>
                <a:latin typeface="Calibri" pitchFamily="34" charset="0"/>
                <a:ea typeface="Calibri" pitchFamily="34" charset="-122"/>
                <a:cs typeface="Calibri" pitchFamily="34" charset="-120"/>
              </a:rPr>
              <a:t>Answerable only with cost attached</a:t>
            </a:r>
            <a:endParaRPr lang="en-US" sz="1250" dirty="0"/>
          </a:p>
        </p:txBody>
      </p:sp>
      <p:sp>
        <p:nvSpPr>
          <p:cNvPr id="14" name="Text 12"/>
          <p:cNvSpPr/>
          <p:nvPr/>
        </p:nvSpPr>
        <p:spPr>
          <a:xfrm>
            <a:off x="8351520" y="4489704"/>
            <a:ext cx="3005328" cy="868680"/>
          </a:xfrm>
          <a:prstGeom prst="rect">
            <a:avLst/>
          </a:prstGeom>
          <a:noFill/>
          <a:ln/>
        </p:spPr>
        <p:txBody>
          <a:bodyPr wrap="square" lIns="0" tIns="0" rIns="0" bIns="0" rtlCol="0" anchor="t"/>
          <a:lstStyle/>
          <a:p>
            <a:pPr indent="0" marL="0">
              <a:lnSpc>
                <a:spcPts val="1600"/>
              </a:lnSpc>
              <a:buNone/>
            </a:pPr>
            <a:r>
              <a:rPr lang="en-US" sz="1150" dirty="0">
                <a:solidFill>
                  <a:srgbClr val="B9C2CF"/>
                </a:solidFill>
                <a:latin typeface="Calibri" pitchFamily="34" charset="0"/>
                <a:ea typeface="Calibri" pitchFamily="34" charset="-122"/>
                <a:cs typeface="Calibri" pitchFamily="34" charset="-120"/>
              </a:rPr>
              <a:t>A method that wins by 0.02 MRR and costs 20 seconds per query is not a win for a citizen-facing service.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66928" y="329184"/>
            <a:ext cx="548640" cy="274320"/>
          </a:xfrm>
          <a:prstGeom prst="rect">
            <a:avLst/>
          </a:prstGeom>
          <a:noFill/>
          <a:ln/>
        </p:spPr>
        <p:txBody>
          <a:bodyPr wrap="square" rtlCol="0" anchor="ctr"/>
          <a:lstStyle/>
          <a:p>
            <a:pPr indent="0" marL="0">
              <a:buNone/>
            </a:pPr>
            <a:r>
              <a:rPr lang="en-US" sz="1100" b="1" spc="200" kern="0" dirty="0">
                <a:solidFill>
                  <a:srgbClr val="C0492A"/>
                </a:solidFill>
                <a:latin typeface="Calibri" pitchFamily="34" charset="0"/>
                <a:ea typeface="Calibri" pitchFamily="34" charset="-122"/>
                <a:cs typeface="Calibri" pitchFamily="34" charset="-120"/>
              </a:rPr>
              <a:t>05</a:t>
            </a:r>
            <a:endParaRPr lang="en-US" sz="1100" dirty="0"/>
          </a:p>
        </p:txBody>
      </p:sp>
      <p:sp>
        <p:nvSpPr>
          <p:cNvPr id="3" name="Text 1"/>
          <p:cNvSpPr/>
          <p:nvPr/>
        </p:nvSpPr>
        <p:spPr>
          <a:xfrm>
            <a:off x="1069848" y="329184"/>
            <a:ext cx="7315200" cy="274320"/>
          </a:xfrm>
          <a:prstGeom prst="rect">
            <a:avLst/>
          </a:prstGeom>
          <a:noFill/>
          <a:ln/>
        </p:spPr>
        <p:txBody>
          <a:bodyPr wrap="square" rtlCol="0" anchor="ctr"/>
          <a:lstStyle/>
          <a:p>
            <a:pPr indent="0" marL="0">
              <a:buNone/>
            </a:pPr>
            <a:r>
              <a:rPr lang="en-US" sz="950" spc="240" kern="0" dirty="0">
                <a:solidFill>
                  <a:srgbClr val="6E7787"/>
                </a:solidFill>
                <a:latin typeface="Calibri" pitchFamily="34" charset="0"/>
                <a:ea typeface="Calibri" pitchFamily="34" charset="-122"/>
                <a:cs typeface="Calibri" pitchFamily="34" charset="-120"/>
              </a:rPr>
              <a:t>WHAT HAD TO BE BUILT</a:t>
            </a:r>
            <a:endParaRPr lang="en-US" sz="950" dirty="0"/>
          </a:p>
        </p:txBody>
      </p:sp>
      <p:sp>
        <p:nvSpPr>
          <p:cNvPr id="4" name="Text 2"/>
          <p:cNvSpPr/>
          <p:nvPr/>
        </p:nvSpPr>
        <p:spPr>
          <a:xfrm>
            <a:off x="566928" y="777240"/>
            <a:ext cx="11027664" cy="868680"/>
          </a:xfrm>
          <a:prstGeom prst="rect">
            <a:avLst/>
          </a:prstGeom>
          <a:noFill/>
          <a:ln/>
        </p:spPr>
        <p:txBody>
          <a:bodyPr wrap="square" lIns="0" tIns="0" rIns="0" bIns="0" rtlCol="0" anchor="t"/>
          <a:lstStyle/>
          <a:p>
            <a:pPr indent="0" marL="0">
              <a:lnSpc>
                <a:spcPts val="3696"/>
              </a:lnSpc>
              <a:buNone/>
            </a:pPr>
            <a:r>
              <a:rPr lang="en-US" sz="3300" dirty="0">
                <a:solidFill>
                  <a:srgbClr val="1B2A41"/>
                </a:solidFill>
                <a:latin typeface="Cambria" pitchFamily="34" charset="0"/>
                <a:ea typeface="Cambria" pitchFamily="34" charset="-122"/>
                <a:cs typeface="Cambria" pitchFamily="34" charset="-120"/>
              </a:rPr>
              <a:t>No benchmark existed, so building one</a:t>
            </a:r>
            <a:endParaRPr lang="en-US" sz="3300" dirty="0"/>
          </a:p>
          <a:p>
            <a:pPr indent="0" marL="0">
              <a:lnSpc>
                <a:spcPts val="3696"/>
              </a:lnSpc>
              <a:buNone/>
            </a:pPr>
            <a:r>
              <a:rPr lang="en-US" sz="3300" dirty="0">
                <a:solidFill>
                  <a:srgbClr val="1B2A41"/>
                </a:solidFill>
                <a:latin typeface="Cambria" pitchFamily="34" charset="0"/>
                <a:ea typeface="Cambria" pitchFamily="34" charset="-122"/>
                <a:cs typeface="Cambria" pitchFamily="34" charset="-120"/>
              </a:rPr>
              <a:t>was part of the contribution.</a:t>
            </a:r>
            <a:endParaRPr lang="en-US" sz="3300" dirty="0"/>
          </a:p>
        </p:txBody>
      </p:sp>
      <p:sp>
        <p:nvSpPr>
          <p:cNvPr id="5" name="Text 3"/>
          <p:cNvSpPr/>
          <p:nvPr/>
        </p:nvSpPr>
        <p:spPr>
          <a:xfrm>
            <a:off x="566928" y="1874520"/>
            <a:ext cx="8601578" cy="777240"/>
          </a:xfrm>
          <a:prstGeom prst="rect">
            <a:avLst/>
          </a:prstGeom>
          <a:noFill/>
          <a:ln/>
        </p:spPr>
        <p:txBody>
          <a:bodyPr wrap="square" lIns="0" tIns="0" rIns="0" bIns="0" rtlCol="0" anchor="t"/>
          <a:lstStyle/>
          <a:p>
            <a:pPr indent="0" marL="0">
              <a:lnSpc>
                <a:spcPts val="2103"/>
              </a:lnSpc>
              <a:buNone/>
            </a:pPr>
            <a:r>
              <a:rPr lang="en-US" sz="1450" dirty="0">
                <a:solidFill>
                  <a:srgbClr val="3D4859"/>
                </a:solidFill>
                <a:latin typeface="Calibri" pitchFamily="34" charset="0"/>
                <a:ea typeface="Calibri" pitchFamily="34" charset="-122"/>
                <a:cs typeface="Calibri" pitchFamily="34" charset="-120"/>
              </a:rPr>
              <a:t>There is no public retrieval benchmark over Indian scheme documentation with human relevance judgements. Constructing one — and doing it defensibly — was a prerequisite to answering anything.</a:t>
            </a:r>
            <a:endParaRPr lang="en-US" sz="1450" dirty="0"/>
          </a:p>
        </p:txBody>
      </p:sp>
      <p:sp>
        <p:nvSpPr>
          <p:cNvPr id="6" name="Shape 4"/>
          <p:cNvSpPr/>
          <p:nvPr/>
        </p:nvSpPr>
        <p:spPr>
          <a:xfrm>
            <a:off x="566928" y="2926080"/>
            <a:ext cx="2578608" cy="1965960"/>
          </a:xfrm>
          <a:prstGeom prst="rect">
            <a:avLst/>
          </a:prstGeom>
          <a:solidFill>
            <a:srgbClr val="EDE8DC"/>
          </a:solidFill>
          <a:ln w="9525">
            <a:solidFill>
              <a:srgbClr val="D4CEC0"/>
            </a:solidFill>
            <a:prstDash val="solid"/>
          </a:ln>
        </p:spPr>
      </p:sp>
      <p:sp>
        <p:nvSpPr>
          <p:cNvPr id="7" name="Text 5"/>
          <p:cNvSpPr/>
          <p:nvPr/>
        </p:nvSpPr>
        <p:spPr>
          <a:xfrm>
            <a:off x="786384" y="3108960"/>
            <a:ext cx="2139696" cy="548640"/>
          </a:xfrm>
          <a:prstGeom prst="rect">
            <a:avLst/>
          </a:prstGeom>
          <a:noFill/>
          <a:ln/>
        </p:spPr>
        <p:txBody>
          <a:bodyPr wrap="square" lIns="0" tIns="0" rIns="0" bIns="0" rtlCol="0" anchor="ctr"/>
          <a:lstStyle/>
          <a:p>
            <a:pPr indent="0" marL="0">
              <a:buNone/>
            </a:pPr>
            <a:r>
              <a:rPr lang="en-US" sz="3200" dirty="0">
                <a:solidFill>
                  <a:srgbClr val="C0492A"/>
                </a:solidFill>
                <a:latin typeface="Cambria" pitchFamily="34" charset="0"/>
                <a:ea typeface="Cambria" pitchFamily="34" charset="-122"/>
                <a:cs typeface="Cambria" pitchFamily="34" charset="-120"/>
              </a:rPr>
              <a:t>22</a:t>
            </a:r>
            <a:endParaRPr lang="en-US" sz="3200" dirty="0"/>
          </a:p>
        </p:txBody>
      </p:sp>
      <p:sp>
        <p:nvSpPr>
          <p:cNvPr id="8" name="Text 6"/>
          <p:cNvSpPr/>
          <p:nvPr/>
        </p:nvSpPr>
        <p:spPr>
          <a:xfrm>
            <a:off x="786384" y="3675888"/>
            <a:ext cx="2139696" cy="237744"/>
          </a:xfrm>
          <a:prstGeom prst="rect">
            <a:avLst/>
          </a:prstGeom>
          <a:noFill/>
          <a:ln/>
        </p:spPr>
        <p:txBody>
          <a:bodyPr wrap="square" lIns="0" tIns="0" rIns="0" bIns="0" rtlCol="0" anchor="ctr"/>
          <a:lstStyle/>
          <a:p>
            <a:pPr indent="0" marL="0">
              <a:buNone/>
            </a:pPr>
            <a:r>
              <a:rPr lang="en-US" sz="850" b="1" spc="140" kern="0" dirty="0">
                <a:solidFill>
                  <a:srgbClr val="1B2A41"/>
                </a:solidFill>
                <a:latin typeface="Calibri" pitchFamily="34" charset="0"/>
                <a:ea typeface="Calibri" pitchFamily="34" charset="-122"/>
                <a:cs typeface="Calibri" pitchFamily="34" charset="-120"/>
              </a:rPr>
              <a:t>SOURCE DOCUMENTS</a:t>
            </a:r>
            <a:endParaRPr lang="en-US" sz="850" dirty="0"/>
          </a:p>
        </p:txBody>
      </p:sp>
      <p:sp>
        <p:nvSpPr>
          <p:cNvPr id="9" name="Text 7"/>
          <p:cNvSpPr/>
          <p:nvPr/>
        </p:nvSpPr>
        <p:spPr>
          <a:xfrm>
            <a:off x="786384" y="3968496"/>
            <a:ext cx="2139696" cy="841248"/>
          </a:xfrm>
          <a:prstGeom prst="rect">
            <a:avLst/>
          </a:prstGeom>
          <a:noFill/>
          <a:ln/>
        </p:spPr>
        <p:txBody>
          <a:bodyPr wrap="square" lIns="0" tIns="0" rIns="0" bIns="0" rtlCol="0" anchor="t"/>
          <a:lstStyle/>
          <a:p>
            <a:pPr indent="0" marL="0">
              <a:lnSpc>
                <a:spcPts val="1400"/>
              </a:lnSpc>
              <a:buNone/>
            </a:pPr>
            <a:r>
              <a:rPr lang="en-US" sz="1000" dirty="0">
                <a:solidFill>
                  <a:srgbClr val="3D4859"/>
                </a:solidFill>
                <a:latin typeface="Calibri" pitchFamily="34" charset="0"/>
                <a:ea typeface="Calibri" pitchFamily="34" charset="-122"/>
                <a:cs typeface="Calibri" pitchFamily="34" charset="-120"/>
              </a:rPr>
              <a:t>PMAY-G, PMAY-U, PMJDY, Ujjwala, PM-KISAN, PMFBY, PMKVY, PM JANMAN, PM SVANidhi and others — all public domain</a:t>
            </a:r>
            <a:endParaRPr lang="en-US" sz="1000" dirty="0"/>
          </a:p>
        </p:txBody>
      </p:sp>
      <p:sp>
        <p:nvSpPr>
          <p:cNvPr id="10" name="Shape 8"/>
          <p:cNvSpPr/>
          <p:nvPr/>
        </p:nvSpPr>
        <p:spPr>
          <a:xfrm>
            <a:off x="3383280" y="2926080"/>
            <a:ext cx="2578608" cy="1965960"/>
          </a:xfrm>
          <a:prstGeom prst="rect">
            <a:avLst/>
          </a:prstGeom>
          <a:solidFill>
            <a:srgbClr val="EDE8DC"/>
          </a:solidFill>
          <a:ln w="9525">
            <a:solidFill>
              <a:srgbClr val="D4CEC0"/>
            </a:solidFill>
            <a:prstDash val="solid"/>
          </a:ln>
        </p:spPr>
      </p:sp>
      <p:sp>
        <p:nvSpPr>
          <p:cNvPr id="11" name="Text 9"/>
          <p:cNvSpPr/>
          <p:nvPr/>
        </p:nvSpPr>
        <p:spPr>
          <a:xfrm>
            <a:off x="3602736" y="3108960"/>
            <a:ext cx="2139696" cy="548640"/>
          </a:xfrm>
          <a:prstGeom prst="rect">
            <a:avLst/>
          </a:prstGeom>
          <a:noFill/>
          <a:ln/>
        </p:spPr>
        <p:txBody>
          <a:bodyPr wrap="square" lIns="0" tIns="0" rIns="0" bIns="0" rtlCol="0" anchor="ctr"/>
          <a:lstStyle/>
          <a:p>
            <a:pPr indent="0" marL="0">
              <a:buNone/>
            </a:pPr>
            <a:r>
              <a:rPr lang="en-US" sz="3200" dirty="0">
                <a:solidFill>
                  <a:srgbClr val="C0492A"/>
                </a:solidFill>
                <a:latin typeface="Cambria" pitchFamily="34" charset="0"/>
                <a:ea typeface="Cambria" pitchFamily="34" charset="-122"/>
                <a:cs typeface="Cambria" pitchFamily="34" charset="-120"/>
              </a:rPr>
              <a:t>34</a:t>
            </a:r>
            <a:endParaRPr lang="en-US" sz="3200" dirty="0"/>
          </a:p>
        </p:txBody>
      </p:sp>
      <p:sp>
        <p:nvSpPr>
          <p:cNvPr id="12" name="Text 10"/>
          <p:cNvSpPr/>
          <p:nvPr/>
        </p:nvSpPr>
        <p:spPr>
          <a:xfrm>
            <a:off x="3602736" y="3675888"/>
            <a:ext cx="2139696" cy="237744"/>
          </a:xfrm>
          <a:prstGeom prst="rect">
            <a:avLst/>
          </a:prstGeom>
          <a:noFill/>
          <a:ln/>
        </p:spPr>
        <p:txBody>
          <a:bodyPr wrap="square" lIns="0" tIns="0" rIns="0" bIns="0" rtlCol="0" anchor="ctr"/>
          <a:lstStyle/>
          <a:p>
            <a:pPr indent="0" marL="0">
              <a:buNone/>
            </a:pPr>
            <a:r>
              <a:rPr lang="en-US" sz="850" b="1" spc="140" kern="0" dirty="0">
                <a:solidFill>
                  <a:srgbClr val="1B2A41"/>
                </a:solidFill>
                <a:latin typeface="Calibri" pitchFamily="34" charset="0"/>
                <a:ea typeface="Calibri" pitchFamily="34" charset="-122"/>
                <a:cs typeface="Calibri" pitchFamily="34" charset="-120"/>
              </a:rPr>
              <a:t>QUESTIONS</a:t>
            </a:r>
            <a:endParaRPr lang="en-US" sz="850" dirty="0"/>
          </a:p>
        </p:txBody>
      </p:sp>
      <p:sp>
        <p:nvSpPr>
          <p:cNvPr id="13" name="Text 11"/>
          <p:cNvSpPr/>
          <p:nvPr/>
        </p:nvSpPr>
        <p:spPr>
          <a:xfrm>
            <a:off x="3602736" y="3968496"/>
            <a:ext cx="2139696" cy="841248"/>
          </a:xfrm>
          <a:prstGeom prst="rect">
            <a:avLst/>
          </a:prstGeom>
          <a:noFill/>
          <a:ln/>
        </p:spPr>
        <p:txBody>
          <a:bodyPr wrap="square" lIns="0" tIns="0" rIns="0" bIns="0" rtlCol="0" anchor="t"/>
          <a:lstStyle/>
          <a:p>
            <a:pPr indent="0" marL="0">
              <a:lnSpc>
                <a:spcPts val="1400"/>
              </a:lnSpc>
              <a:buNone/>
            </a:pPr>
            <a:r>
              <a:rPr lang="en-US" sz="1000" dirty="0">
                <a:solidFill>
                  <a:srgbClr val="3D4859"/>
                </a:solidFill>
                <a:latin typeface="Calibri" pitchFamily="34" charset="0"/>
                <a:ea typeface="Calibri" pitchFamily="34" charset="-122"/>
                <a:cs typeface="Calibri" pitchFamily="34" charset="-120"/>
              </a:rPr>
              <a:t>Six categories: exact lookup, terminology, paraphrase, entity relation, multi-hop, synthesis</a:t>
            </a:r>
            <a:endParaRPr lang="en-US" sz="1000" dirty="0"/>
          </a:p>
        </p:txBody>
      </p:sp>
      <p:sp>
        <p:nvSpPr>
          <p:cNvPr id="14" name="Shape 12"/>
          <p:cNvSpPr/>
          <p:nvPr/>
        </p:nvSpPr>
        <p:spPr>
          <a:xfrm>
            <a:off x="6199632" y="2926080"/>
            <a:ext cx="2578608" cy="1965960"/>
          </a:xfrm>
          <a:prstGeom prst="rect">
            <a:avLst/>
          </a:prstGeom>
          <a:solidFill>
            <a:srgbClr val="EDE8DC"/>
          </a:solidFill>
          <a:ln w="9525">
            <a:solidFill>
              <a:srgbClr val="D4CEC0"/>
            </a:solidFill>
            <a:prstDash val="solid"/>
          </a:ln>
        </p:spPr>
      </p:sp>
      <p:sp>
        <p:nvSpPr>
          <p:cNvPr id="15" name="Text 13"/>
          <p:cNvSpPr/>
          <p:nvPr/>
        </p:nvSpPr>
        <p:spPr>
          <a:xfrm>
            <a:off x="6419088" y="3108960"/>
            <a:ext cx="2139696" cy="548640"/>
          </a:xfrm>
          <a:prstGeom prst="rect">
            <a:avLst/>
          </a:prstGeom>
          <a:noFill/>
          <a:ln/>
        </p:spPr>
        <p:txBody>
          <a:bodyPr wrap="square" lIns="0" tIns="0" rIns="0" bIns="0" rtlCol="0" anchor="ctr"/>
          <a:lstStyle/>
          <a:p>
            <a:pPr indent="0" marL="0">
              <a:buNone/>
            </a:pPr>
            <a:r>
              <a:rPr lang="en-US" sz="3200" dirty="0">
                <a:solidFill>
                  <a:srgbClr val="C0492A"/>
                </a:solidFill>
                <a:latin typeface="Cambria" pitchFamily="34" charset="0"/>
                <a:ea typeface="Cambria" pitchFamily="34" charset="-122"/>
                <a:cs typeface="Cambria" pitchFamily="34" charset="-120"/>
              </a:rPr>
              <a:t>183</a:t>
            </a:r>
            <a:endParaRPr lang="en-US" sz="3200" dirty="0"/>
          </a:p>
        </p:txBody>
      </p:sp>
      <p:sp>
        <p:nvSpPr>
          <p:cNvPr id="16" name="Text 14"/>
          <p:cNvSpPr/>
          <p:nvPr/>
        </p:nvSpPr>
        <p:spPr>
          <a:xfrm>
            <a:off x="6419088" y="3675888"/>
            <a:ext cx="2139696" cy="237744"/>
          </a:xfrm>
          <a:prstGeom prst="rect">
            <a:avLst/>
          </a:prstGeom>
          <a:noFill/>
          <a:ln/>
        </p:spPr>
        <p:txBody>
          <a:bodyPr wrap="square" lIns="0" tIns="0" rIns="0" bIns="0" rtlCol="0" anchor="ctr"/>
          <a:lstStyle/>
          <a:p>
            <a:pPr indent="0" marL="0">
              <a:buNone/>
            </a:pPr>
            <a:r>
              <a:rPr lang="en-US" sz="850" b="1" spc="140" kern="0" dirty="0">
                <a:solidFill>
                  <a:srgbClr val="1B2A41"/>
                </a:solidFill>
                <a:latin typeface="Calibri" pitchFamily="34" charset="0"/>
                <a:ea typeface="Calibri" pitchFamily="34" charset="-122"/>
                <a:cs typeface="Calibri" pitchFamily="34" charset="-120"/>
              </a:rPr>
              <a:t>RELEVANCE JUDGEMENTS</a:t>
            </a:r>
            <a:endParaRPr lang="en-US" sz="850" dirty="0"/>
          </a:p>
        </p:txBody>
      </p:sp>
      <p:sp>
        <p:nvSpPr>
          <p:cNvPr id="17" name="Text 15"/>
          <p:cNvSpPr/>
          <p:nvPr/>
        </p:nvSpPr>
        <p:spPr>
          <a:xfrm>
            <a:off x="6419088" y="3968496"/>
            <a:ext cx="2139696" cy="841248"/>
          </a:xfrm>
          <a:prstGeom prst="rect">
            <a:avLst/>
          </a:prstGeom>
          <a:noFill/>
          <a:ln/>
        </p:spPr>
        <p:txBody>
          <a:bodyPr wrap="square" lIns="0" tIns="0" rIns="0" bIns="0" rtlCol="0" anchor="t"/>
          <a:lstStyle/>
          <a:p>
            <a:pPr indent="0" marL="0">
              <a:lnSpc>
                <a:spcPts val="1400"/>
              </a:lnSpc>
              <a:buNone/>
            </a:pPr>
            <a:r>
              <a:rPr lang="en-US" sz="1000" dirty="0">
                <a:solidFill>
                  <a:srgbClr val="3D4859"/>
                </a:solidFill>
                <a:latin typeface="Calibri" pitchFamily="34" charset="0"/>
                <a:ea typeface="Calibri" pitchFamily="34" charset="-122"/>
                <a:cs typeface="Calibri" pitchFamily="34" charset="-120"/>
              </a:rPr>
              <a:t>Pooled across all five systems so no system is graded on its own candidate set</a:t>
            </a:r>
            <a:endParaRPr lang="en-US" sz="1000" dirty="0"/>
          </a:p>
        </p:txBody>
      </p:sp>
      <p:sp>
        <p:nvSpPr>
          <p:cNvPr id="18" name="Shape 16"/>
          <p:cNvSpPr/>
          <p:nvPr/>
        </p:nvSpPr>
        <p:spPr>
          <a:xfrm>
            <a:off x="9015984" y="2926080"/>
            <a:ext cx="2578608" cy="1965960"/>
          </a:xfrm>
          <a:prstGeom prst="rect">
            <a:avLst/>
          </a:prstGeom>
          <a:solidFill>
            <a:srgbClr val="DFEADE"/>
          </a:solidFill>
          <a:ln w="9525">
            <a:solidFill>
              <a:srgbClr val="D4CEC0"/>
            </a:solidFill>
            <a:prstDash val="solid"/>
          </a:ln>
        </p:spPr>
      </p:sp>
      <p:sp>
        <p:nvSpPr>
          <p:cNvPr id="19" name="Text 17"/>
          <p:cNvSpPr/>
          <p:nvPr/>
        </p:nvSpPr>
        <p:spPr>
          <a:xfrm>
            <a:off x="9235440" y="3108960"/>
            <a:ext cx="2139696" cy="548640"/>
          </a:xfrm>
          <a:prstGeom prst="rect">
            <a:avLst/>
          </a:prstGeom>
          <a:noFill/>
          <a:ln/>
        </p:spPr>
        <p:txBody>
          <a:bodyPr wrap="square" lIns="0" tIns="0" rIns="0" bIns="0" rtlCol="0" anchor="ctr"/>
          <a:lstStyle/>
          <a:p>
            <a:pPr indent="0" marL="0">
              <a:buNone/>
            </a:pPr>
            <a:r>
              <a:rPr lang="en-US" sz="3200" dirty="0">
                <a:solidFill>
                  <a:srgbClr val="2C6B4F"/>
                </a:solidFill>
                <a:latin typeface="Cambria" pitchFamily="34" charset="0"/>
                <a:ea typeface="Cambria" pitchFamily="34" charset="-122"/>
                <a:cs typeface="Cambria" pitchFamily="34" charset="-120"/>
              </a:rPr>
              <a:t>0.7421</a:t>
            </a:r>
            <a:endParaRPr lang="en-US" sz="3200" dirty="0"/>
          </a:p>
        </p:txBody>
      </p:sp>
      <p:sp>
        <p:nvSpPr>
          <p:cNvPr id="20" name="Text 18"/>
          <p:cNvSpPr/>
          <p:nvPr/>
        </p:nvSpPr>
        <p:spPr>
          <a:xfrm>
            <a:off x="9235440" y="3675888"/>
            <a:ext cx="2139696" cy="237744"/>
          </a:xfrm>
          <a:prstGeom prst="rect">
            <a:avLst/>
          </a:prstGeom>
          <a:noFill/>
          <a:ln/>
        </p:spPr>
        <p:txBody>
          <a:bodyPr wrap="square" lIns="0" tIns="0" rIns="0" bIns="0" rtlCol="0" anchor="ctr"/>
          <a:lstStyle/>
          <a:p>
            <a:pPr indent="0" marL="0">
              <a:buNone/>
            </a:pPr>
            <a:r>
              <a:rPr lang="en-US" sz="850" b="1" spc="140" kern="0" dirty="0">
                <a:solidFill>
                  <a:srgbClr val="1B2A41"/>
                </a:solidFill>
                <a:latin typeface="Calibri" pitchFamily="34" charset="0"/>
                <a:ea typeface="Calibri" pitchFamily="34" charset="-122"/>
                <a:cs typeface="Calibri" pitchFamily="34" charset="-120"/>
              </a:rPr>
              <a:t>INTER-RATER Κ</a:t>
            </a:r>
            <a:endParaRPr lang="en-US" sz="850" dirty="0"/>
          </a:p>
        </p:txBody>
      </p:sp>
      <p:sp>
        <p:nvSpPr>
          <p:cNvPr id="21" name="Text 19"/>
          <p:cNvSpPr/>
          <p:nvPr/>
        </p:nvSpPr>
        <p:spPr>
          <a:xfrm>
            <a:off x="9235440" y="3968496"/>
            <a:ext cx="2139696" cy="841248"/>
          </a:xfrm>
          <a:prstGeom prst="rect">
            <a:avLst/>
          </a:prstGeom>
          <a:noFill/>
          <a:ln/>
        </p:spPr>
        <p:txBody>
          <a:bodyPr wrap="square" lIns="0" tIns="0" rIns="0" bIns="0" rtlCol="0" anchor="t"/>
          <a:lstStyle/>
          <a:p>
            <a:pPr indent="0" marL="0">
              <a:lnSpc>
                <a:spcPts val="1400"/>
              </a:lnSpc>
              <a:buNone/>
            </a:pPr>
            <a:r>
              <a:rPr lang="en-US" sz="1000" dirty="0">
                <a:solidFill>
                  <a:srgbClr val="3D4859"/>
                </a:solidFill>
                <a:latin typeface="Calibri" pitchFamily="34" charset="0"/>
                <a:ea typeface="Calibri" pitchFamily="34" charset="-122"/>
                <a:cs typeface="Calibri" pitchFamily="34" charset="-120"/>
              </a:rPr>
              <a:t>114-row blind regrade; 14 disagreements adjudicated by hand</a:t>
            </a:r>
            <a:endParaRPr lang="en-US" sz="1000" dirty="0"/>
          </a:p>
        </p:txBody>
      </p:sp>
      <p:sp>
        <p:nvSpPr>
          <p:cNvPr id="22" name="Text 20"/>
          <p:cNvSpPr/>
          <p:nvPr/>
        </p:nvSpPr>
        <p:spPr>
          <a:xfrm>
            <a:off x="566928" y="5138928"/>
            <a:ext cx="11027664" cy="365760"/>
          </a:xfrm>
          <a:prstGeom prst="rect">
            <a:avLst/>
          </a:prstGeom>
          <a:noFill/>
          <a:ln/>
        </p:spPr>
        <p:txBody>
          <a:bodyPr wrap="square" lIns="0" tIns="0" rIns="0" bIns="0" rtlCol="0" anchor="ctr"/>
          <a:lstStyle/>
          <a:p>
            <a:pPr indent="0" marL="0">
              <a:buNone/>
            </a:pPr>
            <a:r>
              <a:rPr lang="en-US" sz="1650" i="1" dirty="0">
                <a:solidFill>
                  <a:srgbClr val="1B2A41"/>
                </a:solidFill>
                <a:latin typeface="Cambria" pitchFamily="34" charset="0"/>
                <a:ea typeface="Cambria" pitchFamily="34" charset="-122"/>
                <a:cs typeface="Cambria" pitchFamily="34" charset="-120"/>
              </a:rPr>
              <a:t>Every system saw identical chunks and identical judgements. All configurations were frozen before evaluation.</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66928" y="329184"/>
            <a:ext cx="548640" cy="274320"/>
          </a:xfrm>
          <a:prstGeom prst="rect">
            <a:avLst/>
          </a:prstGeom>
          <a:noFill/>
          <a:ln/>
        </p:spPr>
        <p:txBody>
          <a:bodyPr wrap="square" rtlCol="0" anchor="ctr"/>
          <a:lstStyle/>
          <a:p>
            <a:pPr indent="0" marL="0">
              <a:buNone/>
            </a:pPr>
            <a:r>
              <a:rPr lang="en-US" sz="1100" b="1" spc="200" kern="0" dirty="0">
                <a:solidFill>
                  <a:srgbClr val="C0492A"/>
                </a:solidFill>
                <a:latin typeface="Calibri" pitchFamily="34" charset="0"/>
                <a:ea typeface="Calibri" pitchFamily="34" charset="-122"/>
                <a:cs typeface="Calibri" pitchFamily="34" charset="-120"/>
              </a:rPr>
              <a:t>06</a:t>
            </a:r>
            <a:endParaRPr lang="en-US" sz="1100" dirty="0"/>
          </a:p>
        </p:txBody>
      </p:sp>
      <p:sp>
        <p:nvSpPr>
          <p:cNvPr id="3" name="Text 1"/>
          <p:cNvSpPr/>
          <p:nvPr/>
        </p:nvSpPr>
        <p:spPr>
          <a:xfrm>
            <a:off x="1069848" y="329184"/>
            <a:ext cx="7315200" cy="274320"/>
          </a:xfrm>
          <a:prstGeom prst="rect">
            <a:avLst/>
          </a:prstGeom>
          <a:noFill/>
          <a:ln/>
        </p:spPr>
        <p:txBody>
          <a:bodyPr wrap="square" rtlCol="0" anchor="ctr"/>
          <a:lstStyle/>
          <a:p>
            <a:pPr indent="0" marL="0">
              <a:buNone/>
            </a:pPr>
            <a:r>
              <a:rPr lang="en-US" sz="950" spc="240" kern="0" dirty="0">
                <a:solidFill>
                  <a:srgbClr val="6E7787"/>
                </a:solidFill>
                <a:latin typeface="Calibri" pitchFamily="34" charset="0"/>
                <a:ea typeface="Calibri" pitchFamily="34" charset="-122"/>
                <a:cs typeface="Calibri" pitchFamily="34" charset="-120"/>
              </a:rPr>
              <a:t>METHOD</a:t>
            </a:r>
            <a:endParaRPr lang="en-US" sz="950" dirty="0"/>
          </a:p>
        </p:txBody>
      </p:sp>
      <p:sp>
        <p:nvSpPr>
          <p:cNvPr id="4" name="Text 2"/>
          <p:cNvSpPr/>
          <p:nvPr/>
        </p:nvSpPr>
        <p:spPr>
          <a:xfrm>
            <a:off x="566928" y="777240"/>
            <a:ext cx="11027664" cy="868680"/>
          </a:xfrm>
          <a:prstGeom prst="rect">
            <a:avLst/>
          </a:prstGeom>
          <a:noFill/>
          <a:ln/>
        </p:spPr>
        <p:txBody>
          <a:bodyPr wrap="square" lIns="0" tIns="0" rIns="0" bIns="0" rtlCol="0" anchor="t"/>
          <a:lstStyle/>
          <a:p>
            <a:pPr indent="0" marL="0">
              <a:lnSpc>
                <a:spcPts val="3696"/>
              </a:lnSpc>
              <a:buNone/>
            </a:pPr>
            <a:r>
              <a:rPr lang="en-US" sz="3300" dirty="0">
                <a:solidFill>
                  <a:srgbClr val="1B2A41"/>
                </a:solidFill>
                <a:latin typeface="Cambria" pitchFamily="34" charset="0"/>
                <a:ea typeface="Cambria" pitchFamily="34" charset="-122"/>
                <a:cs typeface="Cambria" pitchFamily="34" charset="-120"/>
              </a:rPr>
              <a:t>Five strategies. One corpus.</a:t>
            </a:r>
            <a:endParaRPr lang="en-US" sz="3300" dirty="0"/>
          </a:p>
          <a:p>
            <a:pPr indent="0" marL="0">
              <a:lnSpc>
                <a:spcPts val="3696"/>
              </a:lnSpc>
              <a:buNone/>
            </a:pPr>
            <a:r>
              <a:rPr lang="en-US" sz="3300" dirty="0">
                <a:solidFill>
                  <a:srgbClr val="1B2A41"/>
                </a:solidFill>
                <a:latin typeface="Cambria" pitchFamily="34" charset="0"/>
                <a:ea typeface="Cambria" pitchFamily="34" charset="-122"/>
                <a:cs typeface="Cambria" pitchFamily="34" charset="-120"/>
              </a:rPr>
              <a:t>One set of judgements.</a:t>
            </a:r>
            <a:endParaRPr lang="en-US" sz="3300" dirty="0"/>
          </a:p>
        </p:txBody>
      </p:sp>
      <p:sp>
        <p:nvSpPr>
          <p:cNvPr id="5" name="Shape 3"/>
          <p:cNvSpPr/>
          <p:nvPr/>
        </p:nvSpPr>
        <p:spPr>
          <a:xfrm>
            <a:off x="566928" y="2286000"/>
            <a:ext cx="2044598" cy="2011680"/>
          </a:xfrm>
          <a:prstGeom prst="rect">
            <a:avLst/>
          </a:prstGeom>
          <a:solidFill>
            <a:srgbClr val="FBF9F4"/>
          </a:solidFill>
          <a:ln w="9525">
            <a:solidFill>
              <a:srgbClr val="D4CEC0"/>
            </a:solidFill>
            <a:prstDash val="solid"/>
          </a:ln>
        </p:spPr>
      </p:sp>
      <p:sp>
        <p:nvSpPr>
          <p:cNvPr id="6" name="Text 4"/>
          <p:cNvSpPr/>
          <p:nvPr/>
        </p:nvSpPr>
        <p:spPr>
          <a:xfrm>
            <a:off x="749808" y="2505456"/>
            <a:ext cx="1678838" cy="329184"/>
          </a:xfrm>
          <a:prstGeom prst="rect">
            <a:avLst/>
          </a:prstGeom>
          <a:noFill/>
          <a:ln/>
        </p:spPr>
        <p:txBody>
          <a:bodyPr wrap="square" lIns="0" tIns="0" rIns="0" bIns="0"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BM25</a:t>
            </a:r>
            <a:endParaRPr lang="en-US" sz="1400" dirty="0"/>
          </a:p>
        </p:txBody>
      </p:sp>
      <p:sp>
        <p:nvSpPr>
          <p:cNvPr id="7" name="Text 5"/>
          <p:cNvSpPr/>
          <p:nvPr/>
        </p:nvSpPr>
        <p:spPr>
          <a:xfrm>
            <a:off x="749808" y="2862072"/>
            <a:ext cx="1678838" cy="219456"/>
          </a:xfrm>
          <a:prstGeom prst="rect">
            <a:avLst/>
          </a:prstGeom>
          <a:noFill/>
          <a:ln/>
        </p:spPr>
        <p:txBody>
          <a:bodyPr wrap="square" lIns="0" tIns="0" rIns="0" bIns="0" rtlCol="0" anchor="ctr"/>
          <a:lstStyle/>
          <a:p>
            <a:pPr indent="0" marL="0">
              <a:buNone/>
            </a:pPr>
            <a:r>
              <a:rPr lang="en-US" sz="850" spc="140" kern="0" dirty="0">
                <a:solidFill>
                  <a:srgbClr val="6E7787"/>
                </a:solidFill>
                <a:latin typeface="Calibri" pitchFamily="34" charset="0"/>
                <a:ea typeface="Calibri" pitchFamily="34" charset="-122"/>
                <a:cs typeface="Calibri" pitchFamily="34" charset="-120"/>
              </a:rPr>
              <a:t>LEXICAL</a:t>
            </a:r>
            <a:endParaRPr lang="en-US" sz="850" dirty="0"/>
          </a:p>
        </p:txBody>
      </p:sp>
      <p:sp>
        <p:nvSpPr>
          <p:cNvPr id="8" name="Text 6"/>
          <p:cNvSpPr/>
          <p:nvPr/>
        </p:nvSpPr>
        <p:spPr>
          <a:xfrm>
            <a:off x="749808" y="3182112"/>
            <a:ext cx="1678838" cy="960120"/>
          </a:xfrm>
          <a:prstGeom prst="rect">
            <a:avLst/>
          </a:prstGeom>
          <a:noFill/>
          <a:ln/>
        </p:spPr>
        <p:txBody>
          <a:bodyPr wrap="square" lIns="0" tIns="0" rIns="0" bIns="0" rtlCol="0" anchor="t"/>
          <a:lstStyle/>
          <a:p>
            <a:pPr indent="0" marL="0">
              <a:lnSpc>
                <a:spcPts val="1450"/>
              </a:lnSpc>
              <a:buNone/>
            </a:pPr>
            <a:r>
              <a:rPr lang="en-US" sz="1050" dirty="0">
                <a:solidFill>
                  <a:srgbClr val="3D4859"/>
                </a:solidFill>
                <a:latin typeface="Calibri" pitchFamily="34" charset="0"/>
                <a:ea typeface="Calibri" pitchFamily="34" charset="-122"/>
                <a:cs typeface="Calibri" pitchFamily="34" charset="-120"/>
              </a:rPr>
              <a:t>Probabilistic keyword ranking, 1994. No training, no embeddings.</a:t>
            </a:r>
            <a:endParaRPr lang="en-US" sz="1050" dirty="0"/>
          </a:p>
        </p:txBody>
      </p:sp>
      <p:sp>
        <p:nvSpPr>
          <p:cNvPr id="9" name="Shape 7"/>
          <p:cNvSpPr/>
          <p:nvPr/>
        </p:nvSpPr>
        <p:spPr>
          <a:xfrm>
            <a:off x="2812694" y="2286000"/>
            <a:ext cx="2044598" cy="2011680"/>
          </a:xfrm>
          <a:prstGeom prst="rect">
            <a:avLst/>
          </a:prstGeom>
          <a:solidFill>
            <a:srgbClr val="FBF9F4"/>
          </a:solidFill>
          <a:ln w="9525">
            <a:solidFill>
              <a:srgbClr val="D4CEC0"/>
            </a:solidFill>
            <a:prstDash val="solid"/>
          </a:ln>
        </p:spPr>
      </p:sp>
      <p:sp>
        <p:nvSpPr>
          <p:cNvPr id="10" name="Text 8"/>
          <p:cNvSpPr/>
          <p:nvPr/>
        </p:nvSpPr>
        <p:spPr>
          <a:xfrm>
            <a:off x="2995574" y="2505456"/>
            <a:ext cx="1678838" cy="329184"/>
          </a:xfrm>
          <a:prstGeom prst="rect">
            <a:avLst/>
          </a:prstGeom>
          <a:noFill/>
          <a:ln/>
        </p:spPr>
        <p:txBody>
          <a:bodyPr wrap="square" lIns="0" tIns="0" rIns="0" bIns="0" rtlCol="0" anchor="ctr"/>
          <a:lstStyle/>
          <a:p>
            <a:pPr indent="0" marL="0">
              <a:buNone/>
            </a:pPr>
            <a:r>
              <a:rPr lang="en-US" sz="1400" b="1" dirty="0">
                <a:solidFill>
                  <a:srgbClr val="C0492A"/>
                </a:solidFill>
                <a:latin typeface="Calibri" pitchFamily="34" charset="0"/>
                <a:ea typeface="Calibri" pitchFamily="34" charset="-122"/>
                <a:cs typeface="Calibri" pitchFamily="34" charset="-120"/>
              </a:rPr>
              <a:t>FAISS</a:t>
            </a:r>
            <a:endParaRPr lang="en-US" sz="1400" dirty="0"/>
          </a:p>
        </p:txBody>
      </p:sp>
      <p:sp>
        <p:nvSpPr>
          <p:cNvPr id="11" name="Text 9"/>
          <p:cNvSpPr/>
          <p:nvPr/>
        </p:nvSpPr>
        <p:spPr>
          <a:xfrm>
            <a:off x="2995574" y="2862072"/>
            <a:ext cx="1678838" cy="219456"/>
          </a:xfrm>
          <a:prstGeom prst="rect">
            <a:avLst/>
          </a:prstGeom>
          <a:noFill/>
          <a:ln/>
        </p:spPr>
        <p:txBody>
          <a:bodyPr wrap="square" lIns="0" tIns="0" rIns="0" bIns="0" rtlCol="0" anchor="ctr"/>
          <a:lstStyle/>
          <a:p>
            <a:pPr indent="0" marL="0">
              <a:buNone/>
            </a:pPr>
            <a:r>
              <a:rPr lang="en-US" sz="850" spc="140" kern="0" dirty="0">
                <a:solidFill>
                  <a:srgbClr val="6E7787"/>
                </a:solidFill>
                <a:latin typeface="Calibri" pitchFamily="34" charset="0"/>
                <a:ea typeface="Calibri" pitchFamily="34" charset="-122"/>
                <a:cs typeface="Calibri" pitchFamily="34" charset="-120"/>
              </a:rPr>
              <a:t>DENSE</a:t>
            </a:r>
            <a:endParaRPr lang="en-US" sz="850" dirty="0"/>
          </a:p>
        </p:txBody>
      </p:sp>
      <p:sp>
        <p:nvSpPr>
          <p:cNvPr id="12" name="Text 10"/>
          <p:cNvSpPr/>
          <p:nvPr/>
        </p:nvSpPr>
        <p:spPr>
          <a:xfrm>
            <a:off x="2995574" y="3182112"/>
            <a:ext cx="1678838" cy="960120"/>
          </a:xfrm>
          <a:prstGeom prst="rect">
            <a:avLst/>
          </a:prstGeom>
          <a:noFill/>
          <a:ln/>
        </p:spPr>
        <p:txBody>
          <a:bodyPr wrap="square" lIns="0" tIns="0" rIns="0" bIns="0" rtlCol="0" anchor="t"/>
          <a:lstStyle/>
          <a:p>
            <a:pPr indent="0" marL="0">
              <a:lnSpc>
                <a:spcPts val="1450"/>
              </a:lnSpc>
              <a:buNone/>
            </a:pPr>
            <a:r>
              <a:rPr lang="en-US" sz="1050" dirty="0">
                <a:solidFill>
                  <a:srgbClr val="3D4859"/>
                </a:solidFill>
                <a:latin typeface="Calibri" pitchFamily="34" charset="0"/>
                <a:ea typeface="Calibri" pitchFamily="34" charset="-122"/>
                <a:cs typeface="Calibri" pitchFamily="34" charset="-120"/>
              </a:rPr>
              <a:t>Sentence-transformer embeddings, windowed-max scoring over chunks.</a:t>
            </a:r>
            <a:endParaRPr lang="en-US" sz="1050" dirty="0"/>
          </a:p>
        </p:txBody>
      </p:sp>
      <p:sp>
        <p:nvSpPr>
          <p:cNvPr id="13" name="Shape 11"/>
          <p:cNvSpPr/>
          <p:nvPr/>
        </p:nvSpPr>
        <p:spPr>
          <a:xfrm>
            <a:off x="5058461" y="2286000"/>
            <a:ext cx="2044598" cy="2011680"/>
          </a:xfrm>
          <a:prstGeom prst="rect">
            <a:avLst/>
          </a:prstGeom>
          <a:solidFill>
            <a:srgbClr val="FBF9F4"/>
          </a:solidFill>
          <a:ln w="9525">
            <a:solidFill>
              <a:srgbClr val="D4CEC0"/>
            </a:solidFill>
            <a:prstDash val="solid"/>
          </a:ln>
        </p:spPr>
      </p:sp>
      <p:sp>
        <p:nvSpPr>
          <p:cNvPr id="14" name="Text 12"/>
          <p:cNvSpPr/>
          <p:nvPr/>
        </p:nvSpPr>
        <p:spPr>
          <a:xfrm>
            <a:off x="5241341" y="2505456"/>
            <a:ext cx="1678838" cy="329184"/>
          </a:xfrm>
          <a:prstGeom prst="rect">
            <a:avLst/>
          </a:prstGeom>
          <a:noFill/>
          <a:ln/>
        </p:spPr>
        <p:txBody>
          <a:bodyPr wrap="square" lIns="0" tIns="0" rIns="0" bIns="0" rtlCol="0" anchor="ctr"/>
          <a:lstStyle/>
          <a:p>
            <a:pPr indent="0" marL="0">
              <a:buNone/>
            </a:pPr>
            <a:r>
              <a:rPr lang="en-US" sz="1400" b="1" dirty="0">
                <a:solidFill>
                  <a:srgbClr val="9A7017"/>
                </a:solidFill>
                <a:latin typeface="Calibri" pitchFamily="34" charset="0"/>
                <a:ea typeface="Calibri" pitchFamily="34" charset="-122"/>
                <a:cs typeface="Calibri" pitchFamily="34" charset="-120"/>
              </a:rPr>
              <a:t>Entity Graph</a:t>
            </a:r>
            <a:endParaRPr lang="en-US" sz="1400" dirty="0"/>
          </a:p>
        </p:txBody>
      </p:sp>
      <p:sp>
        <p:nvSpPr>
          <p:cNvPr id="15" name="Text 13"/>
          <p:cNvSpPr/>
          <p:nvPr/>
        </p:nvSpPr>
        <p:spPr>
          <a:xfrm>
            <a:off x="5241341" y="2862072"/>
            <a:ext cx="1678838" cy="219456"/>
          </a:xfrm>
          <a:prstGeom prst="rect">
            <a:avLst/>
          </a:prstGeom>
          <a:noFill/>
          <a:ln/>
        </p:spPr>
        <p:txBody>
          <a:bodyPr wrap="square" lIns="0" tIns="0" rIns="0" bIns="0" rtlCol="0" anchor="ctr"/>
          <a:lstStyle/>
          <a:p>
            <a:pPr indent="0" marL="0">
              <a:buNone/>
            </a:pPr>
            <a:r>
              <a:rPr lang="en-US" sz="850" spc="140" kern="0" dirty="0">
                <a:solidFill>
                  <a:srgbClr val="6E7787"/>
                </a:solidFill>
                <a:latin typeface="Calibri" pitchFamily="34" charset="0"/>
                <a:ea typeface="Calibri" pitchFamily="34" charset="-122"/>
                <a:cs typeface="Calibri" pitchFamily="34" charset="-120"/>
              </a:rPr>
              <a:t>STRUCTURED</a:t>
            </a:r>
            <a:endParaRPr lang="en-US" sz="850" dirty="0"/>
          </a:p>
        </p:txBody>
      </p:sp>
      <p:sp>
        <p:nvSpPr>
          <p:cNvPr id="16" name="Text 14"/>
          <p:cNvSpPr/>
          <p:nvPr/>
        </p:nvSpPr>
        <p:spPr>
          <a:xfrm>
            <a:off x="5241341" y="3182112"/>
            <a:ext cx="1678838" cy="960120"/>
          </a:xfrm>
          <a:prstGeom prst="rect">
            <a:avLst/>
          </a:prstGeom>
          <a:noFill/>
          <a:ln/>
        </p:spPr>
        <p:txBody>
          <a:bodyPr wrap="square" lIns="0" tIns="0" rIns="0" bIns="0" rtlCol="0" anchor="t"/>
          <a:lstStyle/>
          <a:p>
            <a:pPr indent="0" marL="0">
              <a:lnSpc>
                <a:spcPts val="1450"/>
              </a:lnSpc>
              <a:buNone/>
            </a:pPr>
            <a:r>
              <a:rPr lang="en-US" sz="1050" dirty="0">
                <a:solidFill>
                  <a:srgbClr val="3D4859"/>
                </a:solidFill>
                <a:latin typeface="Calibri" pitchFamily="34" charset="0"/>
                <a:ea typeface="Calibri" pitchFamily="34" charset="-122"/>
                <a:cs typeface="Calibri" pitchFamily="34" charset="-120"/>
              </a:rPr>
              <a:t>Entity co-occurrence graph, 2-hop traversal over extracted entities.</a:t>
            </a:r>
            <a:endParaRPr lang="en-US" sz="1050" dirty="0"/>
          </a:p>
        </p:txBody>
      </p:sp>
      <p:sp>
        <p:nvSpPr>
          <p:cNvPr id="17" name="Shape 15"/>
          <p:cNvSpPr/>
          <p:nvPr/>
        </p:nvSpPr>
        <p:spPr>
          <a:xfrm>
            <a:off x="7304227" y="2286000"/>
            <a:ext cx="2044598" cy="2011680"/>
          </a:xfrm>
          <a:prstGeom prst="rect">
            <a:avLst/>
          </a:prstGeom>
          <a:solidFill>
            <a:srgbClr val="FBF9F4"/>
          </a:solidFill>
          <a:ln w="9525">
            <a:solidFill>
              <a:srgbClr val="D4CEC0"/>
            </a:solidFill>
            <a:prstDash val="solid"/>
          </a:ln>
        </p:spPr>
      </p:sp>
      <p:sp>
        <p:nvSpPr>
          <p:cNvPr id="18" name="Text 16"/>
          <p:cNvSpPr/>
          <p:nvPr/>
        </p:nvSpPr>
        <p:spPr>
          <a:xfrm>
            <a:off x="7487107" y="2505456"/>
            <a:ext cx="1678838" cy="329184"/>
          </a:xfrm>
          <a:prstGeom prst="rect">
            <a:avLst/>
          </a:prstGeom>
          <a:noFill/>
          <a:ln/>
        </p:spPr>
        <p:txBody>
          <a:bodyPr wrap="square" lIns="0" tIns="0" rIns="0" bIns="0" rtlCol="0" anchor="ctr"/>
          <a:lstStyle/>
          <a:p>
            <a:pPr indent="0" marL="0">
              <a:buNone/>
            </a:pPr>
            <a:r>
              <a:rPr lang="en-US" sz="1400" b="1" dirty="0">
                <a:solidFill>
                  <a:srgbClr val="2C6B4F"/>
                </a:solidFill>
                <a:latin typeface="Calibri" pitchFamily="34" charset="0"/>
                <a:ea typeface="Calibri" pitchFamily="34" charset="-122"/>
                <a:cs typeface="Calibri" pitchFamily="34" charset="-120"/>
              </a:rPr>
              <a:t>Hybrid RRF</a:t>
            </a:r>
            <a:endParaRPr lang="en-US" sz="1400" dirty="0"/>
          </a:p>
        </p:txBody>
      </p:sp>
      <p:sp>
        <p:nvSpPr>
          <p:cNvPr id="19" name="Text 17"/>
          <p:cNvSpPr/>
          <p:nvPr/>
        </p:nvSpPr>
        <p:spPr>
          <a:xfrm>
            <a:off x="7487107" y="2862072"/>
            <a:ext cx="1678838" cy="219456"/>
          </a:xfrm>
          <a:prstGeom prst="rect">
            <a:avLst/>
          </a:prstGeom>
          <a:noFill/>
          <a:ln/>
        </p:spPr>
        <p:txBody>
          <a:bodyPr wrap="square" lIns="0" tIns="0" rIns="0" bIns="0" rtlCol="0" anchor="ctr"/>
          <a:lstStyle/>
          <a:p>
            <a:pPr indent="0" marL="0">
              <a:buNone/>
            </a:pPr>
            <a:r>
              <a:rPr lang="en-US" sz="850" spc="140" kern="0" dirty="0">
                <a:solidFill>
                  <a:srgbClr val="6E7787"/>
                </a:solidFill>
                <a:latin typeface="Calibri" pitchFamily="34" charset="0"/>
                <a:ea typeface="Calibri" pitchFamily="34" charset="-122"/>
                <a:cs typeface="Calibri" pitchFamily="34" charset="-120"/>
              </a:rPr>
              <a:t>FUSION</a:t>
            </a:r>
            <a:endParaRPr lang="en-US" sz="850" dirty="0"/>
          </a:p>
        </p:txBody>
      </p:sp>
      <p:sp>
        <p:nvSpPr>
          <p:cNvPr id="20" name="Text 18"/>
          <p:cNvSpPr/>
          <p:nvPr/>
        </p:nvSpPr>
        <p:spPr>
          <a:xfrm>
            <a:off x="7487107" y="3182112"/>
            <a:ext cx="1678838" cy="960120"/>
          </a:xfrm>
          <a:prstGeom prst="rect">
            <a:avLst/>
          </a:prstGeom>
          <a:noFill/>
          <a:ln/>
        </p:spPr>
        <p:txBody>
          <a:bodyPr wrap="square" lIns="0" tIns="0" rIns="0" bIns="0" rtlCol="0" anchor="t"/>
          <a:lstStyle/>
          <a:p>
            <a:pPr indent="0" marL="0">
              <a:lnSpc>
                <a:spcPts val="1450"/>
              </a:lnSpc>
              <a:buNone/>
            </a:pPr>
            <a:r>
              <a:rPr lang="en-US" sz="1050" dirty="0">
                <a:solidFill>
                  <a:srgbClr val="3D4859"/>
                </a:solidFill>
                <a:latin typeface="Calibri" pitchFamily="34" charset="0"/>
                <a:ea typeface="Calibri" pitchFamily="34" charset="-122"/>
                <a:cs typeface="Calibri" pitchFamily="34" charset="-120"/>
              </a:rPr>
              <a:t>Reciprocal rank fusion of BM25 and graph rankings.</a:t>
            </a:r>
            <a:endParaRPr lang="en-US" sz="1050" dirty="0"/>
          </a:p>
        </p:txBody>
      </p:sp>
      <p:sp>
        <p:nvSpPr>
          <p:cNvPr id="21" name="Shape 19"/>
          <p:cNvSpPr/>
          <p:nvPr/>
        </p:nvSpPr>
        <p:spPr>
          <a:xfrm>
            <a:off x="9549994" y="2286000"/>
            <a:ext cx="2044598" cy="2011680"/>
          </a:xfrm>
          <a:prstGeom prst="rect">
            <a:avLst/>
          </a:prstGeom>
          <a:solidFill>
            <a:srgbClr val="FBF9F4"/>
          </a:solidFill>
          <a:ln w="9525">
            <a:solidFill>
              <a:srgbClr val="D4CEC0"/>
            </a:solidFill>
            <a:prstDash val="solid"/>
          </a:ln>
        </p:spPr>
      </p:sp>
      <p:sp>
        <p:nvSpPr>
          <p:cNvPr id="22" name="Text 20"/>
          <p:cNvSpPr/>
          <p:nvPr/>
        </p:nvSpPr>
        <p:spPr>
          <a:xfrm>
            <a:off x="9732874" y="2505456"/>
            <a:ext cx="1678838" cy="329184"/>
          </a:xfrm>
          <a:prstGeom prst="rect">
            <a:avLst/>
          </a:prstGeom>
          <a:noFill/>
          <a:ln/>
        </p:spPr>
        <p:txBody>
          <a:bodyPr wrap="square" lIns="0" tIns="0" rIns="0" bIns="0" rtlCol="0" anchor="ctr"/>
          <a:lstStyle/>
          <a:p>
            <a:pPr indent="0" marL="0">
              <a:buNone/>
            </a:pPr>
            <a:r>
              <a:rPr lang="en-US" sz="1400" b="1" dirty="0">
                <a:solidFill>
                  <a:srgbClr val="5B3F82"/>
                </a:solidFill>
                <a:latin typeface="Calibri" pitchFamily="34" charset="0"/>
                <a:ea typeface="Calibri" pitchFamily="34" charset="-122"/>
                <a:cs typeface="Calibri" pitchFamily="34" charset="-120"/>
              </a:rPr>
              <a:t>Prompt-RAG</a:t>
            </a:r>
            <a:endParaRPr lang="en-US" sz="1400" dirty="0"/>
          </a:p>
        </p:txBody>
      </p:sp>
      <p:sp>
        <p:nvSpPr>
          <p:cNvPr id="23" name="Text 21"/>
          <p:cNvSpPr/>
          <p:nvPr/>
        </p:nvSpPr>
        <p:spPr>
          <a:xfrm>
            <a:off x="9732874" y="2862072"/>
            <a:ext cx="1678838" cy="219456"/>
          </a:xfrm>
          <a:prstGeom prst="rect">
            <a:avLst/>
          </a:prstGeom>
          <a:noFill/>
          <a:ln/>
        </p:spPr>
        <p:txBody>
          <a:bodyPr wrap="square" lIns="0" tIns="0" rIns="0" bIns="0" rtlCol="0" anchor="ctr"/>
          <a:lstStyle/>
          <a:p>
            <a:pPr indent="0" marL="0">
              <a:buNone/>
            </a:pPr>
            <a:r>
              <a:rPr lang="en-US" sz="850" spc="140" kern="0" dirty="0">
                <a:solidFill>
                  <a:srgbClr val="6E7787"/>
                </a:solidFill>
                <a:latin typeface="Calibri" pitchFamily="34" charset="0"/>
                <a:ea typeface="Calibri" pitchFamily="34" charset="-122"/>
                <a:cs typeface="Calibri" pitchFamily="34" charset="-120"/>
              </a:rPr>
              <a:t>LLM RERANK</a:t>
            </a:r>
            <a:endParaRPr lang="en-US" sz="850" dirty="0"/>
          </a:p>
        </p:txBody>
      </p:sp>
      <p:sp>
        <p:nvSpPr>
          <p:cNvPr id="24" name="Text 22"/>
          <p:cNvSpPr/>
          <p:nvPr/>
        </p:nvSpPr>
        <p:spPr>
          <a:xfrm>
            <a:off x="9732874" y="3182112"/>
            <a:ext cx="1678838" cy="960120"/>
          </a:xfrm>
          <a:prstGeom prst="rect">
            <a:avLst/>
          </a:prstGeom>
          <a:noFill/>
          <a:ln/>
        </p:spPr>
        <p:txBody>
          <a:bodyPr wrap="square" lIns="0" tIns="0" rIns="0" bIns="0" rtlCol="0" anchor="t"/>
          <a:lstStyle/>
          <a:p>
            <a:pPr indent="0" marL="0">
              <a:lnSpc>
                <a:spcPts val="1450"/>
              </a:lnSpc>
              <a:buNone/>
            </a:pPr>
            <a:r>
              <a:rPr lang="en-US" sz="1050" dirty="0">
                <a:solidFill>
                  <a:srgbClr val="3D4859"/>
                </a:solidFill>
                <a:latin typeface="Calibri" pitchFamily="34" charset="0"/>
                <a:ea typeface="Calibri" pitchFamily="34" charset="-122"/>
                <a:cs typeface="Calibri" pitchFamily="34" charset="-120"/>
              </a:rPr>
              <a:t>Claude Haiku reranking the top 50 lexical candidates.</a:t>
            </a:r>
            <a:endParaRPr lang="en-US" sz="1050" dirty="0"/>
          </a:p>
        </p:txBody>
      </p:sp>
      <p:sp>
        <p:nvSpPr>
          <p:cNvPr id="25" name="Text 23"/>
          <p:cNvSpPr/>
          <p:nvPr/>
        </p:nvSpPr>
        <p:spPr>
          <a:xfrm>
            <a:off x="566928" y="4617720"/>
            <a:ext cx="3480816" cy="237744"/>
          </a:xfrm>
          <a:prstGeom prst="rect">
            <a:avLst/>
          </a:prstGeom>
          <a:noFill/>
          <a:ln/>
        </p:spPr>
        <p:txBody>
          <a:bodyPr wrap="square" lIns="0" tIns="0" rIns="0" bIns="0" rtlCol="0" anchor="ctr"/>
          <a:lstStyle/>
          <a:p>
            <a:pPr indent="0" marL="0">
              <a:buNone/>
            </a:pPr>
            <a:r>
              <a:rPr lang="en-US" sz="900" b="1" spc="150" kern="0" dirty="0">
                <a:solidFill>
                  <a:srgbClr val="C0492A"/>
                </a:solidFill>
                <a:latin typeface="Calibri" pitchFamily="34" charset="0"/>
                <a:ea typeface="Calibri" pitchFamily="34" charset="-122"/>
                <a:cs typeface="Calibri" pitchFamily="34" charset="-120"/>
              </a:rPr>
              <a:t>IDENTICAL INPUTS</a:t>
            </a:r>
            <a:endParaRPr lang="en-US" sz="900" dirty="0"/>
          </a:p>
        </p:txBody>
      </p:sp>
      <p:sp>
        <p:nvSpPr>
          <p:cNvPr id="26" name="Text 24"/>
          <p:cNvSpPr/>
          <p:nvPr/>
        </p:nvSpPr>
        <p:spPr>
          <a:xfrm>
            <a:off x="566928" y="4910328"/>
            <a:ext cx="3480816" cy="777240"/>
          </a:xfrm>
          <a:prstGeom prst="rect">
            <a:avLst/>
          </a:prstGeom>
          <a:noFill/>
          <a:ln/>
        </p:spPr>
        <p:txBody>
          <a:bodyPr wrap="square" lIns="0" tIns="0" rIns="0" bIns="0" rtlCol="0" anchor="t"/>
          <a:lstStyle/>
          <a:p>
            <a:pPr indent="0" marL="0">
              <a:lnSpc>
                <a:spcPts val="1600"/>
              </a:lnSpc>
              <a:buNone/>
            </a:pPr>
            <a:r>
              <a:rPr lang="en-US" sz="1150" dirty="0">
                <a:solidFill>
                  <a:srgbClr val="3D4859"/>
                </a:solidFill>
                <a:latin typeface="Calibri" pitchFamily="34" charset="0"/>
                <a:ea typeface="Calibri" pitchFamily="34" charset="-122"/>
                <a:cs typeface="Calibri" pitchFamily="34" charset="-120"/>
              </a:rPr>
              <a:t>Same 140 chunks, same chunk IDs, same 34 questions for every system.</a:t>
            </a:r>
            <a:endParaRPr lang="en-US" sz="1150" dirty="0"/>
          </a:p>
        </p:txBody>
      </p:sp>
      <p:sp>
        <p:nvSpPr>
          <p:cNvPr id="27" name="Text 25"/>
          <p:cNvSpPr/>
          <p:nvPr/>
        </p:nvSpPr>
        <p:spPr>
          <a:xfrm>
            <a:off x="4340352" y="4617720"/>
            <a:ext cx="3480816" cy="237744"/>
          </a:xfrm>
          <a:prstGeom prst="rect">
            <a:avLst/>
          </a:prstGeom>
          <a:noFill/>
          <a:ln/>
        </p:spPr>
        <p:txBody>
          <a:bodyPr wrap="square" lIns="0" tIns="0" rIns="0" bIns="0" rtlCol="0" anchor="ctr"/>
          <a:lstStyle/>
          <a:p>
            <a:pPr indent="0" marL="0">
              <a:buNone/>
            </a:pPr>
            <a:r>
              <a:rPr lang="en-US" sz="900" b="1" spc="150" kern="0" dirty="0">
                <a:solidFill>
                  <a:srgbClr val="C0492A"/>
                </a:solidFill>
                <a:latin typeface="Calibri" pitchFamily="34" charset="0"/>
                <a:ea typeface="Calibri" pitchFamily="34" charset="-122"/>
                <a:cs typeface="Calibri" pitchFamily="34" charset="-120"/>
              </a:rPr>
              <a:t>POOLED JUDGEMENTS</a:t>
            </a:r>
            <a:endParaRPr lang="en-US" sz="900" dirty="0"/>
          </a:p>
        </p:txBody>
      </p:sp>
      <p:sp>
        <p:nvSpPr>
          <p:cNvPr id="28" name="Text 26"/>
          <p:cNvSpPr/>
          <p:nvPr/>
        </p:nvSpPr>
        <p:spPr>
          <a:xfrm>
            <a:off x="4340352" y="4910328"/>
            <a:ext cx="3480816" cy="777240"/>
          </a:xfrm>
          <a:prstGeom prst="rect">
            <a:avLst/>
          </a:prstGeom>
          <a:noFill/>
          <a:ln/>
        </p:spPr>
        <p:txBody>
          <a:bodyPr wrap="square" lIns="0" tIns="0" rIns="0" bIns="0" rtlCol="0" anchor="t"/>
          <a:lstStyle/>
          <a:p>
            <a:pPr indent="0" marL="0">
              <a:lnSpc>
                <a:spcPts val="1600"/>
              </a:lnSpc>
              <a:buNone/>
            </a:pPr>
            <a:r>
              <a:rPr lang="en-US" sz="1150" dirty="0">
                <a:solidFill>
                  <a:srgbClr val="3D4859"/>
                </a:solidFill>
                <a:latin typeface="Calibri" pitchFamily="34" charset="0"/>
                <a:ea typeface="Calibri" pitchFamily="34" charset="-122"/>
                <a:cs typeface="Calibri" pitchFamily="34" charset="-120"/>
              </a:rPr>
              <a:t>Relevance graded over the union of all systems’ candidates, blind to system identity.</a:t>
            </a:r>
            <a:endParaRPr lang="en-US" sz="1150" dirty="0"/>
          </a:p>
        </p:txBody>
      </p:sp>
      <p:sp>
        <p:nvSpPr>
          <p:cNvPr id="29" name="Text 27"/>
          <p:cNvSpPr/>
          <p:nvPr/>
        </p:nvSpPr>
        <p:spPr>
          <a:xfrm>
            <a:off x="8113776" y="4617720"/>
            <a:ext cx="3480816" cy="237744"/>
          </a:xfrm>
          <a:prstGeom prst="rect">
            <a:avLst/>
          </a:prstGeom>
          <a:noFill/>
          <a:ln/>
        </p:spPr>
        <p:txBody>
          <a:bodyPr wrap="square" lIns="0" tIns="0" rIns="0" bIns="0" rtlCol="0" anchor="ctr"/>
          <a:lstStyle/>
          <a:p>
            <a:pPr indent="0" marL="0">
              <a:buNone/>
            </a:pPr>
            <a:r>
              <a:rPr lang="en-US" sz="900" b="1" spc="150" kern="0" dirty="0">
                <a:solidFill>
                  <a:srgbClr val="C0492A"/>
                </a:solidFill>
                <a:latin typeface="Calibri" pitchFamily="34" charset="0"/>
                <a:ea typeface="Calibri" pitchFamily="34" charset="-122"/>
                <a:cs typeface="Calibri" pitchFamily="34" charset="-120"/>
              </a:rPr>
              <a:t>FROZEN BEFORE SCORING</a:t>
            </a:r>
            <a:endParaRPr lang="en-US" sz="900" dirty="0"/>
          </a:p>
        </p:txBody>
      </p:sp>
      <p:sp>
        <p:nvSpPr>
          <p:cNvPr id="30" name="Text 28"/>
          <p:cNvSpPr/>
          <p:nvPr/>
        </p:nvSpPr>
        <p:spPr>
          <a:xfrm>
            <a:off x="8113776" y="4910328"/>
            <a:ext cx="3480816" cy="777240"/>
          </a:xfrm>
          <a:prstGeom prst="rect">
            <a:avLst/>
          </a:prstGeom>
          <a:noFill/>
          <a:ln/>
        </p:spPr>
        <p:txBody>
          <a:bodyPr wrap="square" lIns="0" tIns="0" rIns="0" bIns="0" rtlCol="0" anchor="t"/>
          <a:lstStyle/>
          <a:p>
            <a:pPr indent="0" marL="0">
              <a:lnSpc>
                <a:spcPts val="1600"/>
              </a:lnSpc>
              <a:buNone/>
            </a:pPr>
            <a:r>
              <a:rPr lang="en-US" sz="1150" dirty="0">
                <a:solidFill>
                  <a:srgbClr val="3D4859"/>
                </a:solidFill>
                <a:latin typeface="Calibri" pitchFamily="34" charset="0"/>
                <a:ea typeface="Calibri" pitchFamily="34" charset="-122"/>
                <a:cs typeface="Calibri" pitchFamily="34" charset="-120"/>
              </a:rPr>
              <a:t>Configurations, hashes and manifests fixed in advance. Zero retries; failed runs preserved, not replaced.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566928" y="329184"/>
            <a:ext cx="548640" cy="274320"/>
          </a:xfrm>
          <a:prstGeom prst="rect">
            <a:avLst/>
          </a:prstGeom>
          <a:noFill/>
          <a:ln/>
        </p:spPr>
        <p:txBody>
          <a:bodyPr wrap="square" rtlCol="0" anchor="ctr"/>
          <a:lstStyle/>
          <a:p>
            <a:pPr indent="0" marL="0">
              <a:buNone/>
            </a:pPr>
            <a:r>
              <a:rPr lang="en-US" sz="1100" b="1" spc="200" kern="0" dirty="0">
                <a:solidFill>
                  <a:srgbClr val="C0492A"/>
                </a:solidFill>
                <a:latin typeface="Calibri" pitchFamily="34" charset="0"/>
                <a:ea typeface="Calibri" pitchFamily="34" charset="-122"/>
                <a:cs typeface="Calibri" pitchFamily="34" charset="-120"/>
              </a:rPr>
              <a:t>07</a:t>
            </a:r>
            <a:endParaRPr lang="en-US" sz="1100" dirty="0"/>
          </a:p>
        </p:txBody>
      </p:sp>
      <p:sp>
        <p:nvSpPr>
          <p:cNvPr id="3" name="Text 1"/>
          <p:cNvSpPr/>
          <p:nvPr/>
        </p:nvSpPr>
        <p:spPr>
          <a:xfrm>
            <a:off x="1069848" y="329184"/>
            <a:ext cx="7315200" cy="274320"/>
          </a:xfrm>
          <a:prstGeom prst="rect">
            <a:avLst/>
          </a:prstGeom>
          <a:noFill/>
          <a:ln/>
        </p:spPr>
        <p:txBody>
          <a:bodyPr wrap="square" rtlCol="0" anchor="ctr"/>
          <a:lstStyle/>
          <a:p>
            <a:pPr indent="0" marL="0">
              <a:buNone/>
            </a:pPr>
            <a:r>
              <a:rPr lang="en-US" sz="950" spc="240" kern="0" dirty="0">
                <a:solidFill>
                  <a:srgbClr val="8A96A8"/>
                </a:solidFill>
                <a:latin typeface="Calibri" pitchFamily="34" charset="0"/>
                <a:ea typeface="Calibri" pitchFamily="34" charset="-122"/>
                <a:cs typeface="Calibri" pitchFamily="34" charset="-120"/>
              </a:rPr>
              <a:t>PRINCIPAL FINDING</a:t>
            </a:r>
            <a:endParaRPr lang="en-US" sz="950" dirty="0"/>
          </a:p>
        </p:txBody>
      </p:sp>
      <p:sp>
        <p:nvSpPr>
          <p:cNvPr id="4" name="Text 2"/>
          <p:cNvSpPr/>
          <p:nvPr/>
        </p:nvSpPr>
        <p:spPr>
          <a:xfrm>
            <a:off x="566928" y="1234440"/>
            <a:ext cx="10424160" cy="2194560"/>
          </a:xfrm>
          <a:prstGeom prst="rect">
            <a:avLst/>
          </a:prstGeom>
          <a:noFill/>
          <a:ln/>
        </p:spPr>
        <p:txBody>
          <a:bodyPr wrap="square" lIns="0" tIns="0" rIns="0" bIns="0" rtlCol="0" anchor="t"/>
          <a:lstStyle/>
          <a:p>
            <a:pPr indent="0" marL="0">
              <a:lnSpc>
                <a:spcPts val="4600"/>
              </a:lnSpc>
              <a:buNone/>
            </a:pPr>
            <a:r>
              <a:rPr lang="en-US" sz="3400" dirty="0">
                <a:solidFill>
                  <a:srgbClr val="FFFFFF"/>
                </a:solidFill>
                <a:latin typeface="Cambria" pitchFamily="34" charset="0"/>
                <a:ea typeface="Cambria" pitchFamily="34" charset="-122"/>
                <a:cs typeface="Cambria" pitchFamily="34" charset="-120"/>
              </a:rPr>
              <a:t>A keyword algorithm from 1994
beat modern dense embeddings
</a:t>
            </a:r>
            <a:pPr indent="0" marL="0">
              <a:lnSpc>
                <a:spcPts val="4600"/>
              </a:lnSpc>
              <a:buNone/>
            </a:pPr>
            <a:r>
              <a:rPr lang="en-US" sz="3400" i="1" dirty="0">
                <a:solidFill>
                  <a:srgbClr val="C0492A"/>
                </a:solidFill>
                <a:latin typeface="Cambria" pitchFamily="34" charset="0"/>
                <a:ea typeface="Cambria" pitchFamily="34" charset="-122"/>
                <a:cs typeface="Cambria" pitchFamily="34" charset="-120"/>
              </a:rPr>
              <a:t>on every question category but one.</a:t>
            </a:r>
            <a:endParaRPr lang="en-US" sz="3400" dirty="0"/>
          </a:p>
        </p:txBody>
      </p:sp>
      <p:sp>
        <p:nvSpPr>
          <p:cNvPr id="5" name="Text 3"/>
          <p:cNvSpPr/>
          <p:nvPr/>
        </p:nvSpPr>
        <p:spPr>
          <a:xfrm>
            <a:off x="566928" y="3246120"/>
            <a:ext cx="7315200" cy="237744"/>
          </a:xfrm>
          <a:prstGeom prst="rect">
            <a:avLst/>
          </a:prstGeom>
          <a:noFill/>
          <a:ln/>
        </p:spPr>
        <p:txBody>
          <a:bodyPr wrap="square" lIns="0" tIns="0" rIns="0" bIns="0" rtlCol="0" anchor="ctr"/>
          <a:lstStyle/>
          <a:p>
            <a:pPr indent="0" marL="0">
              <a:buNone/>
            </a:pPr>
            <a:r>
              <a:rPr lang="en-US" sz="900" spc="180" kern="0" dirty="0">
                <a:solidFill>
                  <a:srgbClr val="8A96A8"/>
                </a:solidFill>
                <a:latin typeface="Calibri" pitchFamily="34" charset="0"/>
                <a:ea typeface="Calibri" pitchFamily="34" charset="-122"/>
                <a:cs typeface="Calibri" pitchFamily="34" charset="-120"/>
              </a:rPr>
              <a:t>AGGREGATE MRR@10  ·  34 HUMAN-VALIDATED QUESTIONS</a:t>
            </a:r>
            <a:endParaRPr lang="en-US" sz="900" dirty="0"/>
          </a:p>
        </p:txBody>
      </p:sp>
      <p:sp>
        <p:nvSpPr>
          <p:cNvPr id="6" name="Text 4"/>
          <p:cNvSpPr/>
          <p:nvPr/>
        </p:nvSpPr>
        <p:spPr>
          <a:xfrm>
            <a:off x="566928" y="3630168"/>
            <a:ext cx="2286000" cy="292608"/>
          </a:xfrm>
          <a:prstGeom prst="rect">
            <a:avLst/>
          </a:prstGeom>
          <a:noFill/>
          <a:ln/>
        </p:spPr>
        <p:txBody>
          <a:bodyPr wrap="square" lIns="0" tIns="0" rIns="0" bIns="0" rtlCol="0" anchor="ctr"/>
          <a:lstStyle/>
          <a:p>
            <a:pPr algn="r" indent="0" marL="0">
              <a:buNone/>
            </a:pPr>
            <a:r>
              <a:rPr lang="en-US" sz="1150" b="1" dirty="0">
                <a:solidFill>
                  <a:srgbClr val="FFFFFF"/>
                </a:solidFill>
                <a:latin typeface="Calibri" pitchFamily="34" charset="0"/>
                <a:ea typeface="Calibri" pitchFamily="34" charset="-122"/>
                <a:cs typeface="Calibri" pitchFamily="34" charset="-120"/>
              </a:rPr>
              <a:t>BM25</a:t>
            </a:r>
            <a:endParaRPr lang="en-US" sz="1150" dirty="0"/>
          </a:p>
        </p:txBody>
      </p:sp>
      <p:sp>
        <p:nvSpPr>
          <p:cNvPr id="7" name="Shape 5"/>
          <p:cNvSpPr/>
          <p:nvPr/>
        </p:nvSpPr>
        <p:spPr>
          <a:xfrm>
            <a:off x="3081528" y="3666744"/>
            <a:ext cx="5852160" cy="228600"/>
          </a:xfrm>
          <a:prstGeom prst="rect">
            <a:avLst/>
          </a:prstGeom>
          <a:solidFill>
            <a:srgbClr val="253750"/>
          </a:solidFill>
          <a:ln w="12700">
            <a:solidFill>
              <a:srgbClr val="333333"/>
            </a:solidFill>
            <a:prstDash val="solid"/>
          </a:ln>
        </p:spPr>
      </p:sp>
      <p:sp>
        <p:nvSpPr>
          <p:cNvPr id="8" name="Shape 6"/>
          <p:cNvSpPr/>
          <p:nvPr/>
        </p:nvSpPr>
        <p:spPr>
          <a:xfrm>
            <a:off x="3081528" y="3666744"/>
            <a:ext cx="5508053" cy="228600"/>
          </a:xfrm>
          <a:prstGeom prst="rect">
            <a:avLst/>
          </a:prstGeom>
          <a:solidFill>
            <a:srgbClr val="C0492A"/>
          </a:solidFill>
          <a:ln w="12700">
            <a:solidFill>
              <a:srgbClr val="333333"/>
            </a:solidFill>
            <a:prstDash val="solid"/>
          </a:ln>
        </p:spPr>
      </p:sp>
      <p:sp>
        <p:nvSpPr>
          <p:cNvPr id="9" name="Text 7"/>
          <p:cNvSpPr/>
          <p:nvPr/>
        </p:nvSpPr>
        <p:spPr>
          <a:xfrm>
            <a:off x="9079992" y="3630168"/>
            <a:ext cx="9144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0.9412</a:t>
            </a:r>
            <a:endParaRPr lang="en-US" sz="1100" dirty="0"/>
          </a:p>
        </p:txBody>
      </p:sp>
      <p:sp>
        <p:nvSpPr>
          <p:cNvPr id="10" name="Text 8"/>
          <p:cNvSpPr/>
          <p:nvPr/>
        </p:nvSpPr>
        <p:spPr>
          <a:xfrm>
            <a:off x="566928" y="4087368"/>
            <a:ext cx="2286000" cy="292608"/>
          </a:xfrm>
          <a:prstGeom prst="rect">
            <a:avLst/>
          </a:prstGeom>
          <a:noFill/>
          <a:ln/>
        </p:spPr>
        <p:txBody>
          <a:bodyPr wrap="square" lIns="0" tIns="0" rIns="0" bIns="0" rtlCol="0" anchor="ctr"/>
          <a:lstStyle/>
          <a:p>
            <a:pPr algn="r" indent="0" marL="0">
              <a:buNone/>
            </a:pPr>
            <a:r>
              <a:rPr lang="en-US" sz="1150" dirty="0">
                <a:solidFill>
                  <a:srgbClr val="B9C2CF"/>
                </a:solidFill>
                <a:latin typeface="Calibri" pitchFamily="34" charset="0"/>
                <a:ea typeface="Calibri" pitchFamily="34" charset="-122"/>
                <a:cs typeface="Calibri" pitchFamily="34" charset="-120"/>
              </a:rPr>
              <a:t>FAISS (dense)</a:t>
            </a:r>
            <a:endParaRPr lang="en-US" sz="1150" dirty="0"/>
          </a:p>
        </p:txBody>
      </p:sp>
      <p:sp>
        <p:nvSpPr>
          <p:cNvPr id="11" name="Shape 9"/>
          <p:cNvSpPr/>
          <p:nvPr/>
        </p:nvSpPr>
        <p:spPr>
          <a:xfrm>
            <a:off x="3081528" y="4123944"/>
            <a:ext cx="5852160" cy="228600"/>
          </a:xfrm>
          <a:prstGeom prst="rect">
            <a:avLst/>
          </a:prstGeom>
          <a:solidFill>
            <a:srgbClr val="253750"/>
          </a:solidFill>
          <a:ln w="12700">
            <a:solidFill>
              <a:srgbClr val="333333"/>
            </a:solidFill>
            <a:prstDash val="solid"/>
          </a:ln>
        </p:spPr>
      </p:sp>
      <p:sp>
        <p:nvSpPr>
          <p:cNvPr id="12" name="Shape 10"/>
          <p:cNvSpPr/>
          <p:nvPr/>
        </p:nvSpPr>
        <p:spPr>
          <a:xfrm>
            <a:off x="3081528" y="4123944"/>
            <a:ext cx="4845003" cy="228600"/>
          </a:xfrm>
          <a:prstGeom prst="rect">
            <a:avLst/>
          </a:prstGeom>
          <a:solidFill>
            <a:srgbClr val="6E7B8E"/>
          </a:solidFill>
          <a:ln w="12700">
            <a:solidFill>
              <a:srgbClr val="333333"/>
            </a:solidFill>
            <a:prstDash val="solid"/>
          </a:ln>
        </p:spPr>
      </p:sp>
      <p:sp>
        <p:nvSpPr>
          <p:cNvPr id="13" name="Text 11"/>
          <p:cNvSpPr/>
          <p:nvPr/>
        </p:nvSpPr>
        <p:spPr>
          <a:xfrm>
            <a:off x="9079992" y="4087368"/>
            <a:ext cx="914400" cy="292608"/>
          </a:xfrm>
          <a:prstGeom prst="rect">
            <a:avLst/>
          </a:prstGeom>
          <a:noFill/>
          <a:ln/>
        </p:spPr>
        <p:txBody>
          <a:bodyPr wrap="square" lIns="0" tIns="0" rIns="0" bIns="0" rtlCol="0" anchor="ctr"/>
          <a:lstStyle/>
          <a:p>
            <a:pPr indent="0" marL="0">
              <a:buNone/>
            </a:pPr>
            <a:r>
              <a:rPr lang="en-US" sz="1100" dirty="0">
                <a:solidFill>
                  <a:srgbClr val="8A96A8"/>
                </a:solidFill>
                <a:latin typeface="Calibri" pitchFamily="34" charset="0"/>
                <a:ea typeface="Calibri" pitchFamily="34" charset="-122"/>
                <a:cs typeface="Calibri" pitchFamily="34" charset="-120"/>
              </a:rPr>
              <a:t>0.8279</a:t>
            </a:r>
            <a:endParaRPr lang="en-US" sz="1100" dirty="0"/>
          </a:p>
        </p:txBody>
      </p:sp>
      <p:sp>
        <p:nvSpPr>
          <p:cNvPr id="14" name="Text 12"/>
          <p:cNvSpPr/>
          <p:nvPr/>
        </p:nvSpPr>
        <p:spPr>
          <a:xfrm>
            <a:off x="566928" y="4544568"/>
            <a:ext cx="2286000" cy="292608"/>
          </a:xfrm>
          <a:prstGeom prst="rect">
            <a:avLst/>
          </a:prstGeom>
          <a:noFill/>
          <a:ln/>
        </p:spPr>
        <p:txBody>
          <a:bodyPr wrap="square" lIns="0" tIns="0" rIns="0" bIns="0" rtlCol="0" anchor="ctr"/>
          <a:lstStyle/>
          <a:p>
            <a:pPr algn="r" indent="0" marL="0">
              <a:buNone/>
            </a:pPr>
            <a:r>
              <a:rPr lang="en-US" sz="1150" dirty="0">
                <a:solidFill>
                  <a:srgbClr val="B9C2CF"/>
                </a:solidFill>
                <a:latin typeface="Calibri" pitchFamily="34" charset="0"/>
                <a:ea typeface="Calibri" pitchFamily="34" charset="-122"/>
                <a:cs typeface="Calibri" pitchFamily="34" charset="-120"/>
              </a:rPr>
              <a:t>Entity Graph</a:t>
            </a:r>
            <a:endParaRPr lang="en-US" sz="1150" dirty="0"/>
          </a:p>
        </p:txBody>
      </p:sp>
      <p:sp>
        <p:nvSpPr>
          <p:cNvPr id="15" name="Shape 13"/>
          <p:cNvSpPr/>
          <p:nvPr/>
        </p:nvSpPr>
        <p:spPr>
          <a:xfrm>
            <a:off x="3081528" y="4581144"/>
            <a:ext cx="5852160" cy="228600"/>
          </a:xfrm>
          <a:prstGeom prst="rect">
            <a:avLst/>
          </a:prstGeom>
          <a:solidFill>
            <a:srgbClr val="253750"/>
          </a:solidFill>
          <a:ln w="12700">
            <a:solidFill>
              <a:srgbClr val="333333"/>
            </a:solidFill>
            <a:prstDash val="solid"/>
          </a:ln>
        </p:spPr>
      </p:sp>
      <p:sp>
        <p:nvSpPr>
          <p:cNvPr id="16" name="Shape 14"/>
          <p:cNvSpPr/>
          <p:nvPr/>
        </p:nvSpPr>
        <p:spPr>
          <a:xfrm>
            <a:off x="3081528" y="4581144"/>
            <a:ext cx="3958986" cy="228600"/>
          </a:xfrm>
          <a:prstGeom prst="rect">
            <a:avLst/>
          </a:prstGeom>
          <a:solidFill>
            <a:srgbClr val="6E7B8E"/>
          </a:solidFill>
          <a:ln w="12700">
            <a:solidFill>
              <a:srgbClr val="333333"/>
            </a:solidFill>
            <a:prstDash val="solid"/>
          </a:ln>
        </p:spPr>
      </p:sp>
      <p:sp>
        <p:nvSpPr>
          <p:cNvPr id="17" name="Text 15"/>
          <p:cNvSpPr/>
          <p:nvPr/>
        </p:nvSpPr>
        <p:spPr>
          <a:xfrm>
            <a:off x="9079992" y="4544568"/>
            <a:ext cx="914400" cy="292608"/>
          </a:xfrm>
          <a:prstGeom prst="rect">
            <a:avLst/>
          </a:prstGeom>
          <a:noFill/>
          <a:ln/>
        </p:spPr>
        <p:txBody>
          <a:bodyPr wrap="square" lIns="0" tIns="0" rIns="0" bIns="0" rtlCol="0" anchor="ctr"/>
          <a:lstStyle/>
          <a:p>
            <a:pPr indent="0" marL="0">
              <a:buNone/>
            </a:pPr>
            <a:r>
              <a:rPr lang="en-US" sz="1100" dirty="0">
                <a:solidFill>
                  <a:srgbClr val="8A96A8"/>
                </a:solidFill>
                <a:latin typeface="Calibri" pitchFamily="34" charset="0"/>
                <a:ea typeface="Calibri" pitchFamily="34" charset="-122"/>
                <a:cs typeface="Calibri" pitchFamily="34" charset="-120"/>
              </a:rPr>
              <a:t>0.6765</a:t>
            </a:r>
            <a:endParaRPr lang="en-US" sz="1100" dirty="0"/>
          </a:p>
        </p:txBody>
      </p:sp>
      <p:sp>
        <p:nvSpPr>
          <p:cNvPr id="18" name="Text 16"/>
          <p:cNvSpPr/>
          <p:nvPr/>
        </p:nvSpPr>
        <p:spPr>
          <a:xfrm>
            <a:off x="566928" y="5001768"/>
            <a:ext cx="2286000" cy="292608"/>
          </a:xfrm>
          <a:prstGeom prst="rect">
            <a:avLst/>
          </a:prstGeom>
          <a:noFill/>
          <a:ln/>
        </p:spPr>
        <p:txBody>
          <a:bodyPr wrap="square" lIns="0" tIns="0" rIns="0" bIns="0" rtlCol="0" anchor="ctr"/>
          <a:lstStyle/>
          <a:p>
            <a:pPr algn="r" indent="0" marL="0">
              <a:buNone/>
            </a:pPr>
            <a:r>
              <a:rPr lang="en-US" sz="1150" dirty="0">
                <a:solidFill>
                  <a:srgbClr val="B9C2CF"/>
                </a:solidFill>
                <a:latin typeface="Calibri" pitchFamily="34" charset="0"/>
                <a:ea typeface="Calibri" pitchFamily="34" charset="-122"/>
                <a:cs typeface="Calibri" pitchFamily="34" charset="-120"/>
              </a:rPr>
              <a:t>Hybrid RRF</a:t>
            </a:r>
            <a:endParaRPr lang="en-US" sz="1150" dirty="0"/>
          </a:p>
        </p:txBody>
      </p:sp>
      <p:sp>
        <p:nvSpPr>
          <p:cNvPr id="19" name="Shape 17"/>
          <p:cNvSpPr/>
          <p:nvPr/>
        </p:nvSpPr>
        <p:spPr>
          <a:xfrm>
            <a:off x="3081528" y="5038344"/>
            <a:ext cx="5852160" cy="228600"/>
          </a:xfrm>
          <a:prstGeom prst="rect">
            <a:avLst/>
          </a:prstGeom>
          <a:solidFill>
            <a:srgbClr val="253750"/>
          </a:solidFill>
          <a:ln w="12700">
            <a:solidFill>
              <a:srgbClr val="333333"/>
            </a:solidFill>
            <a:prstDash val="solid"/>
          </a:ln>
        </p:spPr>
      </p:sp>
      <p:sp>
        <p:nvSpPr>
          <p:cNvPr id="20" name="Shape 18"/>
          <p:cNvSpPr/>
          <p:nvPr/>
        </p:nvSpPr>
        <p:spPr>
          <a:xfrm>
            <a:off x="3081528" y="5038344"/>
            <a:ext cx="5594080" cy="228600"/>
          </a:xfrm>
          <a:prstGeom prst="rect">
            <a:avLst/>
          </a:prstGeom>
          <a:solidFill>
            <a:srgbClr val="6E7B8E"/>
          </a:solidFill>
          <a:ln w="12700">
            <a:solidFill>
              <a:srgbClr val="333333"/>
            </a:solidFill>
            <a:prstDash val="solid"/>
          </a:ln>
        </p:spPr>
      </p:sp>
      <p:sp>
        <p:nvSpPr>
          <p:cNvPr id="21" name="Text 19"/>
          <p:cNvSpPr/>
          <p:nvPr/>
        </p:nvSpPr>
        <p:spPr>
          <a:xfrm>
            <a:off x="9079992" y="5001768"/>
            <a:ext cx="914400" cy="292608"/>
          </a:xfrm>
          <a:prstGeom prst="rect">
            <a:avLst/>
          </a:prstGeom>
          <a:noFill/>
          <a:ln/>
        </p:spPr>
        <p:txBody>
          <a:bodyPr wrap="square" lIns="0" tIns="0" rIns="0" bIns="0" rtlCol="0" anchor="ctr"/>
          <a:lstStyle/>
          <a:p>
            <a:pPr indent="0" marL="0">
              <a:buNone/>
            </a:pPr>
            <a:r>
              <a:rPr lang="en-US" sz="1100" dirty="0">
                <a:solidFill>
                  <a:srgbClr val="8A96A8"/>
                </a:solidFill>
                <a:latin typeface="Calibri" pitchFamily="34" charset="0"/>
                <a:ea typeface="Calibri" pitchFamily="34" charset="-122"/>
                <a:cs typeface="Calibri" pitchFamily="34" charset="-120"/>
              </a:rPr>
              <a:t>0.9559</a:t>
            </a:r>
            <a:endParaRPr lang="en-US" sz="1100" dirty="0"/>
          </a:p>
        </p:txBody>
      </p:sp>
      <p:sp>
        <p:nvSpPr>
          <p:cNvPr id="22" name="Text 20"/>
          <p:cNvSpPr/>
          <p:nvPr/>
        </p:nvSpPr>
        <p:spPr>
          <a:xfrm>
            <a:off x="566928" y="5458968"/>
            <a:ext cx="2286000" cy="292608"/>
          </a:xfrm>
          <a:prstGeom prst="rect">
            <a:avLst/>
          </a:prstGeom>
          <a:noFill/>
          <a:ln/>
        </p:spPr>
        <p:txBody>
          <a:bodyPr wrap="square" lIns="0" tIns="0" rIns="0" bIns="0" rtlCol="0" anchor="ctr"/>
          <a:lstStyle/>
          <a:p>
            <a:pPr algn="r" indent="0" marL="0">
              <a:buNone/>
            </a:pPr>
            <a:r>
              <a:rPr lang="en-US" sz="1150" dirty="0">
                <a:solidFill>
                  <a:srgbClr val="B9C2CF"/>
                </a:solidFill>
                <a:latin typeface="Calibri" pitchFamily="34" charset="0"/>
                <a:ea typeface="Calibri" pitchFamily="34" charset="-122"/>
                <a:cs typeface="Calibri" pitchFamily="34" charset="-120"/>
              </a:rPr>
              <a:t>Prompt-RAG</a:t>
            </a:r>
            <a:endParaRPr lang="en-US" sz="1150" dirty="0"/>
          </a:p>
        </p:txBody>
      </p:sp>
      <p:sp>
        <p:nvSpPr>
          <p:cNvPr id="23" name="Shape 21"/>
          <p:cNvSpPr/>
          <p:nvPr/>
        </p:nvSpPr>
        <p:spPr>
          <a:xfrm>
            <a:off x="3081528" y="5495544"/>
            <a:ext cx="5852160" cy="228600"/>
          </a:xfrm>
          <a:prstGeom prst="rect">
            <a:avLst/>
          </a:prstGeom>
          <a:solidFill>
            <a:srgbClr val="253750"/>
          </a:solidFill>
          <a:ln w="12700">
            <a:solidFill>
              <a:srgbClr val="333333"/>
            </a:solidFill>
            <a:prstDash val="solid"/>
          </a:ln>
        </p:spPr>
      </p:sp>
      <p:sp>
        <p:nvSpPr>
          <p:cNvPr id="24" name="Shape 22"/>
          <p:cNvSpPr/>
          <p:nvPr/>
        </p:nvSpPr>
        <p:spPr>
          <a:xfrm>
            <a:off x="3081528" y="5495544"/>
            <a:ext cx="5722827" cy="228600"/>
          </a:xfrm>
          <a:prstGeom prst="rect">
            <a:avLst/>
          </a:prstGeom>
          <a:solidFill>
            <a:srgbClr val="6E7B8E"/>
          </a:solidFill>
          <a:ln w="12700">
            <a:solidFill>
              <a:srgbClr val="333333"/>
            </a:solidFill>
            <a:prstDash val="solid"/>
          </a:ln>
        </p:spPr>
      </p:sp>
      <p:sp>
        <p:nvSpPr>
          <p:cNvPr id="25" name="Text 23"/>
          <p:cNvSpPr/>
          <p:nvPr/>
        </p:nvSpPr>
        <p:spPr>
          <a:xfrm>
            <a:off x="9079992" y="5458968"/>
            <a:ext cx="914400" cy="292608"/>
          </a:xfrm>
          <a:prstGeom prst="rect">
            <a:avLst/>
          </a:prstGeom>
          <a:noFill/>
          <a:ln/>
        </p:spPr>
        <p:txBody>
          <a:bodyPr wrap="square" lIns="0" tIns="0" rIns="0" bIns="0" rtlCol="0" anchor="ctr"/>
          <a:lstStyle/>
          <a:p>
            <a:pPr indent="0" marL="0">
              <a:buNone/>
            </a:pPr>
            <a:r>
              <a:rPr lang="en-US" sz="1100" dirty="0">
                <a:solidFill>
                  <a:srgbClr val="8A96A8"/>
                </a:solidFill>
                <a:latin typeface="Calibri" pitchFamily="34" charset="0"/>
                <a:ea typeface="Calibri" pitchFamily="34" charset="-122"/>
                <a:cs typeface="Calibri" pitchFamily="34" charset="-120"/>
              </a:rPr>
              <a:t>0.9779</a:t>
            </a:r>
            <a:endParaRPr lang="en-US" sz="1100" dirty="0"/>
          </a:p>
        </p:txBody>
      </p:sp>
      <p:sp>
        <p:nvSpPr>
          <p:cNvPr id="26" name="Shape 24"/>
          <p:cNvSpPr/>
          <p:nvPr/>
        </p:nvSpPr>
        <p:spPr>
          <a:xfrm>
            <a:off x="9710928" y="3127248"/>
            <a:ext cx="1883664" cy="2834640"/>
          </a:xfrm>
          <a:prstGeom prst="rect">
            <a:avLst/>
          </a:prstGeom>
          <a:solidFill>
            <a:srgbClr val="253750"/>
          </a:solidFill>
          <a:ln w="12700">
            <a:solidFill>
              <a:srgbClr val="333333"/>
            </a:solidFill>
            <a:prstDash val="solid"/>
          </a:ln>
        </p:spPr>
      </p:sp>
      <p:sp>
        <p:nvSpPr>
          <p:cNvPr id="27" name="Text 25"/>
          <p:cNvSpPr/>
          <p:nvPr/>
        </p:nvSpPr>
        <p:spPr>
          <a:xfrm>
            <a:off x="9939528" y="3346704"/>
            <a:ext cx="1426464" cy="566928"/>
          </a:xfrm>
          <a:prstGeom prst="rect">
            <a:avLst/>
          </a:prstGeom>
          <a:noFill/>
          <a:ln/>
        </p:spPr>
        <p:txBody>
          <a:bodyPr wrap="square" lIns="0" tIns="0" rIns="0" bIns="0" rtlCol="0" anchor="ctr"/>
          <a:lstStyle/>
          <a:p>
            <a:pPr indent="0" marL="0">
              <a:lnSpc>
                <a:spcPts val="1700"/>
              </a:lnSpc>
              <a:buNone/>
            </a:pPr>
            <a:r>
              <a:rPr lang="en-US" sz="1250" b="1" dirty="0">
                <a:solidFill>
                  <a:srgbClr val="C0492A"/>
                </a:solidFill>
                <a:latin typeface="Calibri" pitchFamily="34" charset="0"/>
                <a:ea typeface="Calibri" pitchFamily="34" charset="-122"/>
                <a:cs typeface="Calibri" pitchFamily="34" charset="-120"/>
              </a:rPr>
              <a:t>BM25 is also the cheapest system in the study.</a:t>
            </a:r>
            <a:endParaRPr lang="en-US" sz="1250" dirty="0"/>
          </a:p>
        </p:txBody>
      </p:sp>
      <p:sp>
        <p:nvSpPr>
          <p:cNvPr id="28" name="Text 26"/>
          <p:cNvSpPr/>
          <p:nvPr/>
        </p:nvSpPr>
        <p:spPr>
          <a:xfrm>
            <a:off x="9939528" y="4005072"/>
            <a:ext cx="1426464" cy="1828800"/>
          </a:xfrm>
          <a:prstGeom prst="rect">
            <a:avLst/>
          </a:prstGeom>
          <a:noFill/>
          <a:ln/>
        </p:spPr>
        <p:txBody>
          <a:bodyPr wrap="square" lIns="0" tIns="0" rIns="0" bIns="0" rtlCol="0" anchor="t"/>
          <a:lstStyle/>
          <a:p>
            <a:pPr indent="0" marL="0">
              <a:lnSpc>
                <a:spcPts val="1500"/>
              </a:lnSpc>
              <a:buNone/>
            </a:pPr>
            <a:r>
              <a:rPr lang="en-US" sz="1050" dirty="0">
                <a:solidFill>
                  <a:srgbClr val="B9C2CF"/>
                </a:solidFill>
                <a:latin typeface="Calibri" pitchFamily="34" charset="0"/>
                <a:ea typeface="Calibri" pitchFamily="34" charset="-122"/>
                <a:cs typeface="Calibri" pitchFamily="34" charset="-120"/>
              </a:rPr>
              <a:t>0.76 ms mean query latency, against 13.2 ms for FAISS and roughly 18 seconds for LLM reranking. It needs no GPU, no embedding model and no API budget.</a:t>
            </a:r>
            <a:endParaRPr lang="en-US" sz="1050" dirty="0"/>
          </a:p>
        </p:txBody>
      </p:sp>
      <p:sp>
        <p:nvSpPr>
          <p:cNvPr id="29" name="Text 27"/>
          <p:cNvSpPr/>
          <p:nvPr/>
        </p:nvSpPr>
        <p:spPr>
          <a:xfrm>
            <a:off x="566928" y="6382512"/>
            <a:ext cx="11027664" cy="274320"/>
          </a:xfrm>
          <a:prstGeom prst="rect">
            <a:avLst/>
          </a:prstGeom>
          <a:noFill/>
          <a:ln/>
        </p:spPr>
        <p:txBody>
          <a:bodyPr wrap="square" lIns="0" tIns="0" rIns="0" bIns="0" rtlCol="0" anchor="ctr"/>
          <a:lstStyle/>
          <a:p>
            <a:pPr indent="0" marL="0">
              <a:buNone/>
            </a:pPr>
            <a:r>
              <a:rPr lang="en-US" sz="850" spc="60" kern="0" dirty="0">
                <a:solidFill>
                  <a:srgbClr val="6E7B8E"/>
                </a:solidFill>
                <a:latin typeface="Calibri" pitchFamily="34" charset="0"/>
                <a:ea typeface="Calibri" pitchFamily="34" charset="-122"/>
                <a:cs typeface="Calibri" pitchFamily="34" charset="-120"/>
              </a:rPr>
              <a:t>Recomputed from runs/canonical_v2_pilot/. Latency from efficiency_snapshot.json, warm-cache, retrieval only.</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66928" y="329184"/>
            <a:ext cx="548640" cy="274320"/>
          </a:xfrm>
          <a:prstGeom prst="rect">
            <a:avLst/>
          </a:prstGeom>
          <a:noFill/>
          <a:ln/>
        </p:spPr>
        <p:txBody>
          <a:bodyPr wrap="square" rtlCol="0" anchor="ctr"/>
          <a:lstStyle/>
          <a:p>
            <a:pPr indent="0" marL="0">
              <a:buNone/>
            </a:pPr>
            <a:r>
              <a:rPr lang="en-US" sz="1100" b="1" spc="200" kern="0" dirty="0">
                <a:solidFill>
                  <a:srgbClr val="C0492A"/>
                </a:solidFill>
                <a:latin typeface="Calibri" pitchFamily="34" charset="0"/>
                <a:ea typeface="Calibri" pitchFamily="34" charset="-122"/>
                <a:cs typeface="Calibri" pitchFamily="34" charset="-120"/>
              </a:rPr>
              <a:t>08</a:t>
            </a:r>
            <a:endParaRPr lang="en-US" sz="1100" dirty="0"/>
          </a:p>
        </p:txBody>
      </p:sp>
      <p:sp>
        <p:nvSpPr>
          <p:cNvPr id="3" name="Text 1"/>
          <p:cNvSpPr/>
          <p:nvPr/>
        </p:nvSpPr>
        <p:spPr>
          <a:xfrm>
            <a:off x="1069848" y="329184"/>
            <a:ext cx="7315200" cy="274320"/>
          </a:xfrm>
          <a:prstGeom prst="rect">
            <a:avLst/>
          </a:prstGeom>
          <a:noFill/>
          <a:ln/>
        </p:spPr>
        <p:txBody>
          <a:bodyPr wrap="square" rtlCol="0" anchor="ctr"/>
          <a:lstStyle/>
          <a:p>
            <a:pPr indent="0" marL="0">
              <a:buNone/>
            </a:pPr>
            <a:r>
              <a:rPr lang="en-US" sz="950" spc="240" kern="0" dirty="0">
                <a:solidFill>
                  <a:srgbClr val="6E7787"/>
                </a:solidFill>
                <a:latin typeface="Calibri" pitchFamily="34" charset="0"/>
                <a:ea typeface="Calibri" pitchFamily="34" charset="-122"/>
                <a:cs typeface="Calibri" pitchFamily="34" charset="-120"/>
              </a:rPr>
              <a:t>WHERE THE DIFFERENCE LIVES</a:t>
            </a:r>
            <a:endParaRPr lang="en-US" sz="950" dirty="0"/>
          </a:p>
        </p:txBody>
      </p:sp>
      <p:sp>
        <p:nvSpPr>
          <p:cNvPr id="4" name="Text 2"/>
          <p:cNvSpPr/>
          <p:nvPr/>
        </p:nvSpPr>
        <p:spPr>
          <a:xfrm>
            <a:off x="566928" y="777240"/>
            <a:ext cx="11027664" cy="868680"/>
          </a:xfrm>
          <a:prstGeom prst="rect">
            <a:avLst/>
          </a:prstGeom>
          <a:noFill/>
          <a:ln/>
        </p:spPr>
        <p:txBody>
          <a:bodyPr wrap="square" lIns="0" tIns="0" rIns="0" bIns="0" rtlCol="0" anchor="t"/>
          <a:lstStyle/>
          <a:p>
            <a:pPr indent="0" marL="0">
              <a:lnSpc>
                <a:spcPts val="3360"/>
              </a:lnSpc>
              <a:buNone/>
            </a:pPr>
            <a:r>
              <a:rPr lang="en-US" sz="3000" dirty="0">
                <a:solidFill>
                  <a:srgbClr val="1B2A41"/>
                </a:solidFill>
                <a:latin typeface="Cambria" pitchFamily="34" charset="0"/>
                <a:ea typeface="Cambria" pitchFamily="34" charset="-122"/>
                <a:cs typeface="Cambria" pitchFamily="34" charset="-120"/>
              </a:rPr>
              <a:t>The gap is widest exactly where dense</a:t>
            </a:r>
            <a:endParaRPr lang="en-US" sz="3000" dirty="0"/>
          </a:p>
          <a:p>
            <a:pPr indent="0" marL="0">
              <a:lnSpc>
                <a:spcPts val="3360"/>
              </a:lnSpc>
              <a:buNone/>
            </a:pPr>
            <a:r>
              <a:rPr lang="en-US" sz="3000" dirty="0">
                <a:solidFill>
                  <a:srgbClr val="1B2A41"/>
                </a:solidFill>
                <a:latin typeface="Cambria" pitchFamily="34" charset="0"/>
                <a:ea typeface="Cambria" pitchFamily="34" charset="-122"/>
                <a:cs typeface="Cambria" pitchFamily="34" charset="-120"/>
              </a:rPr>
              <a:t>retrieval was supposed to win.</a:t>
            </a:r>
            <a:endParaRPr lang="en-US" sz="3000" dirty="0"/>
          </a:p>
        </p:txBody>
      </p:sp>
      <p:sp>
        <p:nvSpPr>
          <p:cNvPr id="5" name="Text 3"/>
          <p:cNvSpPr/>
          <p:nvPr/>
        </p:nvSpPr>
        <p:spPr>
          <a:xfrm>
            <a:off x="3401568" y="1856232"/>
            <a:ext cx="1097280" cy="237744"/>
          </a:xfrm>
          <a:prstGeom prst="rect">
            <a:avLst/>
          </a:prstGeom>
          <a:noFill/>
          <a:ln/>
        </p:spPr>
        <p:txBody>
          <a:bodyPr wrap="square" lIns="0" tIns="0" rIns="0" bIns="0" rtlCol="0" anchor="ctr"/>
          <a:lstStyle/>
          <a:p>
            <a:pPr indent="0" marL="0">
              <a:buNone/>
            </a:pPr>
            <a:r>
              <a:rPr lang="en-US" sz="900" b="1" spc="120" kern="0" dirty="0">
                <a:solidFill>
                  <a:srgbClr val="C0492A"/>
                </a:solidFill>
                <a:latin typeface="Calibri" pitchFamily="34" charset="0"/>
                <a:ea typeface="Calibri" pitchFamily="34" charset="-122"/>
                <a:cs typeface="Calibri" pitchFamily="34" charset="-120"/>
              </a:rPr>
              <a:t>BM25</a:t>
            </a:r>
            <a:endParaRPr lang="en-US" sz="900" dirty="0"/>
          </a:p>
        </p:txBody>
      </p:sp>
      <p:sp>
        <p:nvSpPr>
          <p:cNvPr id="6" name="Text 4"/>
          <p:cNvSpPr/>
          <p:nvPr/>
        </p:nvSpPr>
        <p:spPr>
          <a:xfrm>
            <a:off x="4636008" y="1856232"/>
            <a:ext cx="1463040" cy="237744"/>
          </a:xfrm>
          <a:prstGeom prst="rect">
            <a:avLst/>
          </a:prstGeom>
          <a:noFill/>
          <a:ln/>
        </p:spPr>
        <p:txBody>
          <a:bodyPr wrap="square" lIns="0" tIns="0" rIns="0" bIns="0" rtlCol="0" anchor="ctr"/>
          <a:lstStyle/>
          <a:p>
            <a:pPr indent="0" marL="0">
              <a:buNone/>
            </a:pPr>
            <a:r>
              <a:rPr lang="en-US" sz="900" b="1" spc="120" kern="0" dirty="0">
                <a:solidFill>
                  <a:srgbClr val="6E7787"/>
                </a:solidFill>
                <a:latin typeface="Calibri" pitchFamily="34" charset="0"/>
                <a:ea typeface="Calibri" pitchFamily="34" charset="-122"/>
                <a:cs typeface="Calibri" pitchFamily="34" charset="-120"/>
              </a:rPr>
              <a:t>FAISS (dense)</a:t>
            </a:r>
            <a:endParaRPr lang="en-US" sz="900" dirty="0"/>
          </a:p>
        </p:txBody>
      </p:sp>
      <p:sp>
        <p:nvSpPr>
          <p:cNvPr id="7" name="Text 5"/>
          <p:cNvSpPr/>
          <p:nvPr/>
        </p:nvSpPr>
        <p:spPr>
          <a:xfrm>
            <a:off x="7333488" y="1856232"/>
            <a:ext cx="1005840" cy="237744"/>
          </a:xfrm>
          <a:prstGeom prst="rect">
            <a:avLst/>
          </a:prstGeom>
          <a:noFill/>
          <a:ln/>
        </p:spPr>
        <p:txBody>
          <a:bodyPr wrap="square" lIns="0" tIns="0" rIns="0" bIns="0" rtlCol="0" anchor="ctr"/>
          <a:lstStyle/>
          <a:p>
            <a:pPr algn="r" indent="0" marL="0">
              <a:buNone/>
            </a:pPr>
            <a:r>
              <a:rPr lang="en-US" sz="850" spc="100" kern="0" dirty="0">
                <a:solidFill>
                  <a:srgbClr val="6E7787"/>
                </a:solidFill>
                <a:latin typeface="Calibri" pitchFamily="34" charset="0"/>
                <a:ea typeface="Calibri" pitchFamily="34" charset="-122"/>
                <a:cs typeface="Calibri" pitchFamily="34" charset="-120"/>
              </a:rPr>
              <a:t>MRR@10</a:t>
            </a:r>
            <a:endParaRPr lang="en-US" sz="850" dirty="0"/>
          </a:p>
        </p:txBody>
      </p:sp>
      <p:sp>
        <p:nvSpPr>
          <p:cNvPr id="8" name="Shape 6"/>
          <p:cNvSpPr/>
          <p:nvPr/>
        </p:nvSpPr>
        <p:spPr>
          <a:xfrm>
            <a:off x="438912" y="2093976"/>
            <a:ext cx="8686800" cy="548640"/>
          </a:xfrm>
          <a:prstGeom prst="rect">
            <a:avLst/>
          </a:prstGeom>
          <a:solidFill>
            <a:srgbClr val="F4E0D8"/>
          </a:solidFill>
          <a:ln w="12700">
            <a:solidFill>
              <a:srgbClr val="333333"/>
            </a:solidFill>
            <a:prstDash val="solid"/>
          </a:ln>
        </p:spPr>
      </p:sp>
      <p:sp>
        <p:nvSpPr>
          <p:cNvPr id="9" name="Text 7"/>
          <p:cNvSpPr/>
          <p:nvPr/>
        </p:nvSpPr>
        <p:spPr>
          <a:xfrm>
            <a:off x="566928" y="2148840"/>
            <a:ext cx="2651760" cy="256032"/>
          </a:xfrm>
          <a:prstGeom prst="rect">
            <a:avLst/>
          </a:prstGeom>
          <a:noFill/>
          <a:ln/>
        </p:spPr>
        <p:txBody>
          <a:bodyPr wrap="square" lIns="0" tIns="0" rIns="0" bIns="0" rtlCol="0" anchor="ctr"/>
          <a:lstStyle/>
          <a:p>
            <a:pPr indent="0" marL="0">
              <a:buNone/>
            </a:pPr>
            <a:r>
              <a:rPr lang="en-US" sz="1200" b="1" dirty="0">
                <a:solidFill>
                  <a:srgbClr val="C0492A"/>
                </a:solidFill>
                <a:latin typeface="Calibri" pitchFamily="34" charset="0"/>
                <a:ea typeface="Calibri" pitchFamily="34" charset="-122"/>
                <a:cs typeface="Calibri" pitchFamily="34" charset="-120"/>
              </a:rPr>
              <a:t>paraphrase</a:t>
            </a:r>
            <a:endParaRPr lang="en-US" sz="1200" dirty="0"/>
          </a:p>
        </p:txBody>
      </p:sp>
      <p:sp>
        <p:nvSpPr>
          <p:cNvPr id="10" name="Text 8"/>
          <p:cNvSpPr/>
          <p:nvPr/>
        </p:nvSpPr>
        <p:spPr>
          <a:xfrm>
            <a:off x="566928" y="2386584"/>
            <a:ext cx="2651760" cy="219456"/>
          </a:xfrm>
          <a:prstGeom prst="rect">
            <a:avLst/>
          </a:prstGeom>
          <a:noFill/>
          <a:ln/>
        </p:spPr>
        <p:txBody>
          <a:bodyPr wrap="square" lIns="0" tIns="0" rIns="0" bIns="0" rtlCol="0" anchor="ctr"/>
          <a:lstStyle/>
          <a:p>
            <a:pPr indent="0" marL="0">
              <a:buNone/>
            </a:pPr>
            <a:r>
              <a:rPr lang="en-US" sz="900" i="1" dirty="0">
                <a:solidFill>
                  <a:srgbClr val="6E7787"/>
                </a:solidFill>
                <a:latin typeface="Calibri" pitchFamily="34" charset="0"/>
                <a:ea typeface="Calibri" pitchFamily="34" charset="-122"/>
                <a:cs typeface="Calibri" pitchFamily="34" charset="-120"/>
              </a:rPr>
              <a:t>reworded, scheme name removed</a:t>
            </a:r>
            <a:endParaRPr lang="en-US" sz="900" dirty="0"/>
          </a:p>
        </p:txBody>
      </p:sp>
      <p:sp>
        <p:nvSpPr>
          <p:cNvPr id="11" name="Shape 9"/>
          <p:cNvSpPr/>
          <p:nvPr/>
        </p:nvSpPr>
        <p:spPr>
          <a:xfrm>
            <a:off x="3401568" y="2167128"/>
            <a:ext cx="4754880" cy="173736"/>
          </a:xfrm>
          <a:prstGeom prst="rect">
            <a:avLst/>
          </a:prstGeom>
          <a:solidFill>
            <a:srgbClr val="E4DED0"/>
          </a:solidFill>
          <a:ln w="12700">
            <a:solidFill>
              <a:srgbClr val="333333"/>
            </a:solidFill>
            <a:prstDash val="solid"/>
          </a:ln>
        </p:spPr>
      </p:sp>
      <p:sp>
        <p:nvSpPr>
          <p:cNvPr id="12" name="Shape 10"/>
          <p:cNvSpPr/>
          <p:nvPr/>
        </p:nvSpPr>
        <p:spPr>
          <a:xfrm>
            <a:off x="3401568" y="2167128"/>
            <a:ext cx="3962242" cy="173736"/>
          </a:xfrm>
          <a:prstGeom prst="rect">
            <a:avLst/>
          </a:prstGeom>
          <a:solidFill>
            <a:srgbClr val="C0492A"/>
          </a:solidFill>
          <a:ln w="12700">
            <a:solidFill>
              <a:srgbClr val="333333"/>
            </a:solidFill>
            <a:prstDash val="solid"/>
          </a:ln>
        </p:spPr>
      </p:sp>
      <p:sp>
        <p:nvSpPr>
          <p:cNvPr id="13" name="Shape 11"/>
          <p:cNvSpPr/>
          <p:nvPr/>
        </p:nvSpPr>
        <p:spPr>
          <a:xfrm>
            <a:off x="3401568" y="2386584"/>
            <a:ext cx="4754880" cy="173736"/>
          </a:xfrm>
          <a:prstGeom prst="rect">
            <a:avLst/>
          </a:prstGeom>
          <a:solidFill>
            <a:srgbClr val="E4DED0"/>
          </a:solidFill>
          <a:ln w="12700">
            <a:solidFill>
              <a:srgbClr val="333333"/>
            </a:solidFill>
            <a:prstDash val="solid"/>
          </a:ln>
        </p:spPr>
      </p:sp>
      <p:sp>
        <p:nvSpPr>
          <p:cNvPr id="14" name="Shape 12"/>
          <p:cNvSpPr/>
          <p:nvPr/>
        </p:nvSpPr>
        <p:spPr>
          <a:xfrm>
            <a:off x="3401568" y="2386584"/>
            <a:ext cx="1941418" cy="173736"/>
          </a:xfrm>
          <a:prstGeom prst="rect">
            <a:avLst/>
          </a:prstGeom>
          <a:solidFill>
            <a:srgbClr val="8A93A2"/>
          </a:solidFill>
          <a:ln w="12700">
            <a:solidFill>
              <a:srgbClr val="333333"/>
            </a:solidFill>
            <a:prstDash val="solid"/>
          </a:ln>
        </p:spPr>
      </p:sp>
      <p:sp>
        <p:nvSpPr>
          <p:cNvPr id="15" name="Text 13"/>
          <p:cNvSpPr/>
          <p:nvPr/>
        </p:nvSpPr>
        <p:spPr>
          <a:xfrm>
            <a:off x="8266176" y="2148840"/>
            <a:ext cx="685800" cy="219456"/>
          </a:xfrm>
          <a:prstGeom prst="rect">
            <a:avLst/>
          </a:prstGeom>
          <a:noFill/>
          <a:ln/>
        </p:spPr>
        <p:txBody>
          <a:bodyPr wrap="square" lIns="0" tIns="0" rIns="0" bIns="0" rtlCol="0" anchor="ctr"/>
          <a:lstStyle/>
          <a:p>
            <a:pPr indent="0" marL="0">
              <a:buNone/>
            </a:pPr>
            <a:r>
              <a:rPr lang="en-US" sz="950" b="1" dirty="0">
                <a:solidFill>
                  <a:srgbClr val="C0492A"/>
                </a:solidFill>
                <a:latin typeface="Calibri" pitchFamily="34" charset="0"/>
                <a:ea typeface="Calibri" pitchFamily="34" charset="-122"/>
                <a:cs typeface="Calibri" pitchFamily="34" charset="-120"/>
              </a:rPr>
              <a:t>0.833</a:t>
            </a:r>
            <a:endParaRPr lang="en-US" sz="950" dirty="0"/>
          </a:p>
        </p:txBody>
      </p:sp>
      <p:sp>
        <p:nvSpPr>
          <p:cNvPr id="16" name="Text 14"/>
          <p:cNvSpPr/>
          <p:nvPr/>
        </p:nvSpPr>
        <p:spPr>
          <a:xfrm>
            <a:off x="8266176" y="2368296"/>
            <a:ext cx="685800" cy="219456"/>
          </a:xfrm>
          <a:prstGeom prst="rect">
            <a:avLst/>
          </a:prstGeom>
          <a:noFill/>
          <a:ln/>
        </p:spPr>
        <p:txBody>
          <a:bodyPr wrap="square" lIns="0" tIns="0" rIns="0" bIns="0" rtlCol="0" anchor="ctr"/>
          <a:lstStyle/>
          <a:p>
            <a:pPr indent="0" marL="0">
              <a:buNone/>
            </a:pPr>
            <a:r>
              <a:rPr lang="en-US" sz="950" dirty="0">
                <a:solidFill>
                  <a:srgbClr val="6E7787"/>
                </a:solidFill>
                <a:latin typeface="Calibri" pitchFamily="34" charset="0"/>
                <a:ea typeface="Calibri" pitchFamily="34" charset="-122"/>
                <a:cs typeface="Calibri" pitchFamily="34" charset="-120"/>
              </a:rPr>
              <a:t>0.408</a:t>
            </a:r>
            <a:endParaRPr lang="en-US" sz="950" dirty="0"/>
          </a:p>
        </p:txBody>
      </p:sp>
      <p:sp>
        <p:nvSpPr>
          <p:cNvPr id="17" name="Text 15"/>
          <p:cNvSpPr/>
          <p:nvPr/>
        </p:nvSpPr>
        <p:spPr>
          <a:xfrm>
            <a:off x="566928" y="2715768"/>
            <a:ext cx="2651760" cy="256032"/>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exact lookup</a:t>
            </a:r>
            <a:endParaRPr lang="en-US" sz="1200" dirty="0"/>
          </a:p>
        </p:txBody>
      </p:sp>
      <p:sp>
        <p:nvSpPr>
          <p:cNvPr id="18" name="Text 16"/>
          <p:cNvSpPr/>
          <p:nvPr/>
        </p:nvSpPr>
        <p:spPr>
          <a:xfrm>
            <a:off x="566928" y="2953512"/>
            <a:ext cx="2651760" cy="219456"/>
          </a:xfrm>
          <a:prstGeom prst="rect">
            <a:avLst/>
          </a:prstGeom>
          <a:noFill/>
          <a:ln/>
        </p:spPr>
        <p:txBody>
          <a:bodyPr wrap="square" lIns="0" tIns="0" rIns="0" bIns="0" rtlCol="0" anchor="ctr"/>
          <a:lstStyle/>
          <a:p>
            <a:pPr indent="0" marL="0">
              <a:buNone/>
            </a:pPr>
            <a:r>
              <a:rPr lang="en-US" sz="900" i="1" dirty="0">
                <a:solidFill>
                  <a:srgbClr val="6E7787"/>
                </a:solidFill>
                <a:latin typeface="Calibri" pitchFamily="34" charset="0"/>
                <a:ea typeface="Calibri" pitchFamily="34" charset="-122"/>
                <a:cs typeface="Calibri" pitchFamily="34" charset="-120"/>
              </a:rPr>
              <a:t>a specific stated figure</a:t>
            </a:r>
            <a:endParaRPr lang="en-US" sz="900" dirty="0"/>
          </a:p>
        </p:txBody>
      </p:sp>
      <p:sp>
        <p:nvSpPr>
          <p:cNvPr id="19" name="Shape 17"/>
          <p:cNvSpPr/>
          <p:nvPr/>
        </p:nvSpPr>
        <p:spPr>
          <a:xfrm>
            <a:off x="3401568" y="2734056"/>
            <a:ext cx="4754880" cy="173736"/>
          </a:xfrm>
          <a:prstGeom prst="rect">
            <a:avLst/>
          </a:prstGeom>
          <a:solidFill>
            <a:srgbClr val="E4DED0"/>
          </a:solidFill>
          <a:ln w="12700">
            <a:solidFill>
              <a:srgbClr val="333333"/>
            </a:solidFill>
            <a:prstDash val="solid"/>
          </a:ln>
        </p:spPr>
      </p:sp>
      <p:sp>
        <p:nvSpPr>
          <p:cNvPr id="20" name="Shape 18"/>
          <p:cNvSpPr/>
          <p:nvPr/>
        </p:nvSpPr>
        <p:spPr>
          <a:xfrm>
            <a:off x="3401568" y="2734056"/>
            <a:ext cx="4754880" cy="173736"/>
          </a:xfrm>
          <a:prstGeom prst="rect">
            <a:avLst/>
          </a:prstGeom>
          <a:solidFill>
            <a:srgbClr val="C0492A"/>
          </a:solidFill>
          <a:ln w="12700">
            <a:solidFill>
              <a:srgbClr val="333333"/>
            </a:solidFill>
            <a:prstDash val="solid"/>
          </a:ln>
        </p:spPr>
      </p:sp>
      <p:sp>
        <p:nvSpPr>
          <p:cNvPr id="21" name="Shape 19"/>
          <p:cNvSpPr/>
          <p:nvPr/>
        </p:nvSpPr>
        <p:spPr>
          <a:xfrm>
            <a:off x="3401568" y="2953512"/>
            <a:ext cx="4754880" cy="173736"/>
          </a:xfrm>
          <a:prstGeom prst="rect">
            <a:avLst/>
          </a:prstGeom>
          <a:solidFill>
            <a:srgbClr val="E4DED0"/>
          </a:solidFill>
          <a:ln w="12700">
            <a:solidFill>
              <a:srgbClr val="333333"/>
            </a:solidFill>
            <a:prstDash val="solid"/>
          </a:ln>
        </p:spPr>
      </p:sp>
      <p:sp>
        <p:nvSpPr>
          <p:cNvPr id="22" name="Shape 20"/>
          <p:cNvSpPr/>
          <p:nvPr/>
        </p:nvSpPr>
        <p:spPr>
          <a:xfrm>
            <a:off x="3401568" y="2953512"/>
            <a:ext cx="4121054" cy="173736"/>
          </a:xfrm>
          <a:prstGeom prst="rect">
            <a:avLst/>
          </a:prstGeom>
          <a:solidFill>
            <a:srgbClr val="8A93A2"/>
          </a:solidFill>
          <a:ln w="12700">
            <a:solidFill>
              <a:srgbClr val="333333"/>
            </a:solidFill>
            <a:prstDash val="solid"/>
          </a:ln>
        </p:spPr>
      </p:sp>
      <p:sp>
        <p:nvSpPr>
          <p:cNvPr id="23" name="Text 21"/>
          <p:cNvSpPr/>
          <p:nvPr/>
        </p:nvSpPr>
        <p:spPr>
          <a:xfrm>
            <a:off x="8266176" y="2715768"/>
            <a:ext cx="685800" cy="219456"/>
          </a:xfrm>
          <a:prstGeom prst="rect">
            <a:avLst/>
          </a:prstGeom>
          <a:noFill/>
          <a:ln/>
        </p:spPr>
        <p:txBody>
          <a:bodyPr wrap="square" lIns="0" tIns="0" rIns="0" bIns="0" rtlCol="0" anchor="ctr"/>
          <a:lstStyle/>
          <a:p>
            <a:pPr indent="0" marL="0">
              <a:buNone/>
            </a:pPr>
            <a:r>
              <a:rPr lang="en-US" sz="950" b="1" dirty="0">
                <a:solidFill>
                  <a:srgbClr val="C0492A"/>
                </a:solidFill>
                <a:latin typeface="Calibri" pitchFamily="34" charset="0"/>
                <a:ea typeface="Calibri" pitchFamily="34" charset="-122"/>
                <a:cs typeface="Calibri" pitchFamily="34" charset="-120"/>
              </a:rPr>
              <a:t>1.000</a:t>
            </a:r>
            <a:endParaRPr lang="en-US" sz="950" dirty="0"/>
          </a:p>
        </p:txBody>
      </p:sp>
      <p:sp>
        <p:nvSpPr>
          <p:cNvPr id="24" name="Text 22"/>
          <p:cNvSpPr/>
          <p:nvPr/>
        </p:nvSpPr>
        <p:spPr>
          <a:xfrm>
            <a:off x="8266176" y="2935224"/>
            <a:ext cx="685800" cy="219456"/>
          </a:xfrm>
          <a:prstGeom prst="rect">
            <a:avLst/>
          </a:prstGeom>
          <a:noFill/>
          <a:ln/>
        </p:spPr>
        <p:txBody>
          <a:bodyPr wrap="square" lIns="0" tIns="0" rIns="0" bIns="0" rtlCol="0" anchor="ctr"/>
          <a:lstStyle/>
          <a:p>
            <a:pPr indent="0" marL="0">
              <a:buNone/>
            </a:pPr>
            <a:r>
              <a:rPr lang="en-US" sz="950" dirty="0">
                <a:solidFill>
                  <a:srgbClr val="6E7787"/>
                </a:solidFill>
                <a:latin typeface="Calibri" pitchFamily="34" charset="0"/>
                <a:ea typeface="Calibri" pitchFamily="34" charset="-122"/>
                <a:cs typeface="Calibri" pitchFamily="34" charset="-120"/>
              </a:rPr>
              <a:t>0.867</a:t>
            </a:r>
            <a:endParaRPr lang="en-US" sz="950" dirty="0"/>
          </a:p>
        </p:txBody>
      </p:sp>
      <p:sp>
        <p:nvSpPr>
          <p:cNvPr id="25" name="Text 23"/>
          <p:cNvSpPr/>
          <p:nvPr/>
        </p:nvSpPr>
        <p:spPr>
          <a:xfrm>
            <a:off x="566928" y="3282696"/>
            <a:ext cx="2651760" cy="256032"/>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terminology</a:t>
            </a:r>
            <a:endParaRPr lang="en-US" sz="1200" dirty="0"/>
          </a:p>
        </p:txBody>
      </p:sp>
      <p:sp>
        <p:nvSpPr>
          <p:cNvPr id="26" name="Text 24"/>
          <p:cNvSpPr/>
          <p:nvPr/>
        </p:nvSpPr>
        <p:spPr>
          <a:xfrm>
            <a:off x="566928" y="3520440"/>
            <a:ext cx="2651760" cy="219456"/>
          </a:xfrm>
          <a:prstGeom prst="rect">
            <a:avLst/>
          </a:prstGeom>
          <a:noFill/>
          <a:ln/>
        </p:spPr>
        <p:txBody>
          <a:bodyPr wrap="square" lIns="0" tIns="0" rIns="0" bIns="0" rtlCol="0" anchor="ctr"/>
          <a:lstStyle/>
          <a:p>
            <a:pPr indent="0" marL="0">
              <a:buNone/>
            </a:pPr>
            <a:r>
              <a:rPr lang="en-US" sz="900" i="1" dirty="0">
                <a:solidFill>
                  <a:srgbClr val="6E7787"/>
                </a:solidFill>
                <a:latin typeface="Calibri" pitchFamily="34" charset="0"/>
                <a:ea typeface="Calibri" pitchFamily="34" charset="-122"/>
                <a:cs typeface="Calibri" pitchFamily="34" charset="-120"/>
              </a:rPr>
              <a:t>acronym expansion</a:t>
            </a:r>
            <a:endParaRPr lang="en-US" sz="900" dirty="0"/>
          </a:p>
        </p:txBody>
      </p:sp>
      <p:sp>
        <p:nvSpPr>
          <p:cNvPr id="27" name="Shape 25"/>
          <p:cNvSpPr/>
          <p:nvPr/>
        </p:nvSpPr>
        <p:spPr>
          <a:xfrm>
            <a:off x="3401568" y="3300984"/>
            <a:ext cx="4754880" cy="173736"/>
          </a:xfrm>
          <a:prstGeom prst="rect">
            <a:avLst/>
          </a:prstGeom>
          <a:solidFill>
            <a:srgbClr val="E4DED0"/>
          </a:solidFill>
          <a:ln w="12700">
            <a:solidFill>
              <a:srgbClr val="333333"/>
            </a:solidFill>
            <a:prstDash val="solid"/>
          </a:ln>
        </p:spPr>
      </p:sp>
      <p:sp>
        <p:nvSpPr>
          <p:cNvPr id="28" name="Shape 26"/>
          <p:cNvSpPr/>
          <p:nvPr/>
        </p:nvSpPr>
        <p:spPr>
          <a:xfrm>
            <a:off x="3401568" y="3300984"/>
            <a:ext cx="4358798" cy="173736"/>
          </a:xfrm>
          <a:prstGeom prst="rect">
            <a:avLst/>
          </a:prstGeom>
          <a:solidFill>
            <a:srgbClr val="C0492A"/>
          </a:solidFill>
          <a:ln w="12700">
            <a:solidFill>
              <a:srgbClr val="333333"/>
            </a:solidFill>
            <a:prstDash val="solid"/>
          </a:ln>
        </p:spPr>
      </p:sp>
      <p:sp>
        <p:nvSpPr>
          <p:cNvPr id="29" name="Shape 27"/>
          <p:cNvSpPr/>
          <p:nvPr/>
        </p:nvSpPr>
        <p:spPr>
          <a:xfrm>
            <a:off x="3401568" y="3520440"/>
            <a:ext cx="4754880" cy="173736"/>
          </a:xfrm>
          <a:prstGeom prst="rect">
            <a:avLst/>
          </a:prstGeom>
          <a:solidFill>
            <a:srgbClr val="E4DED0"/>
          </a:solidFill>
          <a:ln w="12700">
            <a:solidFill>
              <a:srgbClr val="333333"/>
            </a:solidFill>
            <a:prstDash val="solid"/>
          </a:ln>
        </p:spPr>
      </p:sp>
      <p:sp>
        <p:nvSpPr>
          <p:cNvPr id="30" name="Shape 28"/>
          <p:cNvSpPr/>
          <p:nvPr/>
        </p:nvSpPr>
        <p:spPr>
          <a:xfrm>
            <a:off x="3401568" y="3520440"/>
            <a:ext cx="4358798" cy="173736"/>
          </a:xfrm>
          <a:prstGeom prst="rect">
            <a:avLst/>
          </a:prstGeom>
          <a:solidFill>
            <a:srgbClr val="8A93A2"/>
          </a:solidFill>
          <a:ln w="12700">
            <a:solidFill>
              <a:srgbClr val="333333"/>
            </a:solidFill>
            <a:prstDash val="solid"/>
          </a:ln>
        </p:spPr>
      </p:sp>
      <p:sp>
        <p:nvSpPr>
          <p:cNvPr id="31" name="Text 29"/>
          <p:cNvSpPr/>
          <p:nvPr/>
        </p:nvSpPr>
        <p:spPr>
          <a:xfrm>
            <a:off x="8266176" y="3282696"/>
            <a:ext cx="685800" cy="219456"/>
          </a:xfrm>
          <a:prstGeom prst="rect">
            <a:avLst/>
          </a:prstGeom>
          <a:noFill/>
          <a:ln/>
        </p:spPr>
        <p:txBody>
          <a:bodyPr wrap="square" lIns="0" tIns="0" rIns="0" bIns="0" rtlCol="0" anchor="ctr"/>
          <a:lstStyle/>
          <a:p>
            <a:pPr indent="0" marL="0">
              <a:buNone/>
            </a:pPr>
            <a:r>
              <a:rPr lang="en-US" sz="950" b="1" dirty="0">
                <a:solidFill>
                  <a:srgbClr val="C0492A"/>
                </a:solidFill>
                <a:latin typeface="Calibri" pitchFamily="34" charset="0"/>
                <a:ea typeface="Calibri" pitchFamily="34" charset="-122"/>
                <a:cs typeface="Calibri" pitchFamily="34" charset="-120"/>
              </a:rPr>
              <a:t>0.917</a:t>
            </a:r>
            <a:endParaRPr lang="en-US" sz="950" dirty="0"/>
          </a:p>
        </p:txBody>
      </p:sp>
      <p:sp>
        <p:nvSpPr>
          <p:cNvPr id="32" name="Text 30"/>
          <p:cNvSpPr/>
          <p:nvPr/>
        </p:nvSpPr>
        <p:spPr>
          <a:xfrm>
            <a:off x="8266176" y="3502152"/>
            <a:ext cx="685800" cy="219456"/>
          </a:xfrm>
          <a:prstGeom prst="rect">
            <a:avLst/>
          </a:prstGeom>
          <a:noFill/>
          <a:ln/>
        </p:spPr>
        <p:txBody>
          <a:bodyPr wrap="square" lIns="0" tIns="0" rIns="0" bIns="0" rtlCol="0" anchor="ctr"/>
          <a:lstStyle/>
          <a:p>
            <a:pPr indent="0" marL="0">
              <a:buNone/>
            </a:pPr>
            <a:r>
              <a:rPr lang="en-US" sz="950" dirty="0">
                <a:solidFill>
                  <a:srgbClr val="6E7787"/>
                </a:solidFill>
                <a:latin typeface="Calibri" pitchFamily="34" charset="0"/>
                <a:ea typeface="Calibri" pitchFamily="34" charset="-122"/>
                <a:cs typeface="Calibri" pitchFamily="34" charset="-120"/>
              </a:rPr>
              <a:t>0.917</a:t>
            </a:r>
            <a:endParaRPr lang="en-US" sz="950" dirty="0"/>
          </a:p>
        </p:txBody>
      </p:sp>
      <p:sp>
        <p:nvSpPr>
          <p:cNvPr id="33" name="Text 31"/>
          <p:cNvSpPr/>
          <p:nvPr/>
        </p:nvSpPr>
        <p:spPr>
          <a:xfrm>
            <a:off x="566928" y="3849624"/>
            <a:ext cx="2651760" cy="256032"/>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entity relation</a:t>
            </a:r>
            <a:endParaRPr lang="en-US" sz="1200" dirty="0"/>
          </a:p>
        </p:txBody>
      </p:sp>
      <p:sp>
        <p:nvSpPr>
          <p:cNvPr id="34" name="Text 32"/>
          <p:cNvSpPr/>
          <p:nvPr/>
        </p:nvSpPr>
        <p:spPr>
          <a:xfrm>
            <a:off x="566928" y="4087368"/>
            <a:ext cx="2651760" cy="219456"/>
          </a:xfrm>
          <a:prstGeom prst="rect">
            <a:avLst/>
          </a:prstGeom>
          <a:noFill/>
          <a:ln/>
        </p:spPr>
        <p:txBody>
          <a:bodyPr wrap="square" lIns="0" tIns="0" rIns="0" bIns="0" rtlCol="0" anchor="ctr"/>
          <a:lstStyle/>
          <a:p>
            <a:pPr indent="0" marL="0">
              <a:buNone/>
            </a:pPr>
            <a:r>
              <a:rPr lang="en-US" sz="900" i="1" dirty="0">
                <a:solidFill>
                  <a:srgbClr val="6E7787"/>
                </a:solidFill>
                <a:latin typeface="Calibri" pitchFamily="34" charset="0"/>
                <a:ea typeface="Calibri" pitchFamily="34" charset="-122"/>
                <a:cs typeface="Calibri" pitchFamily="34" charset="-120"/>
              </a:rPr>
              <a:t>who does what</a:t>
            </a:r>
            <a:endParaRPr lang="en-US" sz="900" dirty="0"/>
          </a:p>
        </p:txBody>
      </p:sp>
      <p:sp>
        <p:nvSpPr>
          <p:cNvPr id="35" name="Shape 33"/>
          <p:cNvSpPr/>
          <p:nvPr/>
        </p:nvSpPr>
        <p:spPr>
          <a:xfrm>
            <a:off x="3401568" y="3867912"/>
            <a:ext cx="4754880" cy="173736"/>
          </a:xfrm>
          <a:prstGeom prst="rect">
            <a:avLst/>
          </a:prstGeom>
          <a:solidFill>
            <a:srgbClr val="E4DED0"/>
          </a:solidFill>
          <a:ln w="12700">
            <a:solidFill>
              <a:srgbClr val="333333"/>
            </a:solidFill>
            <a:prstDash val="solid"/>
          </a:ln>
        </p:spPr>
      </p:sp>
      <p:sp>
        <p:nvSpPr>
          <p:cNvPr id="36" name="Shape 34"/>
          <p:cNvSpPr/>
          <p:nvPr/>
        </p:nvSpPr>
        <p:spPr>
          <a:xfrm>
            <a:off x="3401568" y="3867912"/>
            <a:ext cx="4754880" cy="173736"/>
          </a:xfrm>
          <a:prstGeom prst="rect">
            <a:avLst/>
          </a:prstGeom>
          <a:solidFill>
            <a:srgbClr val="C0492A"/>
          </a:solidFill>
          <a:ln w="12700">
            <a:solidFill>
              <a:srgbClr val="333333"/>
            </a:solidFill>
            <a:prstDash val="solid"/>
          </a:ln>
        </p:spPr>
      </p:sp>
      <p:sp>
        <p:nvSpPr>
          <p:cNvPr id="37" name="Shape 35"/>
          <p:cNvSpPr/>
          <p:nvPr/>
        </p:nvSpPr>
        <p:spPr>
          <a:xfrm>
            <a:off x="3401568" y="4087368"/>
            <a:ext cx="4754880" cy="173736"/>
          </a:xfrm>
          <a:prstGeom prst="rect">
            <a:avLst/>
          </a:prstGeom>
          <a:solidFill>
            <a:srgbClr val="E4DED0"/>
          </a:solidFill>
          <a:ln w="12700">
            <a:solidFill>
              <a:srgbClr val="333333"/>
            </a:solidFill>
            <a:prstDash val="solid"/>
          </a:ln>
        </p:spPr>
      </p:sp>
      <p:sp>
        <p:nvSpPr>
          <p:cNvPr id="38" name="Shape 36"/>
          <p:cNvSpPr/>
          <p:nvPr/>
        </p:nvSpPr>
        <p:spPr>
          <a:xfrm>
            <a:off x="3401568" y="4087368"/>
            <a:ext cx="4358798" cy="173736"/>
          </a:xfrm>
          <a:prstGeom prst="rect">
            <a:avLst/>
          </a:prstGeom>
          <a:solidFill>
            <a:srgbClr val="8A93A2"/>
          </a:solidFill>
          <a:ln w="12700">
            <a:solidFill>
              <a:srgbClr val="333333"/>
            </a:solidFill>
            <a:prstDash val="solid"/>
          </a:ln>
        </p:spPr>
      </p:sp>
      <p:sp>
        <p:nvSpPr>
          <p:cNvPr id="39" name="Text 37"/>
          <p:cNvSpPr/>
          <p:nvPr/>
        </p:nvSpPr>
        <p:spPr>
          <a:xfrm>
            <a:off x="8266176" y="3849624"/>
            <a:ext cx="685800" cy="219456"/>
          </a:xfrm>
          <a:prstGeom prst="rect">
            <a:avLst/>
          </a:prstGeom>
          <a:noFill/>
          <a:ln/>
        </p:spPr>
        <p:txBody>
          <a:bodyPr wrap="square" lIns="0" tIns="0" rIns="0" bIns="0" rtlCol="0" anchor="ctr"/>
          <a:lstStyle/>
          <a:p>
            <a:pPr indent="0" marL="0">
              <a:buNone/>
            </a:pPr>
            <a:r>
              <a:rPr lang="en-US" sz="950" b="1" dirty="0">
                <a:solidFill>
                  <a:srgbClr val="C0492A"/>
                </a:solidFill>
                <a:latin typeface="Calibri" pitchFamily="34" charset="0"/>
                <a:ea typeface="Calibri" pitchFamily="34" charset="-122"/>
                <a:cs typeface="Calibri" pitchFamily="34" charset="-120"/>
              </a:rPr>
              <a:t>1.000</a:t>
            </a:r>
            <a:endParaRPr lang="en-US" sz="950" dirty="0"/>
          </a:p>
        </p:txBody>
      </p:sp>
      <p:sp>
        <p:nvSpPr>
          <p:cNvPr id="40" name="Text 38"/>
          <p:cNvSpPr/>
          <p:nvPr/>
        </p:nvSpPr>
        <p:spPr>
          <a:xfrm>
            <a:off x="8266176" y="4069080"/>
            <a:ext cx="685800" cy="219456"/>
          </a:xfrm>
          <a:prstGeom prst="rect">
            <a:avLst/>
          </a:prstGeom>
          <a:noFill/>
          <a:ln/>
        </p:spPr>
        <p:txBody>
          <a:bodyPr wrap="square" lIns="0" tIns="0" rIns="0" bIns="0" rtlCol="0" anchor="ctr"/>
          <a:lstStyle/>
          <a:p>
            <a:pPr indent="0" marL="0">
              <a:buNone/>
            </a:pPr>
            <a:r>
              <a:rPr lang="en-US" sz="950" dirty="0">
                <a:solidFill>
                  <a:srgbClr val="6E7787"/>
                </a:solidFill>
                <a:latin typeface="Calibri" pitchFamily="34" charset="0"/>
                <a:ea typeface="Calibri" pitchFamily="34" charset="-122"/>
                <a:cs typeface="Calibri" pitchFamily="34" charset="-120"/>
              </a:rPr>
              <a:t>0.917</a:t>
            </a:r>
            <a:endParaRPr lang="en-US" sz="950" dirty="0"/>
          </a:p>
        </p:txBody>
      </p:sp>
      <p:sp>
        <p:nvSpPr>
          <p:cNvPr id="41" name="Text 39"/>
          <p:cNvSpPr/>
          <p:nvPr/>
        </p:nvSpPr>
        <p:spPr>
          <a:xfrm>
            <a:off x="566928" y="4416552"/>
            <a:ext cx="2651760" cy="256032"/>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multi-hop</a:t>
            </a:r>
            <a:endParaRPr lang="en-US" sz="1200" dirty="0"/>
          </a:p>
        </p:txBody>
      </p:sp>
      <p:sp>
        <p:nvSpPr>
          <p:cNvPr id="42" name="Text 40"/>
          <p:cNvSpPr/>
          <p:nvPr/>
        </p:nvSpPr>
        <p:spPr>
          <a:xfrm>
            <a:off x="566928" y="4654296"/>
            <a:ext cx="2651760" cy="219456"/>
          </a:xfrm>
          <a:prstGeom prst="rect">
            <a:avLst/>
          </a:prstGeom>
          <a:noFill/>
          <a:ln/>
        </p:spPr>
        <p:txBody>
          <a:bodyPr wrap="square" lIns="0" tIns="0" rIns="0" bIns="0" rtlCol="0" anchor="ctr"/>
          <a:lstStyle/>
          <a:p>
            <a:pPr indent="0" marL="0">
              <a:buNone/>
            </a:pPr>
            <a:r>
              <a:rPr lang="en-US" sz="900" i="1" dirty="0">
                <a:solidFill>
                  <a:srgbClr val="6E7787"/>
                </a:solidFill>
                <a:latin typeface="Calibri" pitchFamily="34" charset="0"/>
                <a:ea typeface="Calibri" pitchFamily="34" charset="-122"/>
                <a:cs typeface="Calibri" pitchFamily="34" charset="-120"/>
              </a:rPr>
              <a:t>evidence in two documents</a:t>
            </a:r>
            <a:endParaRPr lang="en-US" sz="900" dirty="0"/>
          </a:p>
        </p:txBody>
      </p:sp>
      <p:sp>
        <p:nvSpPr>
          <p:cNvPr id="43" name="Shape 41"/>
          <p:cNvSpPr/>
          <p:nvPr/>
        </p:nvSpPr>
        <p:spPr>
          <a:xfrm>
            <a:off x="3401568" y="4434840"/>
            <a:ext cx="4754880" cy="173736"/>
          </a:xfrm>
          <a:prstGeom prst="rect">
            <a:avLst/>
          </a:prstGeom>
          <a:solidFill>
            <a:srgbClr val="E4DED0"/>
          </a:solidFill>
          <a:ln w="12700">
            <a:solidFill>
              <a:srgbClr val="333333"/>
            </a:solidFill>
            <a:prstDash val="solid"/>
          </a:ln>
        </p:spPr>
      </p:sp>
      <p:sp>
        <p:nvSpPr>
          <p:cNvPr id="44" name="Shape 42"/>
          <p:cNvSpPr/>
          <p:nvPr/>
        </p:nvSpPr>
        <p:spPr>
          <a:xfrm>
            <a:off x="3401568" y="4434840"/>
            <a:ext cx="4754880" cy="173736"/>
          </a:xfrm>
          <a:prstGeom prst="rect">
            <a:avLst/>
          </a:prstGeom>
          <a:solidFill>
            <a:srgbClr val="C0492A"/>
          </a:solidFill>
          <a:ln w="12700">
            <a:solidFill>
              <a:srgbClr val="333333"/>
            </a:solidFill>
            <a:prstDash val="solid"/>
          </a:ln>
        </p:spPr>
      </p:sp>
      <p:sp>
        <p:nvSpPr>
          <p:cNvPr id="45" name="Shape 43"/>
          <p:cNvSpPr/>
          <p:nvPr/>
        </p:nvSpPr>
        <p:spPr>
          <a:xfrm>
            <a:off x="3401568" y="4654296"/>
            <a:ext cx="4754880" cy="173736"/>
          </a:xfrm>
          <a:prstGeom prst="rect">
            <a:avLst/>
          </a:prstGeom>
          <a:solidFill>
            <a:srgbClr val="E4DED0"/>
          </a:solidFill>
          <a:ln w="12700">
            <a:solidFill>
              <a:srgbClr val="333333"/>
            </a:solidFill>
            <a:prstDash val="solid"/>
          </a:ln>
        </p:spPr>
      </p:sp>
      <p:sp>
        <p:nvSpPr>
          <p:cNvPr id="46" name="Shape 44"/>
          <p:cNvSpPr/>
          <p:nvPr/>
        </p:nvSpPr>
        <p:spPr>
          <a:xfrm>
            <a:off x="3401568" y="4654296"/>
            <a:ext cx="4358798" cy="173736"/>
          </a:xfrm>
          <a:prstGeom prst="rect">
            <a:avLst/>
          </a:prstGeom>
          <a:solidFill>
            <a:srgbClr val="8A93A2"/>
          </a:solidFill>
          <a:ln w="12700">
            <a:solidFill>
              <a:srgbClr val="333333"/>
            </a:solidFill>
            <a:prstDash val="solid"/>
          </a:ln>
        </p:spPr>
      </p:sp>
      <p:sp>
        <p:nvSpPr>
          <p:cNvPr id="47" name="Text 45"/>
          <p:cNvSpPr/>
          <p:nvPr/>
        </p:nvSpPr>
        <p:spPr>
          <a:xfrm>
            <a:off x="8266176" y="4416552"/>
            <a:ext cx="685800" cy="219456"/>
          </a:xfrm>
          <a:prstGeom prst="rect">
            <a:avLst/>
          </a:prstGeom>
          <a:noFill/>
          <a:ln/>
        </p:spPr>
        <p:txBody>
          <a:bodyPr wrap="square" lIns="0" tIns="0" rIns="0" bIns="0" rtlCol="0" anchor="ctr"/>
          <a:lstStyle/>
          <a:p>
            <a:pPr indent="0" marL="0">
              <a:buNone/>
            </a:pPr>
            <a:r>
              <a:rPr lang="en-US" sz="950" b="1" dirty="0">
                <a:solidFill>
                  <a:srgbClr val="C0492A"/>
                </a:solidFill>
                <a:latin typeface="Calibri" pitchFamily="34" charset="0"/>
                <a:ea typeface="Calibri" pitchFamily="34" charset="-122"/>
                <a:cs typeface="Calibri" pitchFamily="34" charset="-120"/>
              </a:rPr>
              <a:t>1.000</a:t>
            </a:r>
            <a:endParaRPr lang="en-US" sz="950" dirty="0"/>
          </a:p>
        </p:txBody>
      </p:sp>
      <p:sp>
        <p:nvSpPr>
          <p:cNvPr id="48" name="Text 46"/>
          <p:cNvSpPr/>
          <p:nvPr/>
        </p:nvSpPr>
        <p:spPr>
          <a:xfrm>
            <a:off x="8266176" y="4636008"/>
            <a:ext cx="685800" cy="219456"/>
          </a:xfrm>
          <a:prstGeom prst="rect">
            <a:avLst/>
          </a:prstGeom>
          <a:noFill/>
          <a:ln/>
        </p:spPr>
        <p:txBody>
          <a:bodyPr wrap="square" lIns="0" tIns="0" rIns="0" bIns="0" rtlCol="0" anchor="ctr"/>
          <a:lstStyle/>
          <a:p>
            <a:pPr indent="0" marL="0">
              <a:buNone/>
            </a:pPr>
            <a:r>
              <a:rPr lang="en-US" sz="950" dirty="0">
                <a:solidFill>
                  <a:srgbClr val="6E7787"/>
                </a:solidFill>
                <a:latin typeface="Calibri" pitchFamily="34" charset="0"/>
                <a:ea typeface="Calibri" pitchFamily="34" charset="-122"/>
                <a:cs typeface="Calibri" pitchFamily="34" charset="-120"/>
              </a:rPr>
              <a:t>0.917</a:t>
            </a:r>
            <a:endParaRPr lang="en-US" sz="950" dirty="0"/>
          </a:p>
        </p:txBody>
      </p:sp>
      <p:sp>
        <p:nvSpPr>
          <p:cNvPr id="49" name="Text 47"/>
          <p:cNvSpPr/>
          <p:nvPr/>
        </p:nvSpPr>
        <p:spPr>
          <a:xfrm>
            <a:off x="566928" y="4983480"/>
            <a:ext cx="2651760" cy="256032"/>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synthesis</a:t>
            </a:r>
            <a:endParaRPr lang="en-US" sz="1200" dirty="0"/>
          </a:p>
        </p:txBody>
      </p:sp>
      <p:sp>
        <p:nvSpPr>
          <p:cNvPr id="50" name="Text 48"/>
          <p:cNvSpPr/>
          <p:nvPr/>
        </p:nvSpPr>
        <p:spPr>
          <a:xfrm>
            <a:off x="566928" y="5221224"/>
            <a:ext cx="2651760" cy="219456"/>
          </a:xfrm>
          <a:prstGeom prst="rect">
            <a:avLst/>
          </a:prstGeom>
          <a:noFill/>
          <a:ln/>
        </p:spPr>
        <p:txBody>
          <a:bodyPr wrap="square" lIns="0" tIns="0" rIns="0" bIns="0" rtlCol="0" anchor="ctr"/>
          <a:lstStyle/>
          <a:p>
            <a:pPr indent="0" marL="0">
              <a:buNone/>
            </a:pPr>
            <a:r>
              <a:rPr lang="en-US" sz="900" i="1" dirty="0">
                <a:solidFill>
                  <a:srgbClr val="6E7787"/>
                </a:solidFill>
                <a:latin typeface="Calibri" pitchFamily="34" charset="0"/>
                <a:ea typeface="Calibri" pitchFamily="34" charset="-122"/>
                <a:cs typeface="Calibri" pitchFamily="34" charset="-120"/>
              </a:rPr>
              <a:t>across several schemes</a:t>
            </a:r>
            <a:endParaRPr lang="en-US" sz="900" dirty="0"/>
          </a:p>
        </p:txBody>
      </p:sp>
      <p:sp>
        <p:nvSpPr>
          <p:cNvPr id="51" name="Shape 49"/>
          <p:cNvSpPr/>
          <p:nvPr/>
        </p:nvSpPr>
        <p:spPr>
          <a:xfrm>
            <a:off x="3401568" y="5001768"/>
            <a:ext cx="4754880" cy="173736"/>
          </a:xfrm>
          <a:prstGeom prst="rect">
            <a:avLst/>
          </a:prstGeom>
          <a:solidFill>
            <a:srgbClr val="E4DED0"/>
          </a:solidFill>
          <a:ln w="12700">
            <a:solidFill>
              <a:srgbClr val="333333"/>
            </a:solidFill>
            <a:prstDash val="solid"/>
          </a:ln>
        </p:spPr>
      </p:sp>
      <p:sp>
        <p:nvSpPr>
          <p:cNvPr id="52" name="Shape 50"/>
          <p:cNvSpPr/>
          <p:nvPr/>
        </p:nvSpPr>
        <p:spPr>
          <a:xfrm>
            <a:off x="3401568" y="5001768"/>
            <a:ext cx="4160520" cy="173736"/>
          </a:xfrm>
          <a:prstGeom prst="rect">
            <a:avLst/>
          </a:prstGeom>
          <a:solidFill>
            <a:srgbClr val="C0492A"/>
          </a:solidFill>
          <a:ln w="12700">
            <a:solidFill>
              <a:srgbClr val="333333"/>
            </a:solidFill>
            <a:prstDash val="solid"/>
          </a:ln>
        </p:spPr>
      </p:sp>
      <p:sp>
        <p:nvSpPr>
          <p:cNvPr id="53" name="Shape 51"/>
          <p:cNvSpPr/>
          <p:nvPr/>
        </p:nvSpPr>
        <p:spPr>
          <a:xfrm>
            <a:off x="3401568" y="5221224"/>
            <a:ext cx="4754880" cy="173736"/>
          </a:xfrm>
          <a:prstGeom prst="rect">
            <a:avLst/>
          </a:prstGeom>
          <a:solidFill>
            <a:srgbClr val="E4DED0"/>
          </a:solidFill>
          <a:ln w="12700">
            <a:solidFill>
              <a:srgbClr val="333333"/>
            </a:solidFill>
            <a:prstDash val="solid"/>
          </a:ln>
        </p:spPr>
      </p:sp>
      <p:sp>
        <p:nvSpPr>
          <p:cNvPr id="54" name="Shape 52"/>
          <p:cNvSpPr/>
          <p:nvPr/>
        </p:nvSpPr>
        <p:spPr>
          <a:xfrm>
            <a:off x="3401568" y="5221224"/>
            <a:ext cx="4754880" cy="173736"/>
          </a:xfrm>
          <a:prstGeom prst="rect">
            <a:avLst/>
          </a:prstGeom>
          <a:solidFill>
            <a:srgbClr val="8A93A2"/>
          </a:solidFill>
          <a:ln w="12700">
            <a:solidFill>
              <a:srgbClr val="333333"/>
            </a:solidFill>
            <a:prstDash val="solid"/>
          </a:ln>
        </p:spPr>
      </p:sp>
      <p:sp>
        <p:nvSpPr>
          <p:cNvPr id="55" name="Text 53"/>
          <p:cNvSpPr/>
          <p:nvPr/>
        </p:nvSpPr>
        <p:spPr>
          <a:xfrm>
            <a:off x="8266176" y="4983480"/>
            <a:ext cx="685800" cy="219456"/>
          </a:xfrm>
          <a:prstGeom prst="rect">
            <a:avLst/>
          </a:prstGeom>
          <a:noFill/>
          <a:ln/>
        </p:spPr>
        <p:txBody>
          <a:bodyPr wrap="square" lIns="0" tIns="0" rIns="0" bIns="0" rtlCol="0" anchor="ctr"/>
          <a:lstStyle/>
          <a:p>
            <a:pPr indent="0" marL="0">
              <a:buNone/>
            </a:pPr>
            <a:r>
              <a:rPr lang="en-US" sz="950" b="1" dirty="0">
                <a:solidFill>
                  <a:srgbClr val="C0492A"/>
                </a:solidFill>
                <a:latin typeface="Calibri" pitchFamily="34" charset="0"/>
                <a:ea typeface="Calibri" pitchFamily="34" charset="-122"/>
                <a:cs typeface="Calibri" pitchFamily="34" charset="-120"/>
              </a:rPr>
              <a:t>0.875</a:t>
            </a:r>
            <a:endParaRPr lang="en-US" sz="950" dirty="0"/>
          </a:p>
        </p:txBody>
      </p:sp>
      <p:sp>
        <p:nvSpPr>
          <p:cNvPr id="56" name="Text 54"/>
          <p:cNvSpPr/>
          <p:nvPr/>
        </p:nvSpPr>
        <p:spPr>
          <a:xfrm>
            <a:off x="8266176" y="5202936"/>
            <a:ext cx="685800" cy="219456"/>
          </a:xfrm>
          <a:prstGeom prst="rect">
            <a:avLst/>
          </a:prstGeom>
          <a:noFill/>
          <a:ln/>
        </p:spPr>
        <p:txBody>
          <a:bodyPr wrap="square" lIns="0" tIns="0" rIns="0" bIns="0" rtlCol="0" anchor="ctr"/>
          <a:lstStyle/>
          <a:p>
            <a:pPr indent="0" marL="0">
              <a:buNone/>
            </a:pPr>
            <a:r>
              <a:rPr lang="en-US" sz="950" dirty="0">
                <a:solidFill>
                  <a:srgbClr val="6E7787"/>
                </a:solidFill>
                <a:latin typeface="Calibri" pitchFamily="34" charset="0"/>
                <a:ea typeface="Calibri" pitchFamily="34" charset="-122"/>
                <a:cs typeface="Calibri" pitchFamily="34" charset="-120"/>
              </a:rPr>
              <a:t>1.000</a:t>
            </a:r>
            <a:endParaRPr lang="en-US" sz="950" dirty="0"/>
          </a:p>
        </p:txBody>
      </p:sp>
      <p:sp>
        <p:nvSpPr>
          <p:cNvPr id="57" name="Shape 55"/>
          <p:cNvSpPr/>
          <p:nvPr/>
        </p:nvSpPr>
        <p:spPr>
          <a:xfrm>
            <a:off x="9345168" y="2057400"/>
            <a:ext cx="2249424" cy="3794760"/>
          </a:xfrm>
          <a:prstGeom prst="rect">
            <a:avLst/>
          </a:prstGeom>
          <a:solidFill>
            <a:srgbClr val="F4E0D8"/>
          </a:solidFill>
          <a:ln w="9525">
            <a:solidFill>
              <a:srgbClr val="D4CEC0"/>
            </a:solidFill>
            <a:prstDash val="solid"/>
          </a:ln>
        </p:spPr>
      </p:sp>
      <p:sp>
        <p:nvSpPr>
          <p:cNvPr id="58" name="Text 56"/>
          <p:cNvSpPr/>
          <p:nvPr/>
        </p:nvSpPr>
        <p:spPr>
          <a:xfrm>
            <a:off x="9564624" y="2267712"/>
            <a:ext cx="1810512" cy="237744"/>
          </a:xfrm>
          <a:prstGeom prst="rect">
            <a:avLst/>
          </a:prstGeom>
          <a:noFill/>
          <a:ln/>
        </p:spPr>
        <p:txBody>
          <a:bodyPr wrap="square" lIns="0" tIns="0" rIns="0" bIns="0" rtlCol="0" anchor="ctr"/>
          <a:lstStyle/>
          <a:p>
            <a:pPr indent="0" marL="0">
              <a:buNone/>
            </a:pPr>
            <a:r>
              <a:rPr lang="en-US" sz="900" b="1" spc="150" kern="0" dirty="0">
                <a:solidFill>
                  <a:srgbClr val="C0492A"/>
                </a:solidFill>
                <a:latin typeface="Calibri" pitchFamily="34" charset="0"/>
                <a:ea typeface="Calibri" pitchFamily="34" charset="-122"/>
                <a:cs typeface="Calibri" pitchFamily="34" charset="-120"/>
              </a:rPr>
              <a:t>THE PARAPHRASE RESULT</a:t>
            </a:r>
            <a:endParaRPr lang="en-US" sz="900" dirty="0"/>
          </a:p>
        </p:txBody>
      </p:sp>
      <p:sp>
        <p:nvSpPr>
          <p:cNvPr id="59" name="Text 57"/>
          <p:cNvSpPr/>
          <p:nvPr/>
        </p:nvSpPr>
        <p:spPr>
          <a:xfrm>
            <a:off x="9564624" y="2569464"/>
            <a:ext cx="1810512" cy="3200400"/>
          </a:xfrm>
          <a:prstGeom prst="rect">
            <a:avLst/>
          </a:prstGeom>
          <a:noFill/>
          <a:ln/>
        </p:spPr>
        <p:txBody>
          <a:bodyPr wrap="square" lIns="0" tIns="0" rIns="0" bIns="0" rtlCol="0" anchor="t"/>
          <a:lstStyle/>
          <a:p>
            <a:pPr indent="0" marL="0">
              <a:lnSpc>
                <a:spcPts val="1550"/>
              </a:lnSpc>
              <a:buNone/>
            </a:pPr>
            <a:r>
              <a:rPr lang="en-US" sz="1250" b="1" dirty="0">
                <a:solidFill>
                  <a:srgbClr val="1B2A41"/>
                </a:solidFill>
                <a:latin typeface="Calibri" pitchFamily="34" charset="0"/>
                <a:ea typeface="Calibri" pitchFamily="34" charset="-122"/>
                <a:cs typeface="Calibri" pitchFamily="34" charset="-120"/>
              </a:rPr>
              <a:t>H2 predicted dense retrieval would win here.
</a:t>
            </a:r>
            <a:pPr indent="0" marL="0">
              <a:lnSpc>
                <a:spcPts val="1550"/>
              </a:lnSpc>
              <a:buNone/>
            </a:pPr>
            <a:r>
              <a:rPr lang="en-US" sz="1100" dirty="0">
                <a:solidFill>
                  <a:srgbClr val="3D4859"/>
                </a:solidFill>
                <a:latin typeface="Calibri" pitchFamily="34" charset="0"/>
                <a:ea typeface="Calibri" pitchFamily="34" charset="-122"/>
                <a:cs typeface="Calibri" pitchFamily="34" charset="-120"/>
              </a:rPr>
              <a:t>It lost by half. These are questions deliberately rewritten to remove the scheme name — "smoke-producing solid cooking materials" instead of Ujjwala. The case embeddings exist for.</a:t>
            </a:r>
            <a:endParaRPr lang="en-US" sz="1250" dirty="0"/>
          </a:p>
          <a:p>
            <a:pPr indent="0" marL="0">
              <a:lnSpc>
                <a:spcPts val="1550"/>
              </a:lnSpc>
              <a:buNone/>
            </a:pPr>
            <a:endParaRPr lang="en-US" sz="1250" dirty="0"/>
          </a:p>
          <a:p>
            <a:pPr indent="0" marL="0">
              <a:lnSpc>
                <a:spcPts val="1550"/>
              </a:lnSpc>
              <a:buNone/>
            </a:pPr>
            <a:r>
              <a:rPr lang="en-US" sz="1100" dirty="0">
                <a:solidFill>
                  <a:srgbClr val="3D4859"/>
                </a:solidFill>
                <a:latin typeface="Calibri" pitchFamily="34" charset="0"/>
                <a:ea typeface="Calibri" pitchFamily="34" charset="-122"/>
                <a:cs typeface="Calibri" pitchFamily="34" charset="-120"/>
              </a:rPr>
              <a:t>The entity graph scored 0.000: with no scheme name in the query, its linker had nothing to anchor to.</a:t>
            </a:r>
            <a:endParaRPr lang="en-US" sz="1250" dirty="0"/>
          </a:p>
        </p:txBody>
      </p:sp>
      <p:sp>
        <p:nvSpPr>
          <p:cNvPr id="60" name="Text 58"/>
          <p:cNvSpPr/>
          <p:nvPr/>
        </p:nvSpPr>
        <p:spPr>
          <a:xfrm>
            <a:off x="566928" y="6382512"/>
            <a:ext cx="11027664" cy="274320"/>
          </a:xfrm>
          <a:prstGeom prst="rect">
            <a:avLst/>
          </a:prstGeom>
          <a:noFill/>
          <a:ln/>
        </p:spPr>
        <p:txBody>
          <a:bodyPr wrap="square" lIns="0" tIns="0" rIns="0" bIns="0" rtlCol="0" anchor="ctr"/>
          <a:lstStyle/>
          <a:p>
            <a:pPr indent="0" marL="0">
              <a:buNone/>
            </a:pPr>
            <a:r>
              <a:rPr lang="en-US" sz="850" spc="60" kern="0" dirty="0">
                <a:solidFill>
                  <a:srgbClr val="6E7787"/>
                </a:solidFill>
                <a:latin typeface="Calibri" pitchFamily="34" charset="0"/>
                <a:ea typeface="Calibri" pitchFamily="34" charset="-122"/>
                <a:cs typeface="Calibri" pitchFamily="34" charset="-120"/>
              </a:rPr>
              <a:t>Pilot benchmark, n = 34, six questions per category (synthesis n = 4). Recomputed from canonical rankings and pooled human judgements.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66928" y="329184"/>
            <a:ext cx="548640" cy="274320"/>
          </a:xfrm>
          <a:prstGeom prst="rect">
            <a:avLst/>
          </a:prstGeom>
          <a:noFill/>
          <a:ln/>
        </p:spPr>
        <p:txBody>
          <a:bodyPr wrap="square" rtlCol="0" anchor="ctr"/>
          <a:lstStyle/>
          <a:p>
            <a:pPr indent="0" marL="0">
              <a:buNone/>
            </a:pPr>
            <a:r>
              <a:rPr lang="en-US" sz="1100" b="1" spc="200" kern="0" dirty="0">
                <a:solidFill>
                  <a:srgbClr val="C0492A"/>
                </a:solidFill>
                <a:latin typeface="Calibri" pitchFamily="34" charset="0"/>
                <a:ea typeface="Calibri" pitchFamily="34" charset="-122"/>
                <a:cs typeface="Calibri" pitchFamily="34" charset="-120"/>
              </a:rPr>
              <a:t>09</a:t>
            </a:r>
            <a:endParaRPr lang="en-US" sz="1100" dirty="0"/>
          </a:p>
        </p:txBody>
      </p:sp>
      <p:sp>
        <p:nvSpPr>
          <p:cNvPr id="3" name="Text 1"/>
          <p:cNvSpPr/>
          <p:nvPr/>
        </p:nvSpPr>
        <p:spPr>
          <a:xfrm>
            <a:off x="1069848" y="329184"/>
            <a:ext cx="7315200" cy="274320"/>
          </a:xfrm>
          <a:prstGeom prst="rect">
            <a:avLst/>
          </a:prstGeom>
          <a:noFill/>
          <a:ln/>
        </p:spPr>
        <p:txBody>
          <a:bodyPr wrap="square" rtlCol="0" anchor="ctr"/>
          <a:lstStyle/>
          <a:p>
            <a:pPr indent="0" marL="0">
              <a:buNone/>
            </a:pPr>
            <a:r>
              <a:rPr lang="en-US" sz="950" spc="240" kern="0" dirty="0">
                <a:solidFill>
                  <a:srgbClr val="6E7787"/>
                </a:solidFill>
                <a:latin typeface="Calibri" pitchFamily="34" charset="0"/>
                <a:ea typeface="Calibri" pitchFamily="34" charset="-122"/>
                <a:cs typeface="Calibri" pitchFamily="34" charset="-120"/>
              </a:rPr>
              <a:t>A SINGLE QUESTION</a:t>
            </a:r>
            <a:endParaRPr lang="en-US" sz="950" dirty="0"/>
          </a:p>
        </p:txBody>
      </p:sp>
      <p:sp>
        <p:nvSpPr>
          <p:cNvPr id="4" name="Text 2"/>
          <p:cNvSpPr/>
          <p:nvPr/>
        </p:nvSpPr>
        <p:spPr>
          <a:xfrm>
            <a:off x="566928" y="777240"/>
            <a:ext cx="11027664" cy="868680"/>
          </a:xfrm>
          <a:prstGeom prst="rect">
            <a:avLst/>
          </a:prstGeom>
          <a:noFill/>
          <a:ln/>
        </p:spPr>
        <p:txBody>
          <a:bodyPr wrap="square" lIns="0" tIns="0" rIns="0" bIns="0" rtlCol="0" anchor="t"/>
          <a:lstStyle/>
          <a:p>
            <a:pPr indent="0" marL="0">
              <a:lnSpc>
                <a:spcPts val="3360"/>
              </a:lnSpc>
              <a:buNone/>
            </a:pPr>
            <a:r>
              <a:rPr lang="en-US" sz="3000" dirty="0">
                <a:solidFill>
                  <a:srgbClr val="1B2A41"/>
                </a:solidFill>
                <a:latin typeface="Cambria" pitchFamily="34" charset="0"/>
                <a:ea typeface="Cambria" pitchFamily="34" charset="-122"/>
                <a:cs typeface="Cambria" pitchFamily="34" charset="-120"/>
              </a:rPr>
              <a:t>What that actually looks like.</a:t>
            </a:r>
            <a:endParaRPr lang="en-US" sz="3000" dirty="0"/>
          </a:p>
        </p:txBody>
      </p:sp>
      <p:sp>
        <p:nvSpPr>
          <p:cNvPr id="5" name="Shape 3"/>
          <p:cNvSpPr/>
          <p:nvPr/>
        </p:nvSpPr>
        <p:spPr>
          <a:xfrm>
            <a:off x="566928" y="1554480"/>
            <a:ext cx="11027664" cy="1143000"/>
          </a:xfrm>
          <a:prstGeom prst="rect">
            <a:avLst/>
          </a:prstGeom>
          <a:solidFill>
            <a:srgbClr val="EDE8DC"/>
          </a:solidFill>
          <a:ln w="9525">
            <a:solidFill>
              <a:srgbClr val="D4CEC0"/>
            </a:solidFill>
            <a:prstDash val="solid"/>
          </a:ln>
        </p:spPr>
      </p:sp>
      <p:sp>
        <p:nvSpPr>
          <p:cNvPr id="6" name="Text 4"/>
          <p:cNvSpPr/>
          <p:nvPr/>
        </p:nvSpPr>
        <p:spPr>
          <a:xfrm>
            <a:off x="841248" y="1737360"/>
            <a:ext cx="5486400" cy="219456"/>
          </a:xfrm>
          <a:prstGeom prst="rect">
            <a:avLst/>
          </a:prstGeom>
          <a:noFill/>
          <a:ln/>
        </p:spPr>
        <p:txBody>
          <a:bodyPr wrap="square" lIns="0" tIns="0" rIns="0" bIns="0" rtlCol="0" anchor="ctr"/>
          <a:lstStyle/>
          <a:p>
            <a:pPr indent="0" marL="0">
              <a:buNone/>
            </a:pPr>
            <a:r>
              <a:rPr lang="en-US" sz="850" b="1" spc="150" kern="0" dirty="0">
                <a:solidFill>
                  <a:srgbClr val="6E7787"/>
                </a:solidFill>
                <a:latin typeface="Calibri" pitchFamily="34" charset="0"/>
                <a:ea typeface="Calibri" pitchFamily="34" charset="-122"/>
                <a:cs typeface="Calibri" pitchFamily="34" charset="-120"/>
              </a:rPr>
              <a:t>QUESTION v2q-018  ·  PARAPHRASE</a:t>
            </a:r>
            <a:endParaRPr lang="en-US" sz="850" dirty="0"/>
          </a:p>
        </p:txBody>
      </p:sp>
      <p:sp>
        <p:nvSpPr>
          <p:cNvPr id="7" name="Text 5"/>
          <p:cNvSpPr/>
          <p:nvPr/>
        </p:nvSpPr>
        <p:spPr>
          <a:xfrm>
            <a:off x="841248" y="2011680"/>
            <a:ext cx="10479024" cy="566928"/>
          </a:xfrm>
          <a:prstGeom prst="rect">
            <a:avLst/>
          </a:prstGeom>
          <a:noFill/>
          <a:ln/>
        </p:spPr>
        <p:txBody>
          <a:bodyPr wrap="square" lIns="0" tIns="0" rIns="0" bIns="0" rtlCol="0" anchor="ctr"/>
          <a:lstStyle/>
          <a:p>
            <a:pPr indent="0" marL="0">
              <a:lnSpc>
                <a:spcPts val="2600"/>
              </a:lnSpc>
              <a:buNone/>
            </a:pPr>
            <a:r>
              <a:rPr lang="en-US" sz="1900" dirty="0">
                <a:solidFill>
                  <a:srgbClr val="1B2A41"/>
                </a:solidFill>
                <a:latin typeface="Cambria" pitchFamily="34" charset="0"/>
                <a:ea typeface="Cambria" pitchFamily="34" charset="-122"/>
                <a:cs typeface="Cambria" pitchFamily="34" charset="-120"/>
              </a:rPr>
              <a:t>"Which initiative helps city households across officially defined lower and middle income bands obtain permanent homes?"</a:t>
            </a:r>
            <a:endParaRPr lang="en-US" sz="1900" dirty="0"/>
          </a:p>
        </p:txBody>
      </p:sp>
      <p:sp>
        <p:nvSpPr>
          <p:cNvPr id="8" name="Text 6"/>
          <p:cNvSpPr/>
          <p:nvPr/>
        </p:nvSpPr>
        <p:spPr>
          <a:xfrm>
            <a:off x="566928" y="2852928"/>
            <a:ext cx="11027664" cy="237744"/>
          </a:xfrm>
          <a:prstGeom prst="rect">
            <a:avLst/>
          </a:prstGeom>
          <a:noFill/>
          <a:ln/>
        </p:spPr>
        <p:txBody>
          <a:bodyPr wrap="square" lIns="0" tIns="0" rIns="0" bIns="0" rtlCol="0" anchor="ctr"/>
          <a:lstStyle/>
          <a:p>
            <a:pPr indent="0" marL="0">
              <a:buNone/>
            </a:pPr>
            <a:r>
              <a:rPr lang="en-US" sz="1000" b="1" spc="100" kern="0" dirty="0">
                <a:solidFill>
                  <a:srgbClr val="9A7017"/>
                </a:solidFill>
                <a:latin typeface="Calibri" pitchFamily="34" charset="0"/>
                <a:ea typeface="Calibri" pitchFamily="34" charset="-122"/>
                <a:cs typeface="Calibri" pitchFamily="34" charset="-120"/>
              </a:rPr>
              <a:t>CORRECT ANSWER  ·  Pradhan Mantri Awas Yojana – Urban (EWS, LIG, MIG households)</a:t>
            </a:r>
            <a:endParaRPr lang="en-US" sz="1000" dirty="0"/>
          </a:p>
        </p:txBody>
      </p:sp>
      <p:sp>
        <p:nvSpPr>
          <p:cNvPr id="9" name="Shape 7"/>
          <p:cNvSpPr/>
          <p:nvPr/>
        </p:nvSpPr>
        <p:spPr>
          <a:xfrm>
            <a:off x="566928" y="3310128"/>
            <a:ext cx="2044598" cy="1600200"/>
          </a:xfrm>
          <a:prstGeom prst="rect">
            <a:avLst/>
          </a:prstGeom>
          <a:solidFill>
            <a:srgbClr val="DFEADE"/>
          </a:solidFill>
          <a:ln w="9525">
            <a:solidFill>
              <a:srgbClr val="D4CEC0"/>
            </a:solidFill>
            <a:prstDash val="solid"/>
          </a:ln>
        </p:spPr>
      </p:sp>
      <p:sp>
        <p:nvSpPr>
          <p:cNvPr id="10" name="Text 8"/>
          <p:cNvSpPr/>
          <p:nvPr/>
        </p:nvSpPr>
        <p:spPr>
          <a:xfrm>
            <a:off x="749808" y="3493008"/>
            <a:ext cx="1678838" cy="274320"/>
          </a:xfrm>
          <a:prstGeom prst="rect">
            <a:avLst/>
          </a:prstGeom>
          <a:noFill/>
          <a:ln/>
        </p:spPr>
        <p:txBody>
          <a:bodyPr wrap="square" lIns="0" tIns="0" rIns="0" bIns="0" rtlCol="0" anchor="ctr"/>
          <a:lstStyle/>
          <a:p>
            <a:pPr indent="0" marL="0">
              <a:buNone/>
            </a:pPr>
            <a:r>
              <a:rPr lang="en-US" sz="1250" b="1" dirty="0">
                <a:solidFill>
                  <a:srgbClr val="1B2A41"/>
                </a:solidFill>
                <a:latin typeface="Calibri" pitchFamily="34" charset="0"/>
                <a:ea typeface="Calibri" pitchFamily="34" charset="-122"/>
                <a:cs typeface="Calibri" pitchFamily="34" charset="-120"/>
              </a:rPr>
              <a:t>BM25</a:t>
            </a:r>
            <a:endParaRPr lang="en-US" sz="1250" dirty="0"/>
          </a:p>
        </p:txBody>
      </p:sp>
      <p:sp>
        <p:nvSpPr>
          <p:cNvPr id="11" name="Text 9"/>
          <p:cNvSpPr/>
          <p:nvPr/>
        </p:nvSpPr>
        <p:spPr>
          <a:xfrm>
            <a:off x="749808" y="3840480"/>
            <a:ext cx="1678838" cy="365760"/>
          </a:xfrm>
          <a:prstGeom prst="rect">
            <a:avLst/>
          </a:prstGeom>
          <a:noFill/>
          <a:ln/>
        </p:spPr>
        <p:txBody>
          <a:bodyPr wrap="square" lIns="0" tIns="0" rIns="0" bIns="0" rtlCol="0" anchor="ctr"/>
          <a:lstStyle/>
          <a:p>
            <a:pPr indent="0" marL="0">
              <a:buNone/>
            </a:pPr>
            <a:r>
              <a:rPr lang="en-US" sz="2000" dirty="0">
                <a:solidFill>
                  <a:srgbClr val="2C6B4F"/>
                </a:solidFill>
                <a:latin typeface="Cambria" pitchFamily="34" charset="0"/>
                <a:ea typeface="Cambria" pitchFamily="34" charset="-122"/>
                <a:cs typeface="Cambria" pitchFamily="34" charset="-120"/>
              </a:rPr>
              <a:t>rank 1</a:t>
            </a:r>
            <a:endParaRPr lang="en-US" sz="2000" dirty="0"/>
          </a:p>
        </p:txBody>
      </p:sp>
      <p:sp>
        <p:nvSpPr>
          <p:cNvPr id="12" name="Text 10"/>
          <p:cNvSpPr/>
          <p:nvPr/>
        </p:nvSpPr>
        <p:spPr>
          <a:xfrm>
            <a:off x="749808" y="4270248"/>
            <a:ext cx="1678838" cy="548640"/>
          </a:xfrm>
          <a:prstGeom prst="rect">
            <a:avLst/>
          </a:prstGeom>
          <a:noFill/>
          <a:ln/>
        </p:spPr>
        <p:txBody>
          <a:bodyPr wrap="square" lIns="0" tIns="0" rIns="0" bIns="0" rtlCol="0" anchor="t"/>
          <a:lstStyle/>
          <a:p>
            <a:pPr indent="0" marL="0">
              <a:lnSpc>
                <a:spcPts val="1400"/>
              </a:lnSpc>
              <a:buNone/>
            </a:pPr>
            <a:r>
              <a:rPr lang="en-US" sz="1000" dirty="0">
                <a:solidFill>
                  <a:srgbClr val="3D4859"/>
                </a:solidFill>
                <a:latin typeface="Calibri" pitchFamily="34" charset="0"/>
                <a:ea typeface="Calibri" pitchFamily="34" charset="-122"/>
                <a:cs typeface="Calibri" pitchFamily="34" charset="-120"/>
              </a:rPr>
              <a:t>correct passage first</a:t>
            </a:r>
            <a:endParaRPr lang="en-US" sz="1000" dirty="0"/>
          </a:p>
        </p:txBody>
      </p:sp>
      <p:sp>
        <p:nvSpPr>
          <p:cNvPr id="13" name="Shape 11"/>
          <p:cNvSpPr/>
          <p:nvPr/>
        </p:nvSpPr>
        <p:spPr>
          <a:xfrm>
            <a:off x="2812694" y="3310128"/>
            <a:ext cx="2044598" cy="1600200"/>
          </a:xfrm>
          <a:prstGeom prst="rect">
            <a:avLst/>
          </a:prstGeom>
          <a:solidFill>
            <a:srgbClr val="F4E0D8"/>
          </a:solidFill>
          <a:ln w="9525">
            <a:solidFill>
              <a:srgbClr val="D4CEC0"/>
            </a:solidFill>
            <a:prstDash val="solid"/>
          </a:ln>
        </p:spPr>
      </p:sp>
      <p:sp>
        <p:nvSpPr>
          <p:cNvPr id="14" name="Text 12"/>
          <p:cNvSpPr/>
          <p:nvPr/>
        </p:nvSpPr>
        <p:spPr>
          <a:xfrm>
            <a:off x="2995574" y="3493008"/>
            <a:ext cx="1678838" cy="274320"/>
          </a:xfrm>
          <a:prstGeom prst="rect">
            <a:avLst/>
          </a:prstGeom>
          <a:noFill/>
          <a:ln/>
        </p:spPr>
        <p:txBody>
          <a:bodyPr wrap="square" lIns="0" tIns="0" rIns="0" bIns="0" rtlCol="0" anchor="ctr"/>
          <a:lstStyle/>
          <a:p>
            <a:pPr indent="0" marL="0">
              <a:buNone/>
            </a:pPr>
            <a:r>
              <a:rPr lang="en-US" sz="1250" b="1" dirty="0">
                <a:solidFill>
                  <a:srgbClr val="1B2A41"/>
                </a:solidFill>
                <a:latin typeface="Calibri" pitchFamily="34" charset="0"/>
                <a:ea typeface="Calibri" pitchFamily="34" charset="-122"/>
                <a:cs typeface="Calibri" pitchFamily="34" charset="-120"/>
              </a:rPr>
              <a:t>FAISS</a:t>
            </a:r>
            <a:endParaRPr lang="en-US" sz="1250" dirty="0"/>
          </a:p>
        </p:txBody>
      </p:sp>
      <p:sp>
        <p:nvSpPr>
          <p:cNvPr id="15" name="Text 13"/>
          <p:cNvSpPr/>
          <p:nvPr/>
        </p:nvSpPr>
        <p:spPr>
          <a:xfrm>
            <a:off x="2995574" y="3840480"/>
            <a:ext cx="1678838" cy="365760"/>
          </a:xfrm>
          <a:prstGeom prst="rect">
            <a:avLst/>
          </a:prstGeom>
          <a:noFill/>
          <a:ln/>
        </p:spPr>
        <p:txBody>
          <a:bodyPr wrap="square" lIns="0" tIns="0" rIns="0" bIns="0" rtlCol="0" anchor="ctr"/>
          <a:lstStyle/>
          <a:p>
            <a:pPr indent="0" marL="0">
              <a:buNone/>
            </a:pPr>
            <a:r>
              <a:rPr lang="en-US" sz="2000" dirty="0">
                <a:solidFill>
                  <a:srgbClr val="C0492A"/>
                </a:solidFill>
                <a:latin typeface="Cambria" pitchFamily="34" charset="0"/>
                <a:ea typeface="Cambria" pitchFamily="34" charset="-122"/>
                <a:cs typeface="Cambria" pitchFamily="34" charset="-120"/>
              </a:rPr>
              <a:t>rank 5</a:t>
            </a:r>
            <a:endParaRPr lang="en-US" sz="2000" dirty="0"/>
          </a:p>
        </p:txBody>
      </p:sp>
      <p:sp>
        <p:nvSpPr>
          <p:cNvPr id="16" name="Text 14"/>
          <p:cNvSpPr/>
          <p:nvPr/>
        </p:nvSpPr>
        <p:spPr>
          <a:xfrm>
            <a:off x="2995574" y="4270248"/>
            <a:ext cx="1678838" cy="548640"/>
          </a:xfrm>
          <a:prstGeom prst="rect">
            <a:avLst/>
          </a:prstGeom>
          <a:noFill/>
          <a:ln/>
        </p:spPr>
        <p:txBody>
          <a:bodyPr wrap="square" lIns="0" tIns="0" rIns="0" bIns="0" rtlCol="0" anchor="t"/>
          <a:lstStyle/>
          <a:p>
            <a:pPr indent="0" marL="0">
              <a:lnSpc>
                <a:spcPts val="1400"/>
              </a:lnSpc>
              <a:buNone/>
            </a:pPr>
            <a:r>
              <a:rPr lang="en-US" sz="1000" dirty="0">
                <a:solidFill>
                  <a:srgbClr val="3D4859"/>
                </a:solidFill>
                <a:latin typeface="Calibri" pitchFamily="34" charset="0"/>
                <a:ea typeface="Calibri" pitchFamily="34" charset="-122"/>
                <a:cs typeface="Calibri" pitchFamily="34" charset="-120"/>
              </a:rPr>
              <a:t>four wrong schemes above it</a:t>
            </a:r>
            <a:endParaRPr lang="en-US" sz="1000" dirty="0"/>
          </a:p>
        </p:txBody>
      </p:sp>
      <p:sp>
        <p:nvSpPr>
          <p:cNvPr id="17" name="Shape 15"/>
          <p:cNvSpPr/>
          <p:nvPr/>
        </p:nvSpPr>
        <p:spPr>
          <a:xfrm>
            <a:off x="5058461" y="3310128"/>
            <a:ext cx="2044598" cy="1600200"/>
          </a:xfrm>
          <a:prstGeom prst="rect">
            <a:avLst/>
          </a:prstGeom>
          <a:solidFill>
            <a:srgbClr val="F4E0D8"/>
          </a:solidFill>
          <a:ln w="9525">
            <a:solidFill>
              <a:srgbClr val="D4CEC0"/>
            </a:solidFill>
            <a:prstDash val="solid"/>
          </a:ln>
        </p:spPr>
      </p:sp>
      <p:sp>
        <p:nvSpPr>
          <p:cNvPr id="18" name="Text 16"/>
          <p:cNvSpPr/>
          <p:nvPr/>
        </p:nvSpPr>
        <p:spPr>
          <a:xfrm>
            <a:off x="5241341" y="3493008"/>
            <a:ext cx="1678838" cy="274320"/>
          </a:xfrm>
          <a:prstGeom prst="rect">
            <a:avLst/>
          </a:prstGeom>
          <a:noFill/>
          <a:ln/>
        </p:spPr>
        <p:txBody>
          <a:bodyPr wrap="square" lIns="0" tIns="0" rIns="0" bIns="0" rtlCol="0" anchor="ctr"/>
          <a:lstStyle/>
          <a:p>
            <a:pPr indent="0" marL="0">
              <a:buNone/>
            </a:pPr>
            <a:r>
              <a:rPr lang="en-US" sz="1250" b="1" dirty="0">
                <a:solidFill>
                  <a:srgbClr val="1B2A41"/>
                </a:solidFill>
                <a:latin typeface="Calibri" pitchFamily="34" charset="0"/>
                <a:ea typeface="Calibri" pitchFamily="34" charset="-122"/>
                <a:cs typeface="Calibri" pitchFamily="34" charset="-120"/>
              </a:rPr>
              <a:t>Entity Graph</a:t>
            </a:r>
            <a:endParaRPr lang="en-US" sz="1250" dirty="0"/>
          </a:p>
        </p:txBody>
      </p:sp>
      <p:sp>
        <p:nvSpPr>
          <p:cNvPr id="19" name="Text 17"/>
          <p:cNvSpPr/>
          <p:nvPr/>
        </p:nvSpPr>
        <p:spPr>
          <a:xfrm>
            <a:off x="5241341" y="3840480"/>
            <a:ext cx="1678838" cy="365760"/>
          </a:xfrm>
          <a:prstGeom prst="rect">
            <a:avLst/>
          </a:prstGeom>
          <a:noFill/>
          <a:ln/>
        </p:spPr>
        <p:txBody>
          <a:bodyPr wrap="square" lIns="0" tIns="0" rIns="0" bIns="0" rtlCol="0" anchor="ctr"/>
          <a:lstStyle/>
          <a:p>
            <a:pPr indent="0" marL="0">
              <a:buNone/>
            </a:pPr>
            <a:r>
              <a:rPr lang="en-US" sz="2000" dirty="0">
                <a:solidFill>
                  <a:srgbClr val="C0492A"/>
                </a:solidFill>
                <a:latin typeface="Cambria" pitchFamily="34" charset="0"/>
                <a:ea typeface="Cambria" pitchFamily="34" charset="-122"/>
                <a:cs typeface="Cambria" pitchFamily="34" charset="-120"/>
              </a:rPr>
              <a:t>not in top 10</a:t>
            </a:r>
            <a:endParaRPr lang="en-US" sz="2000" dirty="0"/>
          </a:p>
        </p:txBody>
      </p:sp>
      <p:sp>
        <p:nvSpPr>
          <p:cNvPr id="20" name="Text 18"/>
          <p:cNvSpPr/>
          <p:nvPr/>
        </p:nvSpPr>
        <p:spPr>
          <a:xfrm>
            <a:off x="5241341" y="4270248"/>
            <a:ext cx="1678838" cy="548640"/>
          </a:xfrm>
          <a:prstGeom prst="rect">
            <a:avLst/>
          </a:prstGeom>
          <a:noFill/>
          <a:ln/>
        </p:spPr>
        <p:txBody>
          <a:bodyPr wrap="square" lIns="0" tIns="0" rIns="0" bIns="0" rtlCol="0" anchor="t"/>
          <a:lstStyle/>
          <a:p>
            <a:pPr indent="0" marL="0">
              <a:lnSpc>
                <a:spcPts val="1400"/>
              </a:lnSpc>
              <a:buNone/>
            </a:pPr>
            <a:r>
              <a:rPr lang="en-US" sz="1000" dirty="0">
                <a:solidFill>
                  <a:srgbClr val="3D4859"/>
                </a:solidFill>
                <a:latin typeface="Calibri" pitchFamily="34" charset="0"/>
                <a:ea typeface="Calibri" pitchFamily="34" charset="-122"/>
                <a:cs typeface="Calibri" pitchFamily="34" charset="-120"/>
              </a:rPr>
              <a:t>no scheme name to anchor to</a:t>
            </a:r>
            <a:endParaRPr lang="en-US" sz="1000" dirty="0"/>
          </a:p>
        </p:txBody>
      </p:sp>
      <p:sp>
        <p:nvSpPr>
          <p:cNvPr id="21" name="Shape 19"/>
          <p:cNvSpPr/>
          <p:nvPr/>
        </p:nvSpPr>
        <p:spPr>
          <a:xfrm>
            <a:off x="7304227" y="3310128"/>
            <a:ext cx="2044598" cy="1600200"/>
          </a:xfrm>
          <a:prstGeom prst="rect">
            <a:avLst/>
          </a:prstGeom>
          <a:solidFill>
            <a:srgbClr val="DFEADE"/>
          </a:solidFill>
          <a:ln w="9525">
            <a:solidFill>
              <a:srgbClr val="D4CEC0"/>
            </a:solidFill>
            <a:prstDash val="solid"/>
          </a:ln>
        </p:spPr>
      </p:sp>
      <p:sp>
        <p:nvSpPr>
          <p:cNvPr id="22" name="Text 20"/>
          <p:cNvSpPr/>
          <p:nvPr/>
        </p:nvSpPr>
        <p:spPr>
          <a:xfrm>
            <a:off x="7487107" y="3493008"/>
            <a:ext cx="1678838" cy="274320"/>
          </a:xfrm>
          <a:prstGeom prst="rect">
            <a:avLst/>
          </a:prstGeom>
          <a:noFill/>
          <a:ln/>
        </p:spPr>
        <p:txBody>
          <a:bodyPr wrap="square" lIns="0" tIns="0" rIns="0" bIns="0" rtlCol="0" anchor="ctr"/>
          <a:lstStyle/>
          <a:p>
            <a:pPr indent="0" marL="0">
              <a:buNone/>
            </a:pPr>
            <a:r>
              <a:rPr lang="en-US" sz="1250" b="1" dirty="0">
                <a:solidFill>
                  <a:srgbClr val="1B2A41"/>
                </a:solidFill>
                <a:latin typeface="Calibri" pitchFamily="34" charset="0"/>
                <a:ea typeface="Calibri" pitchFamily="34" charset="-122"/>
                <a:cs typeface="Calibri" pitchFamily="34" charset="-120"/>
              </a:rPr>
              <a:t>Hybrid RRF</a:t>
            </a:r>
            <a:endParaRPr lang="en-US" sz="1250" dirty="0"/>
          </a:p>
        </p:txBody>
      </p:sp>
      <p:sp>
        <p:nvSpPr>
          <p:cNvPr id="23" name="Text 21"/>
          <p:cNvSpPr/>
          <p:nvPr/>
        </p:nvSpPr>
        <p:spPr>
          <a:xfrm>
            <a:off x="7487107" y="3840480"/>
            <a:ext cx="1678838" cy="365760"/>
          </a:xfrm>
          <a:prstGeom prst="rect">
            <a:avLst/>
          </a:prstGeom>
          <a:noFill/>
          <a:ln/>
        </p:spPr>
        <p:txBody>
          <a:bodyPr wrap="square" lIns="0" tIns="0" rIns="0" bIns="0" rtlCol="0" anchor="ctr"/>
          <a:lstStyle/>
          <a:p>
            <a:pPr indent="0" marL="0">
              <a:buNone/>
            </a:pPr>
            <a:r>
              <a:rPr lang="en-US" sz="2000" dirty="0">
                <a:solidFill>
                  <a:srgbClr val="2C6B4F"/>
                </a:solidFill>
                <a:latin typeface="Cambria" pitchFamily="34" charset="0"/>
                <a:ea typeface="Cambria" pitchFamily="34" charset="-122"/>
                <a:cs typeface="Cambria" pitchFamily="34" charset="-120"/>
              </a:rPr>
              <a:t>rank 1</a:t>
            </a:r>
            <a:endParaRPr lang="en-US" sz="2000" dirty="0"/>
          </a:p>
        </p:txBody>
      </p:sp>
      <p:sp>
        <p:nvSpPr>
          <p:cNvPr id="24" name="Text 22"/>
          <p:cNvSpPr/>
          <p:nvPr/>
        </p:nvSpPr>
        <p:spPr>
          <a:xfrm>
            <a:off x="7487107" y="4270248"/>
            <a:ext cx="1678838" cy="548640"/>
          </a:xfrm>
          <a:prstGeom prst="rect">
            <a:avLst/>
          </a:prstGeom>
          <a:noFill/>
          <a:ln/>
        </p:spPr>
        <p:txBody>
          <a:bodyPr wrap="square" lIns="0" tIns="0" rIns="0" bIns="0" rtlCol="0" anchor="t"/>
          <a:lstStyle/>
          <a:p>
            <a:pPr indent="0" marL="0">
              <a:lnSpc>
                <a:spcPts val="1400"/>
              </a:lnSpc>
              <a:buNone/>
            </a:pPr>
            <a:r>
              <a:rPr lang="en-US" sz="1000" dirty="0">
                <a:solidFill>
                  <a:srgbClr val="3D4859"/>
                </a:solidFill>
                <a:latin typeface="Calibri" pitchFamily="34" charset="0"/>
                <a:ea typeface="Calibri" pitchFamily="34" charset="-122"/>
                <a:cs typeface="Calibri" pitchFamily="34" charset="-120"/>
              </a:rPr>
              <a:t>correct passage first</a:t>
            </a:r>
            <a:endParaRPr lang="en-US" sz="1000" dirty="0"/>
          </a:p>
        </p:txBody>
      </p:sp>
      <p:sp>
        <p:nvSpPr>
          <p:cNvPr id="25" name="Shape 23"/>
          <p:cNvSpPr/>
          <p:nvPr/>
        </p:nvSpPr>
        <p:spPr>
          <a:xfrm>
            <a:off x="9549994" y="3310128"/>
            <a:ext cx="2044598" cy="1600200"/>
          </a:xfrm>
          <a:prstGeom prst="rect">
            <a:avLst/>
          </a:prstGeom>
          <a:solidFill>
            <a:srgbClr val="DFEADE"/>
          </a:solidFill>
          <a:ln w="9525">
            <a:solidFill>
              <a:srgbClr val="D4CEC0"/>
            </a:solidFill>
            <a:prstDash val="solid"/>
          </a:ln>
        </p:spPr>
      </p:sp>
      <p:sp>
        <p:nvSpPr>
          <p:cNvPr id="26" name="Text 24"/>
          <p:cNvSpPr/>
          <p:nvPr/>
        </p:nvSpPr>
        <p:spPr>
          <a:xfrm>
            <a:off x="9732874" y="3493008"/>
            <a:ext cx="1678838" cy="274320"/>
          </a:xfrm>
          <a:prstGeom prst="rect">
            <a:avLst/>
          </a:prstGeom>
          <a:noFill/>
          <a:ln/>
        </p:spPr>
        <p:txBody>
          <a:bodyPr wrap="square" lIns="0" tIns="0" rIns="0" bIns="0" rtlCol="0" anchor="ctr"/>
          <a:lstStyle/>
          <a:p>
            <a:pPr indent="0" marL="0">
              <a:buNone/>
            </a:pPr>
            <a:r>
              <a:rPr lang="en-US" sz="1250" b="1" dirty="0">
                <a:solidFill>
                  <a:srgbClr val="1B2A41"/>
                </a:solidFill>
                <a:latin typeface="Calibri" pitchFamily="34" charset="0"/>
                <a:ea typeface="Calibri" pitchFamily="34" charset="-122"/>
                <a:cs typeface="Calibri" pitchFamily="34" charset="-120"/>
              </a:rPr>
              <a:t>Prompt-RAG</a:t>
            </a:r>
            <a:endParaRPr lang="en-US" sz="1250" dirty="0"/>
          </a:p>
        </p:txBody>
      </p:sp>
      <p:sp>
        <p:nvSpPr>
          <p:cNvPr id="27" name="Text 25"/>
          <p:cNvSpPr/>
          <p:nvPr/>
        </p:nvSpPr>
        <p:spPr>
          <a:xfrm>
            <a:off x="9732874" y="3840480"/>
            <a:ext cx="1678838" cy="365760"/>
          </a:xfrm>
          <a:prstGeom prst="rect">
            <a:avLst/>
          </a:prstGeom>
          <a:noFill/>
          <a:ln/>
        </p:spPr>
        <p:txBody>
          <a:bodyPr wrap="square" lIns="0" tIns="0" rIns="0" bIns="0" rtlCol="0" anchor="ctr"/>
          <a:lstStyle/>
          <a:p>
            <a:pPr indent="0" marL="0">
              <a:buNone/>
            </a:pPr>
            <a:r>
              <a:rPr lang="en-US" sz="2000" dirty="0">
                <a:solidFill>
                  <a:srgbClr val="2C6B4F"/>
                </a:solidFill>
                <a:latin typeface="Cambria" pitchFamily="34" charset="0"/>
                <a:ea typeface="Cambria" pitchFamily="34" charset="-122"/>
                <a:cs typeface="Cambria" pitchFamily="34" charset="-120"/>
              </a:rPr>
              <a:t>rank 1</a:t>
            </a:r>
            <a:endParaRPr lang="en-US" sz="2000" dirty="0"/>
          </a:p>
        </p:txBody>
      </p:sp>
      <p:sp>
        <p:nvSpPr>
          <p:cNvPr id="28" name="Text 26"/>
          <p:cNvSpPr/>
          <p:nvPr/>
        </p:nvSpPr>
        <p:spPr>
          <a:xfrm>
            <a:off x="9732874" y="4270248"/>
            <a:ext cx="1678838" cy="548640"/>
          </a:xfrm>
          <a:prstGeom prst="rect">
            <a:avLst/>
          </a:prstGeom>
          <a:noFill/>
          <a:ln/>
        </p:spPr>
        <p:txBody>
          <a:bodyPr wrap="square" lIns="0" tIns="0" rIns="0" bIns="0" rtlCol="0" anchor="t"/>
          <a:lstStyle/>
          <a:p>
            <a:pPr indent="0" marL="0">
              <a:lnSpc>
                <a:spcPts val="1400"/>
              </a:lnSpc>
              <a:buNone/>
            </a:pPr>
            <a:r>
              <a:rPr lang="en-US" sz="1000" dirty="0">
                <a:solidFill>
                  <a:srgbClr val="3D4859"/>
                </a:solidFill>
                <a:latin typeface="Calibri" pitchFamily="34" charset="0"/>
                <a:ea typeface="Calibri" pitchFamily="34" charset="-122"/>
                <a:cs typeface="Calibri" pitchFamily="34" charset="-120"/>
              </a:rPr>
              <a:t>correct passage first</a:t>
            </a:r>
            <a:endParaRPr lang="en-US" sz="1000" dirty="0"/>
          </a:p>
        </p:txBody>
      </p:sp>
      <p:sp>
        <p:nvSpPr>
          <p:cNvPr id="29" name="Text 27"/>
          <p:cNvSpPr/>
          <p:nvPr/>
        </p:nvSpPr>
        <p:spPr>
          <a:xfrm>
            <a:off x="566928" y="5138928"/>
            <a:ext cx="7939918" cy="640080"/>
          </a:xfrm>
          <a:prstGeom prst="rect">
            <a:avLst/>
          </a:prstGeom>
          <a:noFill/>
          <a:ln/>
        </p:spPr>
        <p:txBody>
          <a:bodyPr wrap="square" lIns="0" tIns="0" rIns="0" bIns="0" rtlCol="0" anchor="t"/>
          <a:lstStyle/>
          <a:p>
            <a:pPr indent="0" marL="0">
              <a:lnSpc>
                <a:spcPts val="1800"/>
              </a:lnSpc>
              <a:buNone/>
            </a:pPr>
            <a:r>
              <a:rPr lang="en-US" sz="1250" dirty="0">
                <a:solidFill>
                  <a:srgbClr val="3D4859"/>
                </a:solidFill>
                <a:latin typeface="Calibri" pitchFamily="34" charset="0"/>
                <a:ea typeface="Calibri" pitchFamily="34" charset="-122"/>
                <a:cs typeface="Calibri" pitchFamily="34" charset="-120"/>
              </a:rPr>
              <a:t>The question shares no scheme name with the document. BM25 still anchored on "income", "households" and "homes"; the embedding spread its probability mass across thematically similar but incorrect schemes.</a:t>
            </a:r>
            <a:endParaRPr lang="en-US" sz="1250" dirty="0"/>
          </a:p>
        </p:txBody>
      </p:sp>
      <p:sp>
        <p:nvSpPr>
          <p:cNvPr id="30" name="Shape 28"/>
          <p:cNvSpPr/>
          <p:nvPr/>
        </p:nvSpPr>
        <p:spPr>
          <a:xfrm>
            <a:off x="8837676" y="5029200"/>
            <a:ext cx="2756916" cy="777240"/>
          </a:xfrm>
          <a:prstGeom prst="rect">
            <a:avLst/>
          </a:prstGeom>
          <a:solidFill>
            <a:srgbClr val="1B2A41"/>
          </a:solidFill>
          <a:ln w="9525">
            <a:solidFill>
              <a:srgbClr val="D4CEC0"/>
            </a:solidFill>
            <a:prstDash val="solid"/>
          </a:ln>
        </p:spPr>
      </p:sp>
      <p:sp>
        <p:nvSpPr>
          <p:cNvPr id="31" name="Text 29"/>
          <p:cNvSpPr/>
          <p:nvPr/>
        </p:nvSpPr>
        <p:spPr>
          <a:xfrm>
            <a:off x="9020556" y="5175504"/>
            <a:ext cx="2391156" cy="502920"/>
          </a:xfrm>
          <a:prstGeom prst="rect">
            <a:avLst/>
          </a:prstGeom>
          <a:noFill/>
          <a:ln/>
        </p:spPr>
        <p:txBody>
          <a:bodyPr wrap="square" lIns="0" tIns="0" rIns="0" bIns="0" rtlCol="0" anchor="t"/>
          <a:lstStyle/>
          <a:p>
            <a:pPr indent="0" marL="0">
              <a:lnSpc>
                <a:spcPts val="1600"/>
              </a:lnSpc>
              <a:buNone/>
            </a:pPr>
            <a:r>
              <a:rPr lang="en-US" sz="1150" b="1" dirty="0">
                <a:solidFill>
                  <a:srgbClr val="FFFFFF"/>
                </a:solidFill>
                <a:latin typeface="Calibri" pitchFamily="34" charset="0"/>
                <a:ea typeface="Calibri" pitchFamily="34" charset="-122"/>
                <a:cs typeface="Calibri" pitchFamily="34" charset="-120"/>
              </a:rPr>
              <a:t>▶  Live demo — all 34 questions, all five systems</a:t>
            </a:r>
            <a:endParaRPr lang="en-US" sz="1150" dirty="0"/>
          </a:p>
        </p:txBody>
      </p:sp>
      <p:sp>
        <p:nvSpPr>
          <p:cNvPr id="32" name="Text 30"/>
          <p:cNvSpPr/>
          <p:nvPr/>
        </p:nvSpPr>
        <p:spPr>
          <a:xfrm>
            <a:off x="566928" y="6382512"/>
            <a:ext cx="11027664" cy="274320"/>
          </a:xfrm>
          <a:prstGeom prst="rect">
            <a:avLst/>
          </a:prstGeom>
          <a:noFill/>
          <a:ln/>
        </p:spPr>
        <p:txBody>
          <a:bodyPr wrap="square" lIns="0" tIns="0" rIns="0" bIns="0" rtlCol="0" anchor="ctr"/>
          <a:lstStyle/>
          <a:p>
            <a:pPr indent="0" marL="0">
              <a:buNone/>
            </a:pPr>
            <a:r>
              <a:rPr lang="en-US" sz="850" spc="60" kern="0" dirty="0">
                <a:solidFill>
                  <a:srgbClr val="6E7787"/>
                </a:solidFill>
                <a:latin typeface="Calibri" pitchFamily="34" charset="0"/>
                <a:ea typeface="Calibri" pitchFamily="34" charset="-122"/>
                <a:cs typeface="Calibri" pitchFamily="34" charset="-120"/>
              </a:rPr>
              <a:t>Rankings read directly from runs/canonical_v2_pilot/retrieval/. Relevance from final_pooled_qrels.tsv.</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66928" y="329184"/>
            <a:ext cx="548640" cy="274320"/>
          </a:xfrm>
          <a:prstGeom prst="rect">
            <a:avLst/>
          </a:prstGeom>
          <a:noFill/>
          <a:ln/>
        </p:spPr>
        <p:txBody>
          <a:bodyPr wrap="square" rtlCol="0" anchor="ctr"/>
          <a:lstStyle/>
          <a:p>
            <a:pPr indent="0" marL="0">
              <a:buNone/>
            </a:pPr>
            <a:r>
              <a:rPr lang="en-US" sz="1100" b="1" spc="200" kern="0" dirty="0">
                <a:solidFill>
                  <a:srgbClr val="C0492A"/>
                </a:solidFill>
                <a:latin typeface="Calibri" pitchFamily="34" charset="0"/>
                <a:ea typeface="Calibri" pitchFamily="34" charset="-122"/>
                <a:cs typeface="Calibri" pitchFamily="34" charset="-120"/>
              </a:rPr>
              <a:t>10</a:t>
            </a:r>
            <a:endParaRPr lang="en-US" sz="1100" dirty="0"/>
          </a:p>
        </p:txBody>
      </p:sp>
      <p:sp>
        <p:nvSpPr>
          <p:cNvPr id="3" name="Text 1"/>
          <p:cNvSpPr/>
          <p:nvPr/>
        </p:nvSpPr>
        <p:spPr>
          <a:xfrm>
            <a:off x="1069848" y="329184"/>
            <a:ext cx="7315200" cy="274320"/>
          </a:xfrm>
          <a:prstGeom prst="rect">
            <a:avLst/>
          </a:prstGeom>
          <a:noFill/>
          <a:ln/>
        </p:spPr>
        <p:txBody>
          <a:bodyPr wrap="square" rtlCol="0" anchor="ctr"/>
          <a:lstStyle/>
          <a:p>
            <a:pPr indent="0" marL="0">
              <a:buNone/>
            </a:pPr>
            <a:r>
              <a:rPr lang="en-US" sz="950" spc="240" kern="0" dirty="0">
                <a:solidFill>
                  <a:srgbClr val="6E7787"/>
                </a:solidFill>
                <a:latin typeface="Calibri" pitchFamily="34" charset="0"/>
                <a:ea typeface="Calibri" pitchFamily="34" charset="-122"/>
                <a:cs typeface="Calibri" pitchFamily="34" charset="-120"/>
              </a:rPr>
              <a:t>INTERPRETATION</a:t>
            </a:r>
            <a:endParaRPr lang="en-US" sz="950" dirty="0"/>
          </a:p>
        </p:txBody>
      </p:sp>
      <p:sp>
        <p:nvSpPr>
          <p:cNvPr id="4" name="Text 2"/>
          <p:cNvSpPr/>
          <p:nvPr/>
        </p:nvSpPr>
        <p:spPr>
          <a:xfrm>
            <a:off x="566928" y="777240"/>
            <a:ext cx="11027664" cy="868680"/>
          </a:xfrm>
          <a:prstGeom prst="rect">
            <a:avLst/>
          </a:prstGeom>
          <a:noFill/>
          <a:ln/>
        </p:spPr>
        <p:txBody>
          <a:bodyPr wrap="square" lIns="0" tIns="0" rIns="0" bIns="0" rtlCol="0" anchor="t"/>
          <a:lstStyle/>
          <a:p>
            <a:pPr indent="0" marL="0">
              <a:lnSpc>
                <a:spcPts val="3360"/>
              </a:lnSpc>
              <a:buNone/>
            </a:pPr>
            <a:r>
              <a:rPr lang="en-US" sz="3000" dirty="0">
                <a:solidFill>
                  <a:srgbClr val="1B2A41"/>
                </a:solidFill>
                <a:latin typeface="Cambria" pitchFamily="34" charset="0"/>
                <a:ea typeface="Cambria" pitchFamily="34" charset="-122"/>
                <a:cs typeface="Cambria" pitchFamily="34" charset="-120"/>
              </a:rPr>
              <a:t>Why lexical matching wins on this corpus.</a:t>
            </a:r>
            <a:endParaRPr lang="en-US" sz="3000" dirty="0"/>
          </a:p>
        </p:txBody>
      </p:sp>
      <p:sp>
        <p:nvSpPr>
          <p:cNvPr id="5" name="Text 3"/>
          <p:cNvSpPr/>
          <p:nvPr/>
        </p:nvSpPr>
        <p:spPr>
          <a:xfrm>
            <a:off x="566928" y="1600200"/>
            <a:ext cx="8822131" cy="777240"/>
          </a:xfrm>
          <a:prstGeom prst="rect">
            <a:avLst/>
          </a:prstGeom>
          <a:noFill/>
          <a:ln/>
        </p:spPr>
        <p:txBody>
          <a:bodyPr wrap="square" lIns="0" tIns="0" rIns="0" bIns="0" rtlCol="0" anchor="t"/>
          <a:lstStyle/>
          <a:p>
            <a:pPr indent="0" marL="0">
              <a:lnSpc>
                <a:spcPts val="2103"/>
              </a:lnSpc>
              <a:buNone/>
            </a:pPr>
            <a:r>
              <a:rPr lang="en-US" sz="1450" dirty="0">
                <a:solidFill>
                  <a:srgbClr val="3D4859"/>
                </a:solidFill>
                <a:latin typeface="Calibri" pitchFamily="34" charset="0"/>
                <a:ea typeface="Calibri" pitchFamily="34" charset="-122"/>
                <a:cs typeface="Calibri" pitchFamily="34" charset="-120"/>
              </a:rPr>
              <a:t>This is not a claim that BM25 is better than dense retrieval. It is a claim about a corpus with specific statistical properties — and the mechanism is identifiable.</a:t>
            </a:r>
            <a:endParaRPr lang="en-US" sz="1450" dirty="0"/>
          </a:p>
        </p:txBody>
      </p:sp>
      <p:sp>
        <p:nvSpPr>
          <p:cNvPr id="6" name="Text 4"/>
          <p:cNvSpPr/>
          <p:nvPr/>
        </p:nvSpPr>
        <p:spPr>
          <a:xfrm>
            <a:off x="566928" y="2468880"/>
            <a:ext cx="457200" cy="256032"/>
          </a:xfrm>
          <a:prstGeom prst="rect">
            <a:avLst/>
          </a:prstGeom>
          <a:noFill/>
          <a:ln/>
        </p:spPr>
        <p:txBody>
          <a:bodyPr wrap="square" lIns="0" tIns="0" rIns="0" bIns="0" rtlCol="0" anchor="ctr"/>
          <a:lstStyle/>
          <a:p>
            <a:pPr indent="0" marL="0">
              <a:buNone/>
            </a:pPr>
            <a:r>
              <a:rPr lang="en-US" sz="1000" b="1" spc="120" kern="0" dirty="0">
                <a:solidFill>
                  <a:srgbClr val="C0492A"/>
                </a:solidFill>
                <a:latin typeface="Calibri" pitchFamily="34" charset="0"/>
                <a:ea typeface="Calibri" pitchFamily="34" charset="-122"/>
                <a:cs typeface="Calibri" pitchFamily="34" charset="-120"/>
              </a:rPr>
              <a:t>01</a:t>
            </a:r>
            <a:endParaRPr lang="en-US" sz="1000" dirty="0"/>
          </a:p>
        </p:txBody>
      </p:sp>
      <p:sp>
        <p:nvSpPr>
          <p:cNvPr id="7" name="Text 5"/>
          <p:cNvSpPr/>
          <p:nvPr/>
        </p:nvSpPr>
        <p:spPr>
          <a:xfrm>
            <a:off x="1024128" y="2450592"/>
            <a:ext cx="4919472" cy="292608"/>
          </a:xfrm>
          <a:prstGeom prst="rect">
            <a:avLst/>
          </a:prstGeom>
          <a:noFill/>
          <a:ln/>
        </p:spPr>
        <p:txBody>
          <a:bodyPr wrap="square" lIns="0" tIns="0" rIns="0" bIns="0" rtlCol="0" anchor="ctr"/>
          <a:lstStyle/>
          <a:p>
            <a:pPr indent="0" marL="0">
              <a:buNone/>
            </a:pPr>
            <a:r>
              <a:rPr lang="en-US" sz="1600" dirty="0">
                <a:solidFill>
                  <a:srgbClr val="1B2A41"/>
                </a:solidFill>
                <a:latin typeface="Cambria" pitchFamily="34" charset="0"/>
                <a:ea typeface="Cambria" pitchFamily="34" charset="-122"/>
                <a:cs typeface="Cambria" pitchFamily="34" charset="-120"/>
              </a:rPr>
              <a:t>Vocabulary is bounded and repeated</a:t>
            </a:r>
            <a:endParaRPr lang="en-US" sz="1600" dirty="0"/>
          </a:p>
        </p:txBody>
      </p:sp>
      <p:sp>
        <p:nvSpPr>
          <p:cNvPr id="8" name="Text 6"/>
          <p:cNvSpPr/>
          <p:nvPr/>
        </p:nvSpPr>
        <p:spPr>
          <a:xfrm>
            <a:off x="1024128" y="2798064"/>
            <a:ext cx="4919472" cy="960120"/>
          </a:xfrm>
          <a:prstGeom prst="rect">
            <a:avLst/>
          </a:prstGeom>
          <a:noFill/>
          <a:ln/>
        </p:spPr>
        <p:txBody>
          <a:bodyPr wrap="square" lIns="0" tIns="0" rIns="0" bIns="0" rtlCol="0" anchor="t"/>
          <a:lstStyle/>
          <a:p>
            <a:pPr indent="0" marL="0">
              <a:lnSpc>
                <a:spcPts val="1700"/>
              </a:lnSpc>
              <a:buNone/>
            </a:pPr>
            <a:r>
              <a:rPr lang="en-US" sz="1200" dirty="0">
                <a:solidFill>
                  <a:srgbClr val="3D4859"/>
                </a:solidFill>
                <a:latin typeface="Calibri" pitchFamily="34" charset="0"/>
                <a:ea typeface="Calibri" pitchFamily="34" charset="-122"/>
                <a:cs typeface="Calibri" pitchFamily="34" charset="-120"/>
              </a:rPr>
              <a:t>A scheme name is effectively a primary key. It appears verbatim in the guideline, the FAQ and the amendment. Lexical matching exploits that identity directly.</a:t>
            </a:r>
            <a:endParaRPr lang="en-US" sz="1200" dirty="0"/>
          </a:p>
        </p:txBody>
      </p:sp>
      <p:sp>
        <p:nvSpPr>
          <p:cNvPr id="9" name="Text 7"/>
          <p:cNvSpPr/>
          <p:nvPr/>
        </p:nvSpPr>
        <p:spPr>
          <a:xfrm>
            <a:off x="6217920" y="2468880"/>
            <a:ext cx="457200" cy="256032"/>
          </a:xfrm>
          <a:prstGeom prst="rect">
            <a:avLst/>
          </a:prstGeom>
          <a:noFill/>
          <a:ln/>
        </p:spPr>
        <p:txBody>
          <a:bodyPr wrap="square" lIns="0" tIns="0" rIns="0" bIns="0" rtlCol="0" anchor="ctr"/>
          <a:lstStyle/>
          <a:p>
            <a:pPr indent="0" marL="0">
              <a:buNone/>
            </a:pPr>
            <a:r>
              <a:rPr lang="en-US" sz="1000" b="1" spc="120" kern="0" dirty="0">
                <a:solidFill>
                  <a:srgbClr val="C0492A"/>
                </a:solidFill>
                <a:latin typeface="Calibri" pitchFamily="34" charset="0"/>
                <a:ea typeface="Calibri" pitchFamily="34" charset="-122"/>
                <a:cs typeface="Calibri" pitchFamily="34" charset="-120"/>
              </a:rPr>
              <a:t>02</a:t>
            </a:r>
            <a:endParaRPr lang="en-US" sz="1000" dirty="0"/>
          </a:p>
        </p:txBody>
      </p:sp>
      <p:sp>
        <p:nvSpPr>
          <p:cNvPr id="10" name="Text 8"/>
          <p:cNvSpPr/>
          <p:nvPr/>
        </p:nvSpPr>
        <p:spPr>
          <a:xfrm>
            <a:off x="6675120" y="2450592"/>
            <a:ext cx="4919472" cy="292608"/>
          </a:xfrm>
          <a:prstGeom prst="rect">
            <a:avLst/>
          </a:prstGeom>
          <a:noFill/>
          <a:ln/>
        </p:spPr>
        <p:txBody>
          <a:bodyPr wrap="square" lIns="0" tIns="0" rIns="0" bIns="0" rtlCol="0" anchor="ctr"/>
          <a:lstStyle/>
          <a:p>
            <a:pPr indent="0" marL="0">
              <a:buNone/>
            </a:pPr>
            <a:r>
              <a:rPr lang="en-US" sz="1600" dirty="0">
                <a:solidFill>
                  <a:srgbClr val="1B2A41"/>
                </a:solidFill>
                <a:latin typeface="Cambria" pitchFamily="34" charset="0"/>
                <a:ea typeface="Cambria" pitchFamily="34" charset="-122"/>
                <a:cs typeface="Cambria" pitchFamily="34" charset="-120"/>
              </a:rPr>
              <a:t>Rare terms carry the signal</a:t>
            </a:r>
            <a:endParaRPr lang="en-US" sz="1600" dirty="0"/>
          </a:p>
        </p:txBody>
      </p:sp>
      <p:sp>
        <p:nvSpPr>
          <p:cNvPr id="11" name="Text 9"/>
          <p:cNvSpPr/>
          <p:nvPr/>
        </p:nvSpPr>
        <p:spPr>
          <a:xfrm>
            <a:off x="6675120" y="2798064"/>
            <a:ext cx="4919472" cy="960120"/>
          </a:xfrm>
          <a:prstGeom prst="rect">
            <a:avLst/>
          </a:prstGeom>
          <a:noFill/>
          <a:ln/>
        </p:spPr>
        <p:txBody>
          <a:bodyPr wrap="square" lIns="0" tIns="0" rIns="0" bIns="0" rtlCol="0" anchor="t"/>
          <a:lstStyle/>
          <a:p>
            <a:pPr indent="0" marL="0">
              <a:lnSpc>
                <a:spcPts val="1700"/>
              </a:lnSpc>
              <a:buNone/>
            </a:pPr>
            <a:r>
              <a:rPr lang="en-US" sz="1200" dirty="0">
                <a:solidFill>
                  <a:srgbClr val="3D4859"/>
                </a:solidFill>
                <a:latin typeface="Calibri" pitchFamily="34" charset="0"/>
                <a:ea typeface="Calibri" pitchFamily="34" charset="-122"/>
                <a:cs typeface="Calibri" pitchFamily="34" charset="-120"/>
              </a:rPr>
              <a:t>BM25 weights rare terms heavily. In this corpus the rare terms are precisely the discriminative ones — scheme acronyms, statutory categories, named ministries.</a:t>
            </a:r>
            <a:endParaRPr lang="en-US" sz="1200" dirty="0"/>
          </a:p>
        </p:txBody>
      </p:sp>
      <p:sp>
        <p:nvSpPr>
          <p:cNvPr id="12" name="Text 10"/>
          <p:cNvSpPr/>
          <p:nvPr/>
        </p:nvSpPr>
        <p:spPr>
          <a:xfrm>
            <a:off x="566928" y="4096512"/>
            <a:ext cx="457200" cy="256032"/>
          </a:xfrm>
          <a:prstGeom prst="rect">
            <a:avLst/>
          </a:prstGeom>
          <a:noFill/>
          <a:ln/>
        </p:spPr>
        <p:txBody>
          <a:bodyPr wrap="square" lIns="0" tIns="0" rIns="0" bIns="0" rtlCol="0" anchor="ctr"/>
          <a:lstStyle/>
          <a:p>
            <a:pPr indent="0" marL="0">
              <a:buNone/>
            </a:pPr>
            <a:r>
              <a:rPr lang="en-US" sz="1000" b="1" spc="120" kern="0" dirty="0">
                <a:solidFill>
                  <a:srgbClr val="C0492A"/>
                </a:solidFill>
                <a:latin typeface="Calibri" pitchFamily="34" charset="0"/>
                <a:ea typeface="Calibri" pitchFamily="34" charset="-122"/>
                <a:cs typeface="Calibri" pitchFamily="34" charset="-120"/>
              </a:rPr>
              <a:t>03</a:t>
            </a:r>
            <a:endParaRPr lang="en-US" sz="1000" dirty="0"/>
          </a:p>
        </p:txBody>
      </p:sp>
      <p:sp>
        <p:nvSpPr>
          <p:cNvPr id="13" name="Text 11"/>
          <p:cNvSpPr/>
          <p:nvPr/>
        </p:nvSpPr>
        <p:spPr>
          <a:xfrm>
            <a:off x="1024128" y="4078224"/>
            <a:ext cx="4919472" cy="292608"/>
          </a:xfrm>
          <a:prstGeom prst="rect">
            <a:avLst/>
          </a:prstGeom>
          <a:noFill/>
          <a:ln/>
        </p:spPr>
        <p:txBody>
          <a:bodyPr wrap="square" lIns="0" tIns="0" rIns="0" bIns="0" rtlCol="0" anchor="ctr"/>
          <a:lstStyle/>
          <a:p>
            <a:pPr indent="0" marL="0">
              <a:buNone/>
            </a:pPr>
            <a:r>
              <a:rPr lang="en-US" sz="1600" dirty="0">
                <a:solidFill>
                  <a:srgbClr val="1B2A41"/>
                </a:solidFill>
                <a:latin typeface="Cambria" pitchFamily="34" charset="0"/>
                <a:ea typeface="Cambria" pitchFamily="34" charset="-122"/>
                <a:cs typeface="Cambria" pitchFamily="34" charset="-120"/>
              </a:rPr>
              <a:t>Embeddings dilute what matters</a:t>
            </a:r>
            <a:endParaRPr lang="en-US" sz="1600" dirty="0"/>
          </a:p>
        </p:txBody>
      </p:sp>
      <p:sp>
        <p:nvSpPr>
          <p:cNvPr id="14" name="Text 12"/>
          <p:cNvSpPr/>
          <p:nvPr/>
        </p:nvSpPr>
        <p:spPr>
          <a:xfrm>
            <a:off x="1024128" y="4425696"/>
            <a:ext cx="4919472" cy="960120"/>
          </a:xfrm>
          <a:prstGeom prst="rect">
            <a:avLst/>
          </a:prstGeom>
          <a:noFill/>
          <a:ln/>
        </p:spPr>
        <p:txBody>
          <a:bodyPr wrap="square" lIns="0" tIns="0" rIns="0" bIns="0" rtlCol="0" anchor="t"/>
          <a:lstStyle/>
          <a:p>
            <a:pPr indent="0" marL="0">
              <a:lnSpc>
                <a:spcPts val="1700"/>
              </a:lnSpc>
              <a:buNone/>
            </a:pPr>
            <a:r>
              <a:rPr lang="en-US" sz="1200" dirty="0">
                <a:solidFill>
                  <a:srgbClr val="3D4859"/>
                </a:solidFill>
                <a:latin typeface="Calibri" pitchFamily="34" charset="0"/>
                <a:ea typeface="Calibri" pitchFamily="34" charset="-122"/>
                <a:cs typeface="Calibri" pitchFamily="34" charset="-120"/>
              </a:rPr>
              <a:t>A general-purpose encoder compresses a passage into one vector, spreading weight across thematically related schemes. Housing documents look alike in embedding space even when only one is correct.</a:t>
            </a:r>
            <a:endParaRPr lang="en-US" sz="1200" dirty="0"/>
          </a:p>
        </p:txBody>
      </p:sp>
      <p:sp>
        <p:nvSpPr>
          <p:cNvPr id="15" name="Text 13"/>
          <p:cNvSpPr/>
          <p:nvPr/>
        </p:nvSpPr>
        <p:spPr>
          <a:xfrm>
            <a:off x="6217920" y="4096512"/>
            <a:ext cx="457200" cy="256032"/>
          </a:xfrm>
          <a:prstGeom prst="rect">
            <a:avLst/>
          </a:prstGeom>
          <a:noFill/>
          <a:ln/>
        </p:spPr>
        <p:txBody>
          <a:bodyPr wrap="square" lIns="0" tIns="0" rIns="0" bIns="0" rtlCol="0" anchor="ctr"/>
          <a:lstStyle/>
          <a:p>
            <a:pPr indent="0" marL="0">
              <a:buNone/>
            </a:pPr>
            <a:r>
              <a:rPr lang="en-US" sz="1000" b="1" spc="120" kern="0" dirty="0">
                <a:solidFill>
                  <a:srgbClr val="C0492A"/>
                </a:solidFill>
                <a:latin typeface="Calibri" pitchFamily="34" charset="0"/>
                <a:ea typeface="Calibri" pitchFamily="34" charset="-122"/>
                <a:cs typeface="Calibri" pitchFamily="34" charset="-120"/>
              </a:rPr>
              <a:t>04</a:t>
            </a:r>
            <a:endParaRPr lang="en-US" sz="1000" dirty="0"/>
          </a:p>
        </p:txBody>
      </p:sp>
      <p:sp>
        <p:nvSpPr>
          <p:cNvPr id="16" name="Text 14"/>
          <p:cNvSpPr/>
          <p:nvPr/>
        </p:nvSpPr>
        <p:spPr>
          <a:xfrm>
            <a:off x="6675120" y="4078224"/>
            <a:ext cx="4919472" cy="292608"/>
          </a:xfrm>
          <a:prstGeom prst="rect">
            <a:avLst/>
          </a:prstGeom>
          <a:noFill/>
          <a:ln/>
        </p:spPr>
        <p:txBody>
          <a:bodyPr wrap="square" lIns="0" tIns="0" rIns="0" bIns="0" rtlCol="0" anchor="ctr"/>
          <a:lstStyle/>
          <a:p>
            <a:pPr indent="0" marL="0">
              <a:buNone/>
            </a:pPr>
            <a:r>
              <a:rPr lang="en-US" sz="1600" dirty="0">
                <a:solidFill>
                  <a:srgbClr val="1B2A41"/>
                </a:solidFill>
                <a:latin typeface="Cambria" pitchFamily="34" charset="0"/>
                <a:ea typeface="Cambria" pitchFamily="34" charset="-122"/>
                <a:cs typeface="Cambria" pitchFamily="34" charset="-120"/>
              </a:rPr>
              <a:t>Entity extraction is the graph’s ceiling</a:t>
            </a:r>
            <a:endParaRPr lang="en-US" sz="1600" dirty="0"/>
          </a:p>
        </p:txBody>
      </p:sp>
      <p:sp>
        <p:nvSpPr>
          <p:cNvPr id="17" name="Text 15"/>
          <p:cNvSpPr/>
          <p:nvPr/>
        </p:nvSpPr>
        <p:spPr>
          <a:xfrm>
            <a:off x="6675120" y="4425696"/>
            <a:ext cx="4919472" cy="960120"/>
          </a:xfrm>
          <a:prstGeom prst="rect">
            <a:avLst/>
          </a:prstGeom>
          <a:noFill/>
          <a:ln/>
        </p:spPr>
        <p:txBody>
          <a:bodyPr wrap="square" lIns="0" tIns="0" rIns="0" bIns="0" rtlCol="0" anchor="t"/>
          <a:lstStyle/>
          <a:p>
            <a:pPr indent="0" marL="0">
              <a:lnSpc>
                <a:spcPts val="1700"/>
              </a:lnSpc>
              <a:buNone/>
            </a:pPr>
            <a:r>
              <a:rPr lang="en-US" sz="1200" dirty="0">
                <a:solidFill>
                  <a:srgbClr val="3D4859"/>
                </a:solidFill>
                <a:latin typeface="Calibri" pitchFamily="34" charset="0"/>
                <a:ea typeface="Calibri" pitchFamily="34" charset="-122"/>
                <a:cs typeface="Calibri" pitchFamily="34" charset="-120"/>
              </a:rPr>
              <a:t>Graph retrieval inherits every NER failure. On paraphrased questions with no named entity, it has no entry point at all — hence 0.000, not a tuning problem.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66928" y="329184"/>
            <a:ext cx="548640" cy="274320"/>
          </a:xfrm>
          <a:prstGeom prst="rect">
            <a:avLst/>
          </a:prstGeom>
          <a:noFill/>
          <a:ln/>
        </p:spPr>
        <p:txBody>
          <a:bodyPr wrap="square" rtlCol="0" anchor="ctr"/>
          <a:lstStyle/>
          <a:p>
            <a:pPr indent="0" marL="0">
              <a:buNone/>
            </a:pPr>
            <a:r>
              <a:rPr lang="en-US" sz="1100" b="1" spc="200" kern="0" dirty="0">
                <a:solidFill>
                  <a:srgbClr val="C0492A"/>
                </a:solidFill>
                <a:latin typeface="Calibri" pitchFamily="34" charset="0"/>
                <a:ea typeface="Calibri" pitchFamily="34" charset="-122"/>
                <a:cs typeface="Calibri" pitchFamily="34" charset="-120"/>
              </a:rPr>
              <a:t>11</a:t>
            </a:r>
            <a:endParaRPr lang="en-US" sz="1100" dirty="0"/>
          </a:p>
        </p:txBody>
      </p:sp>
      <p:sp>
        <p:nvSpPr>
          <p:cNvPr id="3" name="Text 1"/>
          <p:cNvSpPr/>
          <p:nvPr/>
        </p:nvSpPr>
        <p:spPr>
          <a:xfrm>
            <a:off x="1069848" y="329184"/>
            <a:ext cx="7315200" cy="274320"/>
          </a:xfrm>
          <a:prstGeom prst="rect">
            <a:avLst/>
          </a:prstGeom>
          <a:noFill/>
          <a:ln/>
        </p:spPr>
        <p:txBody>
          <a:bodyPr wrap="square" rtlCol="0" anchor="ctr"/>
          <a:lstStyle/>
          <a:p>
            <a:pPr indent="0" marL="0">
              <a:buNone/>
            </a:pPr>
            <a:r>
              <a:rPr lang="en-US" sz="950" spc="240" kern="0" dirty="0">
                <a:solidFill>
                  <a:srgbClr val="6E7787"/>
                </a:solidFill>
                <a:latin typeface="Calibri" pitchFamily="34" charset="0"/>
                <a:ea typeface="Calibri" pitchFamily="34" charset="-122"/>
                <a:cs typeface="Calibri" pitchFamily="34" charset="-120"/>
              </a:rPr>
              <a:t>OPERATIONAL COST</a:t>
            </a:r>
            <a:endParaRPr lang="en-US" sz="950" dirty="0"/>
          </a:p>
        </p:txBody>
      </p:sp>
      <p:sp>
        <p:nvSpPr>
          <p:cNvPr id="4" name="Text 2"/>
          <p:cNvSpPr/>
          <p:nvPr/>
        </p:nvSpPr>
        <p:spPr>
          <a:xfrm>
            <a:off x="566928" y="777240"/>
            <a:ext cx="11027664" cy="868680"/>
          </a:xfrm>
          <a:prstGeom prst="rect">
            <a:avLst/>
          </a:prstGeom>
          <a:noFill/>
          <a:ln/>
        </p:spPr>
        <p:txBody>
          <a:bodyPr wrap="square" lIns="0" tIns="0" rIns="0" bIns="0" rtlCol="0" anchor="t"/>
          <a:lstStyle/>
          <a:p>
            <a:pPr indent="0" marL="0">
              <a:lnSpc>
                <a:spcPts val="3360"/>
              </a:lnSpc>
              <a:buNone/>
            </a:pPr>
            <a:r>
              <a:rPr lang="en-US" sz="3000" dirty="0">
                <a:solidFill>
                  <a:srgbClr val="1B2A41"/>
                </a:solidFill>
                <a:latin typeface="Cambria" pitchFamily="34" charset="0"/>
                <a:ea typeface="Cambria" pitchFamily="34" charset="-122"/>
                <a:cs typeface="Cambria" pitchFamily="34" charset="-120"/>
              </a:rPr>
              <a:t>The best-scoring system is not</a:t>
            </a:r>
            <a:endParaRPr lang="en-US" sz="3000" dirty="0"/>
          </a:p>
          <a:p>
            <a:pPr indent="0" marL="0">
              <a:lnSpc>
                <a:spcPts val="3360"/>
              </a:lnSpc>
              <a:buNone/>
            </a:pPr>
            <a:r>
              <a:rPr lang="en-US" sz="3000" dirty="0">
                <a:solidFill>
                  <a:srgbClr val="1B2A41"/>
                </a:solidFill>
                <a:latin typeface="Cambria" pitchFamily="34" charset="0"/>
                <a:ea typeface="Cambria" pitchFamily="34" charset="-122"/>
                <a:cs typeface="Cambria" pitchFamily="34" charset="-120"/>
              </a:rPr>
              <a:t>the one you would deploy.</a:t>
            </a:r>
            <a:endParaRPr lang="en-US" sz="3000" dirty="0"/>
          </a:p>
        </p:txBody>
      </p:sp>
      <p:sp>
        <p:nvSpPr>
          <p:cNvPr id="5" name="Text 3"/>
          <p:cNvSpPr/>
          <p:nvPr/>
        </p:nvSpPr>
        <p:spPr>
          <a:xfrm>
            <a:off x="566928" y="1929384"/>
            <a:ext cx="2194560" cy="237744"/>
          </a:xfrm>
          <a:prstGeom prst="rect">
            <a:avLst/>
          </a:prstGeom>
          <a:noFill/>
          <a:ln/>
        </p:spPr>
        <p:txBody>
          <a:bodyPr wrap="square" lIns="0" tIns="0" rIns="0" bIns="0" rtlCol="0" anchor="ctr"/>
          <a:lstStyle/>
          <a:p>
            <a:pPr indent="0" marL="0">
              <a:buNone/>
            </a:pPr>
            <a:r>
              <a:rPr lang="en-US" sz="850" b="1" spc="140" kern="0" dirty="0">
                <a:solidFill>
                  <a:srgbClr val="6E7787"/>
                </a:solidFill>
                <a:latin typeface="Calibri" pitchFamily="34" charset="0"/>
                <a:ea typeface="Calibri" pitchFamily="34" charset="-122"/>
                <a:cs typeface="Calibri" pitchFamily="34" charset="-120"/>
              </a:rPr>
              <a:t>SYSTEM</a:t>
            </a:r>
            <a:endParaRPr lang="en-US" sz="850" dirty="0"/>
          </a:p>
        </p:txBody>
      </p:sp>
      <p:sp>
        <p:nvSpPr>
          <p:cNvPr id="6" name="Text 4"/>
          <p:cNvSpPr/>
          <p:nvPr/>
        </p:nvSpPr>
        <p:spPr>
          <a:xfrm>
            <a:off x="3767328" y="1929384"/>
            <a:ext cx="2194560" cy="237744"/>
          </a:xfrm>
          <a:prstGeom prst="rect">
            <a:avLst/>
          </a:prstGeom>
          <a:noFill/>
          <a:ln/>
        </p:spPr>
        <p:txBody>
          <a:bodyPr wrap="square" lIns="0" tIns="0" rIns="0" bIns="0" rtlCol="0" anchor="ctr"/>
          <a:lstStyle/>
          <a:p>
            <a:pPr indent="0" marL="0">
              <a:buNone/>
            </a:pPr>
            <a:r>
              <a:rPr lang="en-US" sz="850" b="1" spc="140" kern="0" dirty="0">
                <a:solidFill>
                  <a:srgbClr val="6E7787"/>
                </a:solidFill>
                <a:latin typeface="Calibri" pitchFamily="34" charset="0"/>
                <a:ea typeface="Calibri" pitchFamily="34" charset="-122"/>
                <a:cs typeface="Calibri" pitchFamily="34" charset="-120"/>
              </a:rPr>
              <a:t>MRR@10</a:t>
            </a:r>
            <a:endParaRPr lang="en-US" sz="850" dirty="0"/>
          </a:p>
        </p:txBody>
      </p:sp>
      <p:sp>
        <p:nvSpPr>
          <p:cNvPr id="7" name="Text 5"/>
          <p:cNvSpPr/>
          <p:nvPr/>
        </p:nvSpPr>
        <p:spPr>
          <a:xfrm>
            <a:off x="5504688" y="1929384"/>
            <a:ext cx="2194560" cy="237744"/>
          </a:xfrm>
          <a:prstGeom prst="rect">
            <a:avLst/>
          </a:prstGeom>
          <a:noFill/>
          <a:ln/>
        </p:spPr>
        <p:txBody>
          <a:bodyPr wrap="square" lIns="0" tIns="0" rIns="0" bIns="0" rtlCol="0" anchor="ctr"/>
          <a:lstStyle/>
          <a:p>
            <a:pPr indent="0" marL="0">
              <a:buNone/>
            </a:pPr>
            <a:r>
              <a:rPr lang="en-US" sz="850" b="1" spc="140" kern="0" dirty="0">
                <a:solidFill>
                  <a:srgbClr val="6E7787"/>
                </a:solidFill>
                <a:latin typeface="Calibri" pitchFamily="34" charset="0"/>
                <a:ea typeface="Calibri" pitchFamily="34" charset="-122"/>
                <a:cs typeface="Calibri" pitchFamily="34" charset="-120"/>
              </a:rPr>
              <a:t>MEAN LATENCY</a:t>
            </a:r>
            <a:endParaRPr lang="en-US" sz="850" dirty="0"/>
          </a:p>
        </p:txBody>
      </p:sp>
      <p:sp>
        <p:nvSpPr>
          <p:cNvPr id="8" name="Text 6"/>
          <p:cNvSpPr/>
          <p:nvPr/>
        </p:nvSpPr>
        <p:spPr>
          <a:xfrm>
            <a:off x="7242048" y="1929384"/>
            <a:ext cx="2194560" cy="237744"/>
          </a:xfrm>
          <a:prstGeom prst="rect">
            <a:avLst/>
          </a:prstGeom>
          <a:noFill/>
          <a:ln/>
        </p:spPr>
        <p:txBody>
          <a:bodyPr wrap="square" lIns="0" tIns="0" rIns="0" bIns="0" rtlCol="0" anchor="ctr"/>
          <a:lstStyle/>
          <a:p>
            <a:pPr indent="0" marL="0">
              <a:buNone/>
            </a:pPr>
            <a:r>
              <a:rPr lang="en-US" sz="850" b="1" spc="140" kern="0" dirty="0">
                <a:solidFill>
                  <a:srgbClr val="6E7787"/>
                </a:solidFill>
                <a:latin typeface="Calibri" pitchFamily="34" charset="0"/>
                <a:ea typeface="Calibri" pitchFamily="34" charset="-122"/>
                <a:cs typeface="Calibri" pitchFamily="34" charset="-120"/>
              </a:rPr>
              <a:t>API COST</a:t>
            </a:r>
            <a:endParaRPr lang="en-US" sz="850" dirty="0"/>
          </a:p>
        </p:txBody>
      </p:sp>
      <p:sp>
        <p:nvSpPr>
          <p:cNvPr id="9" name="Text 7"/>
          <p:cNvSpPr/>
          <p:nvPr/>
        </p:nvSpPr>
        <p:spPr>
          <a:xfrm>
            <a:off x="8796528" y="1929384"/>
            <a:ext cx="2194560" cy="237744"/>
          </a:xfrm>
          <a:prstGeom prst="rect">
            <a:avLst/>
          </a:prstGeom>
          <a:noFill/>
          <a:ln/>
        </p:spPr>
        <p:txBody>
          <a:bodyPr wrap="square" lIns="0" tIns="0" rIns="0" bIns="0" rtlCol="0" anchor="ctr"/>
          <a:lstStyle/>
          <a:p>
            <a:pPr indent="0" marL="0">
              <a:buNone/>
            </a:pPr>
            <a:r>
              <a:rPr lang="en-US" sz="850" b="1" spc="140" kern="0" dirty="0">
                <a:solidFill>
                  <a:srgbClr val="6E7787"/>
                </a:solidFill>
                <a:latin typeface="Calibri" pitchFamily="34" charset="0"/>
                <a:ea typeface="Calibri" pitchFamily="34" charset="-122"/>
                <a:cs typeface="Calibri" pitchFamily="34" charset="-120"/>
              </a:rPr>
              <a:t>INFRASTRUCTURE</a:t>
            </a:r>
            <a:endParaRPr lang="en-US" sz="850" dirty="0"/>
          </a:p>
        </p:txBody>
      </p:sp>
      <p:sp>
        <p:nvSpPr>
          <p:cNvPr id="10" name="Shape 8"/>
          <p:cNvSpPr/>
          <p:nvPr/>
        </p:nvSpPr>
        <p:spPr>
          <a:xfrm>
            <a:off x="438912" y="2167128"/>
            <a:ext cx="11283696" cy="566928"/>
          </a:xfrm>
          <a:prstGeom prst="rect">
            <a:avLst/>
          </a:prstGeom>
          <a:solidFill>
            <a:srgbClr val="F4E0D8"/>
          </a:solidFill>
          <a:ln w="12700">
            <a:solidFill>
              <a:srgbClr val="333333"/>
            </a:solidFill>
            <a:prstDash val="solid"/>
          </a:ln>
        </p:spPr>
      </p:sp>
      <p:sp>
        <p:nvSpPr>
          <p:cNvPr id="11" name="Text 9"/>
          <p:cNvSpPr/>
          <p:nvPr/>
        </p:nvSpPr>
        <p:spPr>
          <a:xfrm>
            <a:off x="566928" y="2276856"/>
            <a:ext cx="3017520" cy="310896"/>
          </a:xfrm>
          <a:prstGeom prst="rect">
            <a:avLst/>
          </a:prstGeom>
          <a:noFill/>
          <a:ln/>
        </p:spPr>
        <p:txBody>
          <a:bodyPr wrap="square" lIns="0" tIns="0" rIns="0" bIns="0" rtlCol="0" anchor="ctr"/>
          <a:lstStyle/>
          <a:p>
            <a:pPr indent="0" marL="0">
              <a:buNone/>
            </a:pPr>
            <a:r>
              <a:rPr lang="en-US" sz="1400" b="1" dirty="0">
                <a:solidFill>
                  <a:srgbClr val="C0492A"/>
                </a:solidFill>
                <a:latin typeface="Calibri" pitchFamily="34" charset="0"/>
                <a:ea typeface="Calibri" pitchFamily="34" charset="-122"/>
                <a:cs typeface="Calibri" pitchFamily="34" charset="-120"/>
              </a:rPr>
              <a:t>BM25</a:t>
            </a:r>
            <a:endParaRPr lang="en-US" sz="1400" dirty="0"/>
          </a:p>
        </p:txBody>
      </p:sp>
      <p:sp>
        <p:nvSpPr>
          <p:cNvPr id="12" name="Text 10"/>
          <p:cNvSpPr/>
          <p:nvPr/>
        </p:nvSpPr>
        <p:spPr>
          <a:xfrm>
            <a:off x="3767328" y="2295144"/>
            <a:ext cx="1554480" cy="292608"/>
          </a:xfrm>
          <a:prstGeom prst="rect">
            <a:avLst/>
          </a:prstGeom>
          <a:noFill/>
          <a:ln/>
        </p:spPr>
        <p:txBody>
          <a:bodyPr wrap="square" lIns="0" tIns="0" rIns="0" bIns="0" rtlCol="0" anchor="ctr"/>
          <a:lstStyle/>
          <a:p>
            <a:pPr indent="0" marL="0">
              <a:buNone/>
            </a:pPr>
            <a:r>
              <a:rPr lang="en-US" sz="1300" dirty="0">
                <a:solidFill>
                  <a:srgbClr val="1B2A41"/>
                </a:solidFill>
                <a:latin typeface="Calibri" pitchFamily="34" charset="0"/>
                <a:ea typeface="Calibri" pitchFamily="34" charset="-122"/>
                <a:cs typeface="Calibri" pitchFamily="34" charset="-120"/>
              </a:rPr>
              <a:t>0.9412</a:t>
            </a:r>
            <a:endParaRPr lang="en-US" sz="1300" dirty="0"/>
          </a:p>
        </p:txBody>
      </p:sp>
      <p:sp>
        <p:nvSpPr>
          <p:cNvPr id="13" name="Text 11"/>
          <p:cNvSpPr/>
          <p:nvPr/>
        </p:nvSpPr>
        <p:spPr>
          <a:xfrm>
            <a:off x="5504688" y="2295144"/>
            <a:ext cx="1554480" cy="292608"/>
          </a:xfrm>
          <a:prstGeom prst="rect">
            <a:avLst/>
          </a:prstGeom>
          <a:noFill/>
          <a:ln/>
        </p:spPr>
        <p:txBody>
          <a:bodyPr wrap="square" lIns="0" tIns="0" rIns="0" bIns="0" rtlCol="0" anchor="ctr"/>
          <a:lstStyle/>
          <a:p>
            <a:pPr indent="0" marL="0">
              <a:buNone/>
            </a:pPr>
            <a:r>
              <a:rPr lang="en-US" sz="1300" dirty="0">
                <a:solidFill>
                  <a:srgbClr val="1B2A41"/>
                </a:solidFill>
                <a:latin typeface="Calibri" pitchFamily="34" charset="0"/>
                <a:ea typeface="Calibri" pitchFamily="34" charset="-122"/>
                <a:cs typeface="Calibri" pitchFamily="34" charset="-120"/>
              </a:rPr>
              <a:t>0.76 ms</a:t>
            </a:r>
            <a:endParaRPr lang="en-US" sz="1300" dirty="0"/>
          </a:p>
        </p:txBody>
      </p:sp>
      <p:sp>
        <p:nvSpPr>
          <p:cNvPr id="14" name="Text 12"/>
          <p:cNvSpPr/>
          <p:nvPr/>
        </p:nvSpPr>
        <p:spPr>
          <a:xfrm>
            <a:off x="7242048" y="2313432"/>
            <a:ext cx="1463040" cy="274320"/>
          </a:xfrm>
          <a:prstGeom prst="rect">
            <a:avLst/>
          </a:prstGeom>
          <a:noFill/>
          <a:ln/>
        </p:spPr>
        <p:txBody>
          <a:bodyPr wrap="square" lIns="0" tIns="0" rIns="0" bIns="0" rtlCol="0" anchor="ctr"/>
          <a:lstStyle/>
          <a:p>
            <a:pPr indent="0" marL="0">
              <a:buNone/>
            </a:pPr>
            <a:r>
              <a:rPr lang="en-US" sz="1150" dirty="0">
                <a:solidFill>
                  <a:srgbClr val="3D4859"/>
                </a:solidFill>
                <a:latin typeface="Calibri" pitchFamily="34" charset="0"/>
                <a:ea typeface="Calibri" pitchFamily="34" charset="-122"/>
                <a:cs typeface="Calibri" pitchFamily="34" charset="-120"/>
              </a:rPr>
              <a:t>none</a:t>
            </a:r>
            <a:endParaRPr lang="en-US" sz="1150" dirty="0"/>
          </a:p>
        </p:txBody>
      </p:sp>
      <p:sp>
        <p:nvSpPr>
          <p:cNvPr id="15" name="Text 13"/>
          <p:cNvSpPr/>
          <p:nvPr/>
        </p:nvSpPr>
        <p:spPr>
          <a:xfrm>
            <a:off x="8796528" y="2313432"/>
            <a:ext cx="2834640" cy="274320"/>
          </a:xfrm>
          <a:prstGeom prst="rect">
            <a:avLst/>
          </a:prstGeom>
          <a:noFill/>
          <a:ln/>
        </p:spPr>
        <p:txBody>
          <a:bodyPr wrap="square" lIns="0" tIns="0" rIns="0" bIns="0" rtlCol="0" anchor="ctr"/>
          <a:lstStyle/>
          <a:p>
            <a:pPr indent="0" marL="0">
              <a:buNone/>
            </a:pPr>
            <a:r>
              <a:rPr lang="en-US" sz="1150" dirty="0">
                <a:solidFill>
                  <a:srgbClr val="3D4859"/>
                </a:solidFill>
                <a:latin typeface="Calibri" pitchFamily="34" charset="0"/>
                <a:ea typeface="Calibri" pitchFamily="34" charset="-122"/>
                <a:cs typeface="Calibri" pitchFamily="34" charset="-120"/>
              </a:rPr>
              <a:t>CPU only</a:t>
            </a:r>
            <a:endParaRPr lang="en-US" sz="1150" dirty="0"/>
          </a:p>
        </p:txBody>
      </p:sp>
      <p:sp>
        <p:nvSpPr>
          <p:cNvPr id="16" name="Text 14"/>
          <p:cNvSpPr/>
          <p:nvPr/>
        </p:nvSpPr>
        <p:spPr>
          <a:xfrm>
            <a:off x="566928" y="2880360"/>
            <a:ext cx="3017520" cy="310896"/>
          </a:xfrm>
          <a:prstGeom prst="rect">
            <a:avLst/>
          </a:prstGeom>
          <a:noFill/>
          <a:ln/>
        </p:spPr>
        <p:txBody>
          <a:bodyPr wrap="square" lIns="0" tIns="0" rIns="0" bIns="0" rtlCol="0" anchor="ctr"/>
          <a:lstStyle/>
          <a:p>
            <a:pPr indent="0" marL="0">
              <a:buNone/>
            </a:pPr>
            <a:r>
              <a:rPr lang="en-US" sz="1400" dirty="0">
                <a:solidFill>
                  <a:srgbClr val="6E7787"/>
                </a:solidFill>
                <a:latin typeface="Calibri" pitchFamily="34" charset="0"/>
                <a:ea typeface="Calibri" pitchFamily="34" charset="-122"/>
                <a:cs typeface="Calibri" pitchFamily="34" charset="-120"/>
              </a:rPr>
              <a:t>FAISS</a:t>
            </a:r>
            <a:endParaRPr lang="en-US" sz="1400" dirty="0"/>
          </a:p>
        </p:txBody>
      </p:sp>
      <p:sp>
        <p:nvSpPr>
          <p:cNvPr id="17" name="Text 15"/>
          <p:cNvSpPr/>
          <p:nvPr/>
        </p:nvSpPr>
        <p:spPr>
          <a:xfrm>
            <a:off x="3767328" y="2898648"/>
            <a:ext cx="1554480" cy="292608"/>
          </a:xfrm>
          <a:prstGeom prst="rect">
            <a:avLst/>
          </a:prstGeom>
          <a:noFill/>
          <a:ln/>
        </p:spPr>
        <p:txBody>
          <a:bodyPr wrap="square" lIns="0" tIns="0" rIns="0" bIns="0" rtlCol="0" anchor="ctr"/>
          <a:lstStyle/>
          <a:p>
            <a:pPr indent="0" marL="0">
              <a:buNone/>
            </a:pPr>
            <a:r>
              <a:rPr lang="en-US" sz="1300" dirty="0">
                <a:solidFill>
                  <a:srgbClr val="1B2A41"/>
                </a:solidFill>
                <a:latin typeface="Calibri" pitchFamily="34" charset="0"/>
                <a:ea typeface="Calibri" pitchFamily="34" charset="-122"/>
                <a:cs typeface="Calibri" pitchFamily="34" charset="-120"/>
              </a:rPr>
              <a:t>0.8279</a:t>
            </a:r>
            <a:endParaRPr lang="en-US" sz="1300" dirty="0"/>
          </a:p>
        </p:txBody>
      </p:sp>
      <p:sp>
        <p:nvSpPr>
          <p:cNvPr id="18" name="Text 16"/>
          <p:cNvSpPr/>
          <p:nvPr/>
        </p:nvSpPr>
        <p:spPr>
          <a:xfrm>
            <a:off x="5504688" y="2898648"/>
            <a:ext cx="1554480" cy="292608"/>
          </a:xfrm>
          <a:prstGeom prst="rect">
            <a:avLst/>
          </a:prstGeom>
          <a:noFill/>
          <a:ln/>
        </p:spPr>
        <p:txBody>
          <a:bodyPr wrap="square" lIns="0" tIns="0" rIns="0" bIns="0" rtlCol="0" anchor="ctr"/>
          <a:lstStyle/>
          <a:p>
            <a:pPr indent="0" marL="0">
              <a:buNone/>
            </a:pPr>
            <a:r>
              <a:rPr lang="en-US" sz="1300" dirty="0">
                <a:solidFill>
                  <a:srgbClr val="1B2A41"/>
                </a:solidFill>
                <a:latin typeface="Calibri" pitchFamily="34" charset="0"/>
                <a:ea typeface="Calibri" pitchFamily="34" charset="-122"/>
                <a:cs typeface="Calibri" pitchFamily="34" charset="-120"/>
              </a:rPr>
              <a:t>13.2 ms</a:t>
            </a:r>
            <a:endParaRPr lang="en-US" sz="1300" dirty="0"/>
          </a:p>
        </p:txBody>
      </p:sp>
      <p:sp>
        <p:nvSpPr>
          <p:cNvPr id="19" name="Text 17"/>
          <p:cNvSpPr/>
          <p:nvPr/>
        </p:nvSpPr>
        <p:spPr>
          <a:xfrm>
            <a:off x="7242048" y="2916936"/>
            <a:ext cx="1463040" cy="274320"/>
          </a:xfrm>
          <a:prstGeom prst="rect">
            <a:avLst/>
          </a:prstGeom>
          <a:noFill/>
          <a:ln/>
        </p:spPr>
        <p:txBody>
          <a:bodyPr wrap="square" lIns="0" tIns="0" rIns="0" bIns="0" rtlCol="0" anchor="ctr"/>
          <a:lstStyle/>
          <a:p>
            <a:pPr indent="0" marL="0">
              <a:buNone/>
            </a:pPr>
            <a:r>
              <a:rPr lang="en-US" sz="1150" dirty="0">
                <a:solidFill>
                  <a:srgbClr val="3D4859"/>
                </a:solidFill>
                <a:latin typeface="Calibri" pitchFamily="34" charset="0"/>
                <a:ea typeface="Calibri" pitchFamily="34" charset="-122"/>
                <a:cs typeface="Calibri" pitchFamily="34" charset="-120"/>
              </a:rPr>
              <a:t>none</a:t>
            </a:r>
            <a:endParaRPr lang="en-US" sz="1150" dirty="0"/>
          </a:p>
        </p:txBody>
      </p:sp>
      <p:sp>
        <p:nvSpPr>
          <p:cNvPr id="20" name="Text 18"/>
          <p:cNvSpPr/>
          <p:nvPr/>
        </p:nvSpPr>
        <p:spPr>
          <a:xfrm>
            <a:off x="8796528" y="2916936"/>
            <a:ext cx="2834640" cy="274320"/>
          </a:xfrm>
          <a:prstGeom prst="rect">
            <a:avLst/>
          </a:prstGeom>
          <a:noFill/>
          <a:ln/>
        </p:spPr>
        <p:txBody>
          <a:bodyPr wrap="square" lIns="0" tIns="0" rIns="0" bIns="0" rtlCol="0" anchor="ctr"/>
          <a:lstStyle/>
          <a:p>
            <a:pPr indent="0" marL="0">
              <a:buNone/>
            </a:pPr>
            <a:r>
              <a:rPr lang="en-US" sz="1150" dirty="0">
                <a:solidFill>
                  <a:srgbClr val="3D4859"/>
                </a:solidFill>
                <a:latin typeface="Calibri" pitchFamily="34" charset="0"/>
                <a:ea typeface="Calibri" pitchFamily="34" charset="-122"/>
                <a:cs typeface="Calibri" pitchFamily="34" charset="-120"/>
              </a:rPr>
              <a:t>embedding model + index</a:t>
            </a:r>
            <a:endParaRPr lang="en-US" sz="1150" dirty="0"/>
          </a:p>
        </p:txBody>
      </p:sp>
      <p:sp>
        <p:nvSpPr>
          <p:cNvPr id="21" name="Text 19"/>
          <p:cNvSpPr/>
          <p:nvPr/>
        </p:nvSpPr>
        <p:spPr>
          <a:xfrm>
            <a:off x="566928" y="3483864"/>
            <a:ext cx="3017520" cy="310896"/>
          </a:xfrm>
          <a:prstGeom prst="rect">
            <a:avLst/>
          </a:prstGeom>
          <a:noFill/>
          <a:ln/>
        </p:spPr>
        <p:txBody>
          <a:bodyPr wrap="square" lIns="0" tIns="0" rIns="0" bIns="0" rtlCol="0" anchor="ctr"/>
          <a:lstStyle/>
          <a:p>
            <a:pPr indent="0" marL="0">
              <a:buNone/>
            </a:pPr>
            <a:r>
              <a:rPr lang="en-US" sz="1400" dirty="0">
                <a:solidFill>
                  <a:srgbClr val="6E7787"/>
                </a:solidFill>
                <a:latin typeface="Calibri" pitchFamily="34" charset="0"/>
                <a:ea typeface="Calibri" pitchFamily="34" charset="-122"/>
                <a:cs typeface="Calibri" pitchFamily="34" charset="-120"/>
              </a:rPr>
              <a:t>Entity Graph</a:t>
            </a:r>
            <a:endParaRPr lang="en-US" sz="1400" dirty="0"/>
          </a:p>
        </p:txBody>
      </p:sp>
      <p:sp>
        <p:nvSpPr>
          <p:cNvPr id="22" name="Text 20"/>
          <p:cNvSpPr/>
          <p:nvPr/>
        </p:nvSpPr>
        <p:spPr>
          <a:xfrm>
            <a:off x="3767328" y="3502152"/>
            <a:ext cx="1554480" cy="292608"/>
          </a:xfrm>
          <a:prstGeom prst="rect">
            <a:avLst/>
          </a:prstGeom>
          <a:noFill/>
          <a:ln/>
        </p:spPr>
        <p:txBody>
          <a:bodyPr wrap="square" lIns="0" tIns="0" rIns="0" bIns="0" rtlCol="0" anchor="ctr"/>
          <a:lstStyle/>
          <a:p>
            <a:pPr indent="0" marL="0">
              <a:buNone/>
            </a:pPr>
            <a:r>
              <a:rPr lang="en-US" sz="1300" dirty="0">
                <a:solidFill>
                  <a:srgbClr val="1B2A41"/>
                </a:solidFill>
                <a:latin typeface="Calibri" pitchFamily="34" charset="0"/>
                <a:ea typeface="Calibri" pitchFamily="34" charset="-122"/>
                <a:cs typeface="Calibri" pitchFamily="34" charset="-120"/>
              </a:rPr>
              <a:t>0.6765</a:t>
            </a:r>
            <a:endParaRPr lang="en-US" sz="1300" dirty="0"/>
          </a:p>
        </p:txBody>
      </p:sp>
      <p:sp>
        <p:nvSpPr>
          <p:cNvPr id="23" name="Text 21"/>
          <p:cNvSpPr/>
          <p:nvPr/>
        </p:nvSpPr>
        <p:spPr>
          <a:xfrm>
            <a:off x="5504688" y="3502152"/>
            <a:ext cx="1554480" cy="292608"/>
          </a:xfrm>
          <a:prstGeom prst="rect">
            <a:avLst/>
          </a:prstGeom>
          <a:noFill/>
          <a:ln/>
        </p:spPr>
        <p:txBody>
          <a:bodyPr wrap="square" lIns="0" tIns="0" rIns="0" bIns="0" rtlCol="0" anchor="ctr"/>
          <a:lstStyle/>
          <a:p>
            <a:pPr indent="0" marL="0">
              <a:buNone/>
            </a:pPr>
            <a:r>
              <a:rPr lang="en-US" sz="1300" dirty="0">
                <a:solidFill>
                  <a:srgbClr val="1B2A41"/>
                </a:solidFill>
                <a:latin typeface="Calibri" pitchFamily="34" charset="0"/>
                <a:ea typeface="Calibri" pitchFamily="34" charset="-122"/>
                <a:cs typeface="Calibri" pitchFamily="34" charset="-120"/>
              </a:rPr>
              <a:t>0.56 ms</a:t>
            </a:r>
            <a:endParaRPr lang="en-US" sz="1300" dirty="0"/>
          </a:p>
        </p:txBody>
      </p:sp>
      <p:sp>
        <p:nvSpPr>
          <p:cNvPr id="24" name="Text 22"/>
          <p:cNvSpPr/>
          <p:nvPr/>
        </p:nvSpPr>
        <p:spPr>
          <a:xfrm>
            <a:off x="7242048" y="3520440"/>
            <a:ext cx="1463040" cy="274320"/>
          </a:xfrm>
          <a:prstGeom prst="rect">
            <a:avLst/>
          </a:prstGeom>
          <a:noFill/>
          <a:ln/>
        </p:spPr>
        <p:txBody>
          <a:bodyPr wrap="square" lIns="0" tIns="0" rIns="0" bIns="0" rtlCol="0" anchor="ctr"/>
          <a:lstStyle/>
          <a:p>
            <a:pPr indent="0" marL="0">
              <a:buNone/>
            </a:pPr>
            <a:r>
              <a:rPr lang="en-US" sz="1150" dirty="0">
                <a:solidFill>
                  <a:srgbClr val="3D4859"/>
                </a:solidFill>
                <a:latin typeface="Calibri" pitchFamily="34" charset="0"/>
                <a:ea typeface="Calibri" pitchFamily="34" charset="-122"/>
                <a:cs typeface="Calibri" pitchFamily="34" charset="-120"/>
              </a:rPr>
              <a:t>none</a:t>
            </a:r>
            <a:endParaRPr lang="en-US" sz="1150" dirty="0"/>
          </a:p>
        </p:txBody>
      </p:sp>
      <p:sp>
        <p:nvSpPr>
          <p:cNvPr id="25" name="Text 23"/>
          <p:cNvSpPr/>
          <p:nvPr/>
        </p:nvSpPr>
        <p:spPr>
          <a:xfrm>
            <a:off x="8796528" y="3520440"/>
            <a:ext cx="2834640" cy="274320"/>
          </a:xfrm>
          <a:prstGeom prst="rect">
            <a:avLst/>
          </a:prstGeom>
          <a:noFill/>
          <a:ln/>
        </p:spPr>
        <p:txBody>
          <a:bodyPr wrap="square" lIns="0" tIns="0" rIns="0" bIns="0" rtlCol="0" anchor="ctr"/>
          <a:lstStyle/>
          <a:p>
            <a:pPr indent="0" marL="0">
              <a:buNone/>
            </a:pPr>
            <a:r>
              <a:rPr lang="en-US" sz="1150" dirty="0">
                <a:solidFill>
                  <a:srgbClr val="3D4859"/>
                </a:solidFill>
                <a:latin typeface="Calibri" pitchFamily="34" charset="0"/>
                <a:ea typeface="Calibri" pitchFamily="34" charset="-122"/>
                <a:cs typeface="Calibri" pitchFamily="34" charset="-120"/>
              </a:rPr>
              <a:t>NER pipeline</a:t>
            </a:r>
            <a:endParaRPr lang="en-US" sz="1150" dirty="0"/>
          </a:p>
        </p:txBody>
      </p:sp>
      <p:sp>
        <p:nvSpPr>
          <p:cNvPr id="26" name="Text 24"/>
          <p:cNvSpPr/>
          <p:nvPr/>
        </p:nvSpPr>
        <p:spPr>
          <a:xfrm>
            <a:off x="566928" y="4087368"/>
            <a:ext cx="3017520" cy="310896"/>
          </a:xfrm>
          <a:prstGeom prst="rect">
            <a:avLst/>
          </a:prstGeom>
          <a:noFill/>
          <a:ln/>
        </p:spPr>
        <p:txBody>
          <a:bodyPr wrap="square" lIns="0" tIns="0" rIns="0" bIns="0" rtlCol="0" anchor="ctr"/>
          <a:lstStyle/>
          <a:p>
            <a:pPr indent="0" marL="0">
              <a:buNone/>
            </a:pPr>
            <a:r>
              <a:rPr lang="en-US" sz="1400" dirty="0">
                <a:solidFill>
                  <a:srgbClr val="6E7787"/>
                </a:solidFill>
                <a:latin typeface="Calibri" pitchFamily="34" charset="0"/>
                <a:ea typeface="Calibri" pitchFamily="34" charset="-122"/>
                <a:cs typeface="Calibri" pitchFamily="34" charset="-120"/>
              </a:rPr>
              <a:t>Hybrid RRF</a:t>
            </a:r>
            <a:endParaRPr lang="en-US" sz="1400" dirty="0"/>
          </a:p>
        </p:txBody>
      </p:sp>
      <p:sp>
        <p:nvSpPr>
          <p:cNvPr id="27" name="Text 25"/>
          <p:cNvSpPr/>
          <p:nvPr/>
        </p:nvSpPr>
        <p:spPr>
          <a:xfrm>
            <a:off x="3767328" y="4105656"/>
            <a:ext cx="1554480" cy="292608"/>
          </a:xfrm>
          <a:prstGeom prst="rect">
            <a:avLst/>
          </a:prstGeom>
          <a:noFill/>
          <a:ln/>
        </p:spPr>
        <p:txBody>
          <a:bodyPr wrap="square" lIns="0" tIns="0" rIns="0" bIns="0" rtlCol="0" anchor="ctr"/>
          <a:lstStyle/>
          <a:p>
            <a:pPr indent="0" marL="0">
              <a:buNone/>
            </a:pPr>
            <a:r>
              <a:rPr lang="en-US" sz="1300" dirty="0">
                <a:solidFill>
                  <a:srgbClr val="1B2A41"/>
                </a:solidFill>
                <a:latin typeface="Calibri" pitchFamily="34" charset="0"/>
                <a:ea typeface="Calibri" pitchFamily="34" charset="-122"/>
                <a:cs typeface="Calibri" pitchFamily="34" charset="-120"/>
              </a:rPr>
              <a:t>0.9559</a:t>
            </a:r>
            <a:endParaRPr lang="en-US" sz="1300" dirty="0"/>
          </a:p>
        </p:txBody>
      </p:sp>
      <p:sp>
        <p:nvSpPr>
          <p:cNvPr id="28" name="Text 26"/>
          <p:cNvSpPr/>
          <p:nvPr/>
        </p:nvSpPr>
        <p:spPr>
          <a:xfrm>
            <a:off x="5504688" y="4105656"/>
            <a:ext cx="1554480" cy="292608"/>
          </a:xfrm>
          <a:prstGeom prst="rect">
            <a:avLst/>
          </a:prstGeom>
          <a:noFill/>
          <a:ln/>
        </p:spPr>
        <p:txBody>
          <a:bodyPr wrap="square" lIns="0" tIns="0" rIns="0" bIns="0" rtlCol="0" anchor="ctr"/>
          <a:lstStyle/>
          <a:p>
            <a:pPr indent="0" marL="0">
              <a:buNone/>
            </a:pPr>
            <a:r>
              <a:rPr lang="en-US" sz="1300" dirty="0">
                <a:solidFill>
                  <a:srgbClr val="1B2A41"/>
                </a:solidFill>
                <a:latin typeface="Calibri" pitchFamily="34" charset="0"/>
                <a:ea typeface="Calibri" pitchFamily="34" charset="-122"/>
                <a:cs typeface="Calibri" pitchFamily="34" charset="-120"/>
              </a:rPr>
              <a:t>0.93 ms</a:t>
            </a:r>
            <a:endParaRPr lang="en-US" sz="1300" dirty="0"/>
          </a:p>
        </p:txBody>
      </p:sp>
      <p:sp>
        <p:nvSpPr>
          <p:cNvPr id="29" name="Text 27"/>
          <p:cNvSpPr/>
          <p:nvPr/>
        </p:nvSpPr>
        <p:spPr>
          <a:xfrm>
            <a:off x="7242048" y="4123944"/>
            <a:ext cx="1463040" cy="274320"/>
          </a:xfrm>
          <a:prstGeom prst="rect">
            <a:avLst/>
          </a:prstGeom>
          <a:noFill/>
          <a:ln/>
        </p:spPr>
        <p:txBody>
          <a:bodyPr wrap="square" lIns="0" tIns="0" rIns="0" bIns="0" rtlCol="0" anchor="ctr"/>
          <a:lstStyle/>
          <a:p>
            <a:pPr indent="0" marL="0">
              <a:buNone/>
            </a:pPr>
            <a:r>
              <a:rPr lang="en-US" sz="1150" dirty="0">
                <a:solidFill>
                  <a:srgbClr val="3D4859"/>
                </a:solidFill>
                <a:latin typeface="Calibri" pitchFamily="34" charset="0"/>
                <a:ea typeface="Calibri" pitchFamily="34" charset="-122"/>
                <a:cs typeface="Calibri" pitchFamily="34" charset="-120"/>
              </a:rPr>
              <a:t>none</a:t>
            </a:r>
            <a:endParaRPr lang="en-US" sz="1150" dirty="0"/>
          </a:p>
        </p:txBody>
      </p:sp>
      <p:sp>
        <p:nvSpPr>
          <p:cNvPr id="30" name="Text 28"/>
          <p:cNvSpPr/>
          <p:nvPr/>
        </p:nvSpPr>
        <p:spPr>
          <a:xfrm>
            <a:off x="8796528" y="4123944"/>
            <a:ext cx="2834640" cy="274320"/>
          </a:xfrm>
          <a:prstGeom prst="rect">
            <a:avLst/>
          </a:prstGeom>
          <a:noFill/>
          <a:ln/>
        </p:spPr>
        <p:txBody>
          <a:bodyPr wrap="square" lIns="0" tIns="0" rIns="0" bIns="0" rtlCol="0" anchor="ctr"/>
          <a:lstStyle/>
          <a:p>
            <a:pPr indent="0" marL="0">
              <a:buNone/>
            </a:pPr>
            <a:r>
              <a:rPr lang="en-US" sz="1150" dirty="0">
                <a:solidFill>
                  <a:srgbClr val="3D4859"/>
                </a:solidFill>
                <a:latin typeface="Calibri" pitchFamily="34" charset="0"/>
                <a:ea typeface="Calibri" pitchFamily="34" charset="-122"/>
                <a:cs typeface="Calibri" pitchFamily="34" charset="-120"/>
              </a:rPr>
              <a:t>BM25 + graph</a:t>
            </a:r>
            <a:endParaRPr lang="en-US" sz="1150" dirty="0"/>
          </a:p>
        </p:txBody>
      </p:sp>
      <p:sp>
        <p:nvSpPr>
          <p:cNvPr id="31" name="Shape 29"/>
          <p:cNvSpPr/>
          <p:nvPr/>
        </p:nvSpPr>
        <p:spPr>
          <a:xfrm>
            <a:off x="438912" y="4581144"/>
            <a:ext cx="11283696" cy="566928"/>
          </a:xfrm>
          <a:prstGeom prst="rect">
            <a:avLst/>
          </a:prstGeom>
          <a:solidFill>
            <a:srgbClr val="EDE8DC"/>
          </a:solidFill>
          <a:ln w="12700">
            <a:solidFill>
              <a:srgbClr val="333333"/>
            </a:solidFill>
            <a:prstDash val="solid"/>
          </a:ln>
        </p:spPr>
      </p:sp>
      <p:sp>
        <p:nvSpPr>
          <p:cNvPr id="32" name="Text 30"/>
          <p:cNvSpPr/>
          <p:nvPr/>
        </p:nvSpPr>
        <p:spPr>
          <a:xfrm>
            <a:off x="566928" y="4690872"/>
            <a:ext cx="3017520" cy="310896"/>
          </a:xfrm>
          <a:prstGeom prst="rect">
            <a:avLst/>
          </a:prstGeom>
          <a:noFill/>
          <a:ln/>
        </p:spPr>
        <p:txBody>
          <a:bodyPr wrap="square" lIns="0" tIns="0" rIns="0" bIns="0" rtlCol="0" anchor="ctr"/>
          <a:lstStyle/>
          <a:p>
            <a:pPr indent="0" marL="0">
              <a:buNone/>
            </a:pPr>
            <a:r>
              <a:rPr lang="en-US" sz="1400" b="1" dirty="0">
                <a:solidFill>
                  <a:srgbClr val="5B3F82"/>
                </a:solidFill>
                <a:latin typeface="Calibri" pitchFamily="34" charset="0"/>
                <a:ea typeface="Calibri" pitchFamily="34" charset="-122"/>
                <a:cs typeface="Calibri" pitchFamily="34" charset="-120"/>
              </a:rPr>
              <a:t>Prompt-RAG</a:t>
            </a:r>
            <a:endParaRPr lang="en-US" sz="1400" dirty="0"/>
          </a:p>
        </p:txBody>
      </p:sp>
      <p:sp>
        <p:nvSpPr>
          <p:cNvPr id="33" name="Text 31"/>
          <p:cNvSpPr/>
          <p:nvPr/>
        </p:nvSpPr>
        <p:spPr>
          <a:xfrm>
            <a:off x="3767328" y="4709160"/>
            <a:ext cx="1554480" cy="292608"/>
          </a:xfrm>
          <a:prstGeom prst="rect">
            <a:avLst/>
          </a:prstGeom>
          <a:noFill/>
          <a:ln/>
        </p:spPr>
        <p:txBody>
          <a:bodyPr wrap="square" lIns="0" tIns="0" rIns="0" bIns="0" rtlCol="0" anchor="ctr"/>
          <a:lstStyle/>
          <a:p>
            <a:pPr indent="0" marL="0">
              <a:buNone/>
            </a:pPr>
            <a:r>
              <a:rPr lang="en-US" sz="1300" dirty="0">
                <a:solidFill>
                  <a:srgbClr val="1B2A41"/>
                </a:solidFill>
                <a:latin typeface="Calibri" pitchFamily="34" charset="0"/>
                <a:ea typeface="Calibri" pitchFamily="34" charset="-122"/>
                <a:cs typeface="Calibri" pitchFamily="34" charset="-120"/>
              </a:rPr>
              <a:t>0.9779</a:t>
            </a:r>
            <a:endParaRPr lang="en-US" sz="1300" dirty="0"/>
          </a:p>
        </p:txBody>
      </p:sp>
      <p:sp>
        <p:nvSpPr>
          <p:cNvPr id="34" name="Text 32"/>
          <p:cNvSpPr/>
          <p:nvPr/>
        </p:nvSpPr>
        <p:spPr>
          <a:xfrm>
            <a:off x="5504688" y="4709160"/>
            <a:ext cx="1554480" cy="292608"/>
          </a:xfrm>
          <a:prstGeom prst="rect">
            <a:avLst/>
          </a:prstGeom>
          <a:noFill/>
          <a:ln/>
        </p:spPr>
        <p:txBody>
          <a:bodyPr wrap="square" lIns="0" tIns="0" rIns="0" bIns="0" rtlCol="0" anchor="ctr"/>
          <a:lstStyle/>
          <a:p>
            <a:pPr indent="0" marL="0">
              <a:buNone/>
            </a:pPr>
            <a:r>
              <a:rPr lang="en-US" sz="1300" b="1" dirty="0">
                <a:solidFill>
                  <a:srgbClr val="C0492A"/>
                </a:solidFill>
                <a:latin typeface="Calibri" pitchFamily="34" charset="0"/>
                <a:ea typeface="Calibri" pitchFamily="34" charset="-122"/>
                <a:cs typeface="Calibri" pitchFamily="34" charset="-120"/>
              </a:rPr>
              <a:t>≈18 s</a:t>
            </a:r>
            <a:endParaRPr lang="en-US" sz="1300" dirty="0"/>
          </a:p>
        </p:txBody>
      </p:sp>
      <p:sp>
        <p:nvSpPr>
          <p:cNvPr id="35" name="Text 33"/>
          <p:cNvSpPr/>
          <p:nvPr/>
        </p:nvSpPr>
        <p:spPr>
          <a:xfrm>
            <a:off x="7242048" y="4727448"/>
            <a:ext cx="1463040" cy="274320"/>
          </a:xfrm>
          <a:prstGeom prst="rect">
            <a:avLst/>
          </a:prstGeom>
          <a:noFill/>
          <a:ln/>
        </p:spPr>
        <p:txBody>
          <a:bodyPr wrap="square" lIns="0" tIns="0" rIns="0" bIns="0" rtlCol="0" anchor="ctr"/>
          <a:lstStyle/>
          <a:p>
            <a:pPr indent="0" marL="0">
              <a:buNone/>
            </a:pPr>
            <a:r>
              <a:rPr lang="en-US" sz="1150" dirty="0">
                <a:solidFill>
                  <a:srgbClr val="3D4859"/>
                </a:solidFill>
                <a:latin typeface="Calibri" pitchFamily="34" charset="0"/>
                <a:ea typeface="Calibri" pitchFamily="34" charset="-122"/>
                <a:cs typeface="Calibri" pitchFamily="34" charset="-120"/>
              </a:rPr>
              <a:t>per query</a:t>
            </a:r>
            <a:endParaRPr lang="en-US" sz="1150" dirty="0"/>
          </a:p>
        </p:txBody>
      </p:sp>
      <p:sp>
        <p:nvSpPr>
          <p:cNvPr id="36" name="Text 34"/>
          <p:cNvSpPr/>
          <p:nvPr/>
        </p:nvSpPr>
        <p:spPr>
          <a:xfrm>
            <a:off x="8796528" y="4727448"/>
            <a:ext cx="2834640" cy="274320"/>
          </a:xfrm>
          <a:prstGeom prst="rect">
            <a:avLst/>
          </a:prstGeom>
          <a:noFill/>
          <a:ln/>
        </p:spPr>
        <p:txBody>
          <a:bodyPr wrap="square" lIns="0" tIns="0" rIns="0" bIns="0" rtlCol="0" anchor="ctr"/>
          <a:lstStyle/>
          <a:p>
            <a:pPr indent="0" marL="0">
              <a:buNone/>
            </a:pPr>
            <a:r>
              <a:rPr lang="en-US" sz="1150" dirty="0">
                <a:solidFill>
                  <a:srgbClr val="3D4859"/>
                </a:solidFill>
                <a:latin typeface="Calibri" pitchFamily="34" charset="0"/>
                <a:ea typeface="Calibri" pitchFamily="34" charset="-122"/>
                <a:cs typeface="Calibri" pitchFamily="34" charset="-120"/>
              </a:rPr>
              <a:t>LLM API</a:t>
            </a:r>
            <a:endParaRPr lang="en-US" sz="1150" dirty="0"/>
          </a:p>
        </p:txBody>
      </p:sp>
      <p:sp>
        <p:nvSpPr>
          <p:cNvPr id="37" name="Text 35"/>
          <p:cNvSpPr/>
          <p:nvPr/>
        </p:nvSpPr>
        <p:spPr>
          <a:xfrm>
            <a:off x="566928" y="5349240"/>
            <a:ext cx="11027664" cy="731520"/>
          </a:xfrm>
          <a:prstGeom prst="rect">
            <a:avLst/>
          </a:prstGeom>
          <a:noFill/>
          <a:ln/>
        </p:spPr>
        <p:txBody>
          <a:bodyPr wrap="square" lIns="0" tIns="0" rIns="0" bIns="0" rtlCol="0" anchor="t"/>
          <a:lstStyle/>
          <a:p>
            <a:pPr indent="0" marL="0">
              <a:lnSpc>
                <a:spcPts val="1900"/>
              </a:lnSpc>
              <a:buNone/>
            </a:pPr>
            <a:r>
              <a:rPr lang="en-US" sz="1300" dirty="0">
                <a:solidFill>
                  <a:srgbClr val="3D4859"/>
                </a:solidFill>
                <a:latin typeface="Calibri" pitchFamily="34" charset="0"/>
                <a:ea typeface="Calibri" pitchFamily="34" charset="-122"/>
                <a:cs typeface="Calibri" pitchFamily="34" charset="-120"/>
              </a:rPr>
              <a:t>Prompt-RAG buys 0.037 MRR over BM25 for roughly 24,000× the latency and a per-query API charge. For a helpdesk answering thousands of citizen queries a day, that is not a trade a deployment can justify — and H4 is better read as a Pareto frontier than a winner.</a:t>
            </a:r>
            <a:endParaRPr lang="en-US" sz="1300" dirty="0"/>
          </a:p>
        </p:txBody>
      </p:sp>
      <p:sp>
        <p:nvSpPr>
          <p:cNvPr id="38" name="Text 36"/>
          <p:cNvSpPr/>
          <p:nvPr/>
        </p:nvSpPr>
        <p:spPr>
          <a:xfrm>
            <a:off x="566928" y="6382512"/>
            <a:ext cx="11027664" cy="274320"/>
          </a:xfrm>
          <a:prstGeom prst="rect">
            <a:avLst/>
          </a:prstGeom>
          <a:noFill/>
          <a:ln/>
        </p:spPr>
        <p:txBody>
          <a:bodyPr wrap="square" lIns="0" tIns="0" rIns="0" bIns="0" rtlCol="0" anchor="ctr"/>
          <a:lstStyle/>
          <a:p>
            <a:pPr indent="0" marL="0">
              <a:buNone/>
            </a:pPr>
            <a:r>
              <a:rPr lang="en-US" sz="850" spc="60" kern="0" dirty="0">
                <a:solidFill>
                  <a:srgbClr val="6E7787"/>
                </a:solidFill>
                <a:latin typeface="Calibri" pitchFamily="34" charset="0"/>
                <a:ea typeface="Calibri" pitchFamily="34" charset="-122"/>
                <a:cs typeface="Calibri" pitchFamily="34" charset="-120"/>
              </a:rPr>
              <a:t>Latency: warm-cache, retrieval only, from efficiency_snapshot.json. Prompt-RAG latency from 24-call trace summary (median 14.5 s, p95 30.1 s); not pooled with the recovery run.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66928" y="329184"/>
            <a:ext cx="548640" cy="274320"/>
          </a:xfrm>
          <a:prstGeom prst="rect">
            <a:avLst/>
          </a:prstGeom>
          <a:noFill/>
          <a:ln/>
        </p:spPr>
        <p:txBody>
          <a:bodyPr wrap="square" rtlCol="0" anchor="ctr"/>
          <a:lstStyle/>
          <a:p>
            <a:pPr indent="0" marL="0">
              <a:buNone/>
            </a:pPr>
            <a:r>
              <a:rPr lang="en-US" sz="1100" b="1" spc="200" kern="0" dirty="0">
                <a:solidFill>
                  <a:srgbClr val="C0492A"/>
                </a:solidFill>
                <a:latin typeface="Calibri" pitchFamily="34" charset="0"/>
                <a:ea typeface="Calibri" pitchFamily="34" charset="-122"/>
                <a:cs typeface="Calibri" pitchFamily="34" charset="-120"/>
              </a:rPr>
              <a:t>12</a:t>
            </a:r>
            <a:endParaRPr lang="en-US" sz="1100" dirty="0"/>
          </a:p>
        </p:txBody>
      </p:sp>
      <p:sp>
        <p:nvSpPr>
          <p:cNvPr id="3" name="Text 1"/>
          <p:cNvSpPr/>
          <p:nvPr/>
        </p:nvSpPr>
        <p:spPr>
          <a:xfrm>
            <a:off x="1069848" y="329184"/>
            <a:ext cx="7315200" cy="274320"/>
          </a:xfrm>
          <a:prstGeom prst="rect">
            <a:avLst/>
          </a:prstGeom>
          <a:noFill/>
          <a:ln/>
        </p:spPr>
        <p:txBody>
          <a:bodyPr wrap="square" rtlCol="0" anchor="ctr"/>
          <a:lstStyle/>
          <a:p>
            <a:pPr indent="0" marL="0">
              <a:buNone/>
            </a:pPr>
            <a:r>
              <a:rPr lang="en-US" sz="950" spc="240" kern="0" dirty="0">
                <a:solidFill>
                  <a:srgbClr val="6E7787"/>
                </a:solidFill>
                <a:latin typeface="Calibri" pitchFamily="34" charset="0"/>
                <a:ea typeface="Calibri" pitchFamily="34" charset="-122"/>
                <a:cs typeface="Calibri" pitchFamily="34" charset="-120"/>
              </a:rPr>
              <a:t>PREREGISTERED HYPOTHESES</a:t>
            </a:r>
            <a:endParaRPr lang="en-US" sz="950" dirty="0"/>
          </a:p>
        </p:txBody>
      </p:sp>
      <p:sp>
        <p:nvSpPr>
          <p:cNvPr id="4" name="Text 2"/>
          <p:cNvSpPr/>
          <p:nvPr/>
        </p:nvSpPr>
        <p:spPr>
          <a:xfrm>
            <a:off x="566928" y="777240"/>
            <a:ext cx="11027664" cy="868680"/>
          </a:xfrm>
          <a:prstGeom prst="rect">
            <a:avLst/>
          </a:prstGeom>
          <a:noFill/>
          <a:ln/>
        </p:spPr>
        <p:txBody>
          <a:bodyPr wrap="square" lIns="0" tIns="0" rIns="0" bIns="0" rtlCol="0" anchor="t"/>
          <a:lstStyle/>
          <a:p>
            <a:pPr indent="0" marL="0">
              <a:lnSpc>
                <a:spcPts val="3360"/>
              </a:lnSpc>
              <a:buNone/>
            </a:pPr>
            <a:r>
              <a:rPr lang="en-US" sz="3000" dirty="0">
                <a:solidFill>
                  <a:srgbClr val="1B2A41"/>
                </a:solidFill>
                <a:latin typeface="Cambria" pitchFamily="34" charset="0"/>
                <a:ea typeface="Cambria" pitchFamily="34" charset="-122"/>
                <a:cs typeface="Cambria" pitchFamily="34" charset="-120"/>
              </a:rPr>
              <a:t>Four of five predictions were wrong.</a:t>
            </a:r>
            <a:endParaRPr lang="en-US" sz="3000" dirty="0"/>
          </a:p>
          <a:p>
            <a:pPr indent="0" marL="0">
              <a:lnSpc>
                <a:spcPts val="3360"/>
              </a:lnSpc>
              <a:buNone/>
            </a:pPr>
            <a:r>
              <a:rPr lang="en-US" sz="3000" dirty="0">
                <a:solidFill>
                  <a:srgbClr val="1B2A41"/>
                </a:solidFill>
                <a:latin typeface="Cambria" pitchFamily="34" charset="0"/>
                <a:ea typeface="Cambria" pitchFamily="34" charset="-122"/>
                <a:cs typeface="Cambria" pitchFamily="34" charset="-120"/>
              </a:rPr>
              <a:t>That is the result, not a shortfall.</a:t>
            </a:r>
            <a:endParaRPr lang="en-US" sz="3000" dirty="0"/>
          </a:p>
        </p:txBody>
      </p:sp>
      <p:sp>
        <p:nvSpPr>
          <p:cNvPr id="5" name="Text 3"/>
          <p:cNvSpPr/>
          <p:nvPr/>
        </p:nvSpPr>
        <p:spPr>
          <a:xfrm>
            <a:off x="566928" y="1645920"/>
            <a:ext cx="9042684" cy="777240"/>
          </a:xfrm>
          <a:prstGeom prst="rect">
            <a:avLst/>
          </a:prstGeom>
          <a:noFill/>
          <a:ln/>
        </p:spPr>
        <p:txBody>
          <a:bodyPr wrap="square" lIns="0" tIns="0" rIns="0" bIns="0" rtlCol="0" anchor="t"/>
          <a:lstStyle/>
          <a:p>
            <a:pPr indent="0" marL="0">
              <a:lnSpc>
                <a:spcPts val="1958"/>
              </a:lnSpc>
              <a:buNone/>
            </a:pPr>
            <a:r>
              <a:rPr lang="en-US" sz="1350" dirty="0">
                <a:solidFill>
                  <a:srgbClr val="3D4859"/>
                </a:solidFill>
                <a:latin typeface="Calibri" pitchFamily="34" charset="0"/>
                <a:ea typeface="Calibri" pitchFamily="34" charset="-122"/>
                <a:cs typeface="Calibri" pitchFamily="34" charset="-120"/>
              </a:rPr>
              <a:t>Hypotheses were registered before evaluation and scored against a frozen protocol: paired whole-query bootstrap, exact sign-randomisation, Holm correction across 32 tests. Nothing was reinterpreted after seeing the data.</a:t>
            </a:r>
            <a:endParaRPr lang="en-US" sz="1350" dirty="0"/>
          </a:p>
        </p:txBody>
      </p:sp>
      <p:sp>
        <p:nvSpPr>
          <p:cNvPr id="6" name="Shape 4"/>
          <p:cNvSpPr/>
          <p:nvPr/>
        </p:nvSpPr>
        <p:spPr>
          <a:xfrm>
            <a:off x="438912" y="2734056"/>
            <a:ext cx="11283696" cy="585216"/>
          </a:xfrm>
          <a:prstGeom prst="rect">
            <a:avLst/>
          </a:prstGeom>
          <a:solidFill>
            <a:srgbClr val="EDE8DC"/>
          </a:solidFill>
          <a:ln w="12700">
            <a:solidFill>
              <a:srgbClr val="333333"/>
            </a:solidFill>
            <a:prstDash val="solid"/>
          </a:ln>
        </p:spPr>
      </p:sp>
      <p:sp>
        <p:nvSpPr>
          <p:cNvPr id="7" name="Text 5"/>
          <p:cNvSpPr/>
          <p:nvPr/>
        </p:nvSpPr>
        <p:spPr>
          <a:xfrm>
            <a:off x="566928" y="2843784"/>
            <a:ext cx="502920" cy="274320"/>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H1</a:t>
            </a:r>
            <a:endParaRPr lang="en-US" sz="1300" dirty="0"/>
          </a:p>
        </p:txBody>
      </p:sp>
      <p:sp>
        <p:nvSpPr>
          <p:cNvPr id="8" name="Text 6"/>
          <p:cNvSpPr/>
          <p:nvPr/>
        </p:nvSpPr>
        <p:spPr>
          <a:xfrm>
            <a:off x="1115568" y="2862072"/>
            <a:ext cx="3977640" cy="365760"/>
          </a:xfrm>
          <a:prstGeom prst="rect">
            <a:avLst/>
          </a:prstGeom>
          <a:noFill/>
          <a:ln/>
        </p:spPr>
        <p:txBody>
          <a:bodyPr wrap="square" lIns="0" tIns="0" rIns="0" bIns="0" rtlCol="0" anchor="t"/>
          <a:lstStyle/>
          <a:p>
            <a:pPr indent="0" marL="0">
              <a:lnSpc>
                <a:spcPts val="1400"/>
              </a:lnSpc>
              <a:buNone/>
            </a:pPr>
            <a:r>
              <a:rPr lang="en-US" sz="1150" dirty="0">
                <a:solidFill>
                  <a:srgbClr val="1B2A41"/>
                </a:solidFill>
                <a:latin typeface="Calibri" pitchFamily="34" charset="0"/>
                <a:ea typeface="Calibri" pitchFamily="34" charset="-122"/>
                <a:cs typeface="Calibri" pitchFamily="34" charset="-120"/>
              </a:rPr>
              <a:t>BM25 competitive with FAISS on exact and terminology queries</a:t>
            </a:r>
            <a:endParaRPr lang="en-US" sz="1150" dirty="0"/>
          </a:p>
        </p:txBody>
      </p:sp>
      <p:sp>
        <p:nvSpPr>
          <p:cNvPr id="9" name="Text 7"/>
          <p:cNvSpPr/>
          <p:nvPr/>
        </p:nvSpPr>
        <p:spPr>
          <a:xfrm>
            <a:off x="5230368" y="2862072"/>
            <a:ext cx="1691640" cy="274320"/>
          </a:xfrm>
          <a:prstGeom prst="rect">
            <a:avLst/>
          </a:prstGeom>
          <a:noFill/>
          <a:ln/>
        </p:spPr>
        <p:txBody>
          <a:bodyPr wrap="square" lIns="0" tIns="0" rIns="0" bIns="0" rtlCol="0" anchor="ctr"/>
          <a:lstStyle/>
          <a:p>
            <a:pPr indent="0" marL="0">
              <a:buNone/>
            </a:pPr>
            <a:r>
              <a:rPr lang="en-US" sz="1150" b="1" dirty="0">
                <a:solidFill>
                  <a:srgbClr val="9A7017"/>
                </a:solidFill>
                <a:latin typeface="Calibri" pitchFamily="34" charset="0"/>
                <a:ea typeface="Calibri" pitchFamily="34" charset="-122"/>
                <a:cs typeface="Calibri" pitchFamily="34" charset="-120"/>
              </a:rPr>
              <a:t>Inconclusive</a:t>
            </a:r>
            <a:endParaRPr lang="en-US" sz="1150" dirty="0"/>
          </a:p>
        </p:txBody>
      </p:sp>
      <p:sp>
        <p:nvSpPr>
          <p:cNvPr id="10" name="Text 8"/>
          <p:cNvSpPr/>
          <p:nvPr/>
        </p:nvSpPr>
        <p:spPr>
          <a:xfrm>
            <a:off x="7059168" y="2843784"/>
            <a:ext cx="4535424" cy="457200"/>
          </a:xfrm>
          <a:prstGeom prst="rect">
            <a:avLst/>
          </a:prstGeom>
          <a:noFill/>
          <a:ln/>
        </p:spPr>
        <p:txBody>
          <a:bodyPr wrap="square" lIns="0" tIns="0" rIns="0" bIns="0" rtlCol="0" anchor="t"/>
          <a:lstStyle/>
          <a:p>
            <a:pPr indent="0" marL="0">
              <a:lnSpc>
                <a:spcPts val="1450"/>
              </a:lnSpc>
              <a:buNone/>
            </a:pPr>
            <a:r>
              <a:rPr lang="en-US" sz="1100" dirty="0">
                <a:solidFill>
                  <a:srgbClr val="3D4859"/>
                </a:solidFill>
                <a:latin typeface="Calibri" pitchFamily="34" charset="0"/>
                <a:ea typeface="Calibri" pitchFamily="34" charset="-122"/>
                <a:cs typeface="Calibri" pitchFamily="34" charset="-120"/>
              </a:rPr>
              <a:t>Equivalence needs the interval inside ±0.05. With 12 questions it is not established either way.</a:t>
            </a:r>
            <a:endParaRPr lang="en-US" sz="1100" dirty="0"/>
          </a:p>
        </p:txBody>
      </p:sp>
      <p:sp>
        <p:nvSpPr>
          <p:cNvPr id="11" name="Text 9"/>
          <p:cNvSpPr/>
          <p:nvPr/>
        </p:nvSpPr>
        <p:spPr>
          <a:xfrm>
            <a:off x="566928" y="3447288"/>
            <a:ext cx="502920" cy="274320"/>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H2</a:t>
            </a:r>
            <a:endParaRPr lang="en-US" sz="1300" dirty="0"/>
          </a:p>
        </p:txBody>
      </p:sp>
      <p:sp>
        <p:nvSpPr>
          <p:cNvPr id="12" name="Text 10"/>
          <p:cNvSpPr/>
          <p:nvPr/>
        </p:nvSpPr>
        <p:spPr>
          <a:xfrm>
            <a:off x="1115568" y="3465576"/>
            <a:ext cx="3977640" cy="365760"/>
          </a:xfrm>
          <a:prstGeom prst="rect">
            <a:avLst/>
          </a:prstGeom>
          <a:noFill/>
          <a:ln/>
        </p:spPr>
        <p:txBody>
          <a:bodyPr wrap="square" lIns="0" tIns="0" rIns="0" bIns="0" rtlCol="0" anchor="t"/>
          <a:lstStyle/>
          <a:p>
            <a:pPr indent="0" marL="0">
              <a:lnSpc>
                <a:spcPts val="1400"/>
              </a:lnSpc>
              <a:buNone/>
            </a:pPr>
            <a:r>
              <a:rPr lang="en-US" sz="1150" dirty="0">
                <a:solidFill>
                  <a:srgbClr val="1B2A41"/>
                </a:solidFill>
                <a:latin typeface="Calibri" pitchFamily="34" charset="0"/>
                <a:ea typeface="Calibri" pitchFamily="34" charset="-122"/>
                <a:cs typeface="Calibri" pitchFamily="34" charset="-120"/>
              </a:rPr>
              <a:t>FAISS beats BM25 on paraphrase</a:t>
            </a:r>
            <a:endParaRPr lang="en-US" sz="1150" dirty="0"/>
          </a:p>
        </p:txBody>
      </p:sp>
      <p:sp>
        <p:nvSpPr>
          <p:cNvPr id="13" name="Text 11"/>
          <p:cNvSpPr/>
          <p:nvPr/>
        </p:nvSpPr>
        <p:spPr>
          <a:xfrm>
            <a:off x="5230368" y="3465576"/>
            <a:ext cx="1691640" cy="274320"/>
          </a:xfrm>
          <a:prstGeom prst="rect">
            <a:avLst/>
          </a:prstGeom>
          <a:noFill/>
          <a:ln/>
        </p:spPr>
        <p:txBody>
          <a:bodyPr wrap="square" lIns="0" tIns="0" rIns="0" bIns="0" rtlCol="0" anchor="ctr"/>
          <a:lstStyle/>
          <a:p>
            <a:pPr indent="0" marL="0">
              <a:buNone/>
            </a:pPr>
            <a:r>
              <a:rPr lang="en-US" sz="1150" b="1" dirty="0">
                <a:solidFill>
                  <a:srgbClr val="C0492A"/>
                </a:solidFill>
                <a:latin typeface="Calibri" pitchFamily="34" charset="0"/>
                <a:ea typeface="Calibri" pitchFamily="34" charset="-122"/>
                <a:cs typeface="Calibri" pitchFamily="34" charset="-120"/>
              </a:rPr>
              <a:t>Not supported</a:t>
            </a:r>
            <a:endParaRPr lang="en-US" sz="1150" dirty="0"/>
          </a:p>
        </p:txBody>
      </p:sp>
      <p:sp>
        <p:nvSpPr>
          <p:cNvPr id="14" name="Text 12"/>
          <p:cNvSpPr/>
          <p:nvPr/>
        </p:nvSpPr>
        <p:spPr>
          <a:xfrm>
            <a:off x="7059168" y="3447288"/>
            <a:ext cx="4535424" cy="457200"/>
          </a:xfrm>
          <a:prstGeom prst="rect">
            <a:avLst/>
          </a:prstGeom>
          <a:noFill/>
          <a:ln/>
        </p:spPr>
        <p:txBody>
          <a:bodyPr wrap="square" lIns="0" tIns="0" rIns="0" bIns="0" rtlCol="0" anchor="t"/>
          <a:lstStyle/>
          <a:p>
            <a:pPr indent="0" marL="0">
              <a:lnSpc>
                <a:spcPts val="1450"/>
              </a:lnSpc>
              <a:buNone/>
            </a:pPr>
            <a:r>
              <a:rPr lang="en-US" sz="1100" dirty="0">
                <a:solidFill>
                  <a:srgbClr val="3D4859"/>
                </a:solidFill>
                <a:latin typeface="Calibri" pitchFamily="34" charset="0"/>
                <a:ea typeface="Calibri" pitchFamily="34" charset="-122"/>
                <a:cs typeface="Calibri" pitchFamily="34" charset="-120"/>
              </a:rPr>
              <a:t>Reversed: BM25 0.833 vs 0.408. Direction repeats on holdout. The informative failure.</a:t>
            </a:r>
            <a:endParaRPr lang="en-US" sz="1100" dirty="0"/>
          </a:p>
        </p:txBody>
      </p:sp>
      <p:sp>
        <p:nvSpPr>
          <p:cNvPr id="15" name="Shape 13"/>
          <p:cNvSpPr/>
          <p:nvPr/>
        </p:nvSpPr>
        <p:spPr>
          <a:xfrm>
            <a:off x="438912" y="3941064"/>
            <a:ext cx="11283696" cy="585216"/>
          </a:xfrm>
          <a:prstGeom prst="rect">
            <a:avLst/>
          </a:prstGeom>
          <a:solidFill>
            <a:srgbClr val="EDE8DC"/>
          </a:solidFill>
          <a:ln w="12700">
            <a:solidFill>
              <a:srgbClr val="333333"/>
            </a:solidFill>
            <a:prstDash val="solid"/>
          </a:ln>
        </p:spPr>
      </p:sp>
      <p:sp>
        <p:nvSpPr>
          <p:cNvPr id="16" name="Text 14"/>
          <p:cNvSpPr/>
          <p:nvPr/>
        </p:nvSpPr>
        <p:spPr>
          <a:xfrm>
            <a:off x="566928" y="4050792"/>
            <a:ext cx="502920" cy="274320"/>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H3</a:t>
            </a:r>
            <a:endParaRPr lang="en-US" sz="1300" dirty="0"/>
          </a:p>
        </p:txBody>
      </p:sp>
      <p:sp>
        <p:nvSpPr>
          <p:cNvPr id="17" name="Text 15"/>
          <p:cNvSpPr/>
          <p:nvPr/>
        </p:nvSpPr>
        <p:spPr>
          <a:xfrm>
            <a:off x="1115568" y="4069080"/>
            <a:ext cx="3977640" cy="365760"/>
          </a:xfrm>
          <a:prstGeom prst="rect">
            <a:avLst/>
          </a:prstGeom>
          <a:noFill/>
          <a:ln/>
        </p:spPr>
        <p:txBody>
          <a:bodyPr wrap="square" lIns="0" tIns="0" rIns="0" bIns="0" rtlCol="0" anchor="t"/>
          <a:lstStyle/>
          <a:p>
            <a:pPr indent="0" marL="0">
              <a:lnSpc>
                <a:spcPts val="1400"/>
              </a:lnSpc>
              <a:buNone/>
            </a:pPr>
            <a:r>
              <a:rPr lang="en-US" sz="1150" dirty="0">
                <a:solidFill>
                  <a:srgbClr val="1B2A41"/>
                </a:solidFill>
                <a:latin typeface="Calibri" pitchFamily="34" charset="0"/>
                <a:ea typeface="Calibri" pitchFamily="34" charset="-122"/>
                <a:cs typeface="Calibri" pitchFamily="34" charset="-120"/>
              </a:rPr>
              <a:t>Graph beats both on entity and multi-hop</a:t>
            </a:r>
            <a:endParaRPr lang="en-US" sz="1150" dirty="0"/>
          </a:p>
        </p:txBody>
      </p:sp>
      <p:sp>
        <p:nvSpPr>
          <p:cNvPr id="18" name="Text 16"/>
          <p:cNvSpPr/>
          <p:nvPr/>
        </p:nvSpPr>
        <p:spPr>
          <a:xfrm>
            <a:off x="5230368" y="4069080"/>
            <a:ext cx="1691640" cy="274320"/>
          </a:xfrm>
          <a:prstGeom prst="rect">
            <a:avLst/>
          </a:prstGeom>
          <a:noFill/>
          <a:ln/>
        </p:spPr>
        <p:txBody>
          <a:bodyPr wrap="square" lIns="0" tIns="0" rIns="0" bIns="0" rtlCol="0" anchor="ctr"/>
          <a:lstStyle/>
          <a:p>
            <a:pPr indent="0" marL="0">
              <a:buNone/>
            </a:pPr>
            <a:r>
              <a:rPr lang="en-US" sz="1150" b="1" dirty="0">
                <a:solidFill>
                  <a:srgbClr val="C0492A"/>
                </a:solidFill>
                <a:latin typeface="Calibri" pitchFamily="34" charset="0"/>
                <a:ea typeface="Calibri" pitchFamily="34" charset="-122"/>
                <a:cs typeface="Calibri" pitchFamily="34" charset="-120"/>
              </a:rPr>
              <a:t>Not supported</a:t>
            </a:r>
            <a:endParaRPr lang="en-US" sz="1150" dirty="0"/>
          </a:p>
        </p:txBody>
      </p:sp>
      <p:sp>
        <p:nvSpPr>
          <p:cNvPr id="19" name="Text 17"/>
          <p:cNvSpPr/>
          <p:nvPr/>
        </p:nvSpPr>
        <p:spPr>
          <a:xfrm>
            <a:off x="7059168" y="4050792"/>
            <a:ext cx="4535424" cy="457200"/>
          </a:xfrm>
          <a:prstGeom prst="rect">
            <a:avLst/>
          </a:prstGeom>
          <a:noFill/>
          <a:ln/>
        </p:spPr>
        <p:txBody>
          <a:bodyPr wrap="square" lIns="0" tIns="0" rIns="0" bIns="0" rtlCol="0" anchor="t"/>
          <a:lstStyle/>
          <a:p>
            <a:pPr indent="0" marL="0">
              <a:lnSpc>
                <a:spcPts val="1450"/>
              </a:lnSpc>
              <a:buNone/>
            </a:pPr>
            <a:r>
              <a:rPr lang="en-US" sz="1100" dirty="0">
                <a:solidFill>
                  <a:srgbClr val="3D4859"/>
                </a:solidFill>
                <a:latin typeface="Calibri" pitchFamily="34" charset="0"/>
                <a:ea typeface="Calibri" pitchFamily="34" charset="-122"/>
                <a:cs typeface="Calibri" pitchFamily="34" charset="-120"/>
              </a:rPr>
              <a:t>Pilot rejects it outright. Holdout shows the strongest directional signal of any hypothesis — unresolved.</a:t>
            </a:r>
            <a:endParaRPr lang="en-US" sz="1100" dirty="0"/>
          </a:p>
        </p:txBody>
      </p:sp>
      <p:sp>
        <p:nvSpPr>
          <p:cNvPr id="20" name="Text 18"/>
          <p:cNvSpPr/>
          <p:nvPr/>
        </p:nvSpPr>
        <p:spPr>
          <a:xfrm>
            <a:off x="566928" y="4654296"/>
            <a:ext cx="502920" cy="274320"/>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H4</a:t>
            </a:r>
            <a:endParaRPr lang="en-US" sz="1300" dirty="0"/>
          </a:p>
        </p:txBody>
      </p:sp>
      <p:sp>
        <p:nvSpPr>
          <p:cNvPr id="21" name="Text 19"/>
          <p:cNvSpPr/>
          <p:nvPr/>
        </p:nvSpPr>
        <p:spPr>
          <a:xfrm>
            <a:off x="1115568" y="4672584"/>
            <a:ext cx="3977640" cy="365760"/>
          </a:xfrm>
          <a:prstGeom prst="rect">
            <a:avLst/>
          </a:prstGeom>
          <a:noFill/>
          <a:ln/>
        </p:spPr>
        <p:txBody>
          <a:bodyPr wrap="square" lIns="0" tIns="0" rIns="0" bIns="0" rtlCol="0" anchor="t"/>
          <a:lstStyle/>
          <a:p>
            <a:pPr indent="0" marL="0">
              <a:lnSpc>
                <a:spcPts val="1400"/>
              </a:lnSpc>
              <a:buNone/>
            </a:pPr>
            <a:r>
              <a:rPr lang="en-US" sz="1150" dirty="0">
                <a:solidFill>
                  <a:srgbClr val="1B2A41"/>
                </a:solidFill>
                <a:latin typeface="Calibri" pitchFamily="34" charset="0"/>
                <a:ea typeface="Calibri" pitchFamily="34" charset="-122"/>
                <a:cs typeface="Calibri" pitchFamily="34" charset="-120"/>
              </a:rPr>
              <a:t>Hybrid achieves highest aggregate MRR</a:t>
            </a:r>
            <a:endParaRPr lang="en-US" sz="1150" dirty="0"/>
          </a:p>
        </p:txBody>
      </p:sp>
      <p:sp>
        <p:nvSpPr>
          <p:cNvPr id="22" name="Text 20"/>
          <p:cNvSpPr/>
          <p:nvPr/>
        </p:nvSpPr>
        <p:spPr>
          <a:xfrm>
            <a:off x="5230368" y="4672584"/>
            <a:ext cx="1691640" cy="274320"/>
          </a:xfrm>
          <a:prstGeom prst="rect">
            <a:avLst/>
          </a:prstGeom>
          <a:noFill/>
          <a:ln/>
        </p:spPr>
        <p:txBody>
          <a:bodyPr wrap="square" lIns="0" tIns="0" rIns="0" bIns="0" rtlCol="0" anchor="ctr"/>
          <a:lstStyle/>
          <a:p>
            <a:pPr indent="0" marL="0">
              <a:buNone/>
            </a:pPr>
            <a:r>
              <a:rPr lang="en-US" sz="1150" b="1" dirty="0">
                <a:solidFill>
                  <a:srgbClr val="C0492A"/>
                </a:solidFill>
                <a:latin typeface="Calibri" pitchFamily="34" charset="0"/>
                <a:ea typeface="Calibri" pitchFamily="34" charset="-122"/>
                <a:cs typeface="Calibri" pitchFamily="34" charset="-120"/>
              </a:rPr>
              <a:t>Not supported</a:t>
            </a:r>
            <a:endParaRPr lang="en-US" sz="1150" dirty="0"/>
          </a:p>
        </p:txBody>
      </p:sp>
      <p:sp>
        <p:nvSpPr>
          <p:cNvPr id="23" name="Text 21"/>
          <p:cNvSpPr/>
          <p:nvPr/>
        </p:nvSpPr>
        <p:spPr>
          <a:xfrm>
            <a:off x="7059168" y="4654296"/>
            <a:ext cx="4535424" cy="457200"/>
          </a:xfrm>
          <a:prstGeom prst="rect">
            <a:avLst/>
          </a:prstGeom>
          <a:noFill/>
          <a:ln/>
        </p:spPr>
        <p:txBody>
          <a:bodyPr wrap="square" lIns="0" tIns="0" rIns="0" bIns="0" rtlCol="0" anchor="t"/>
          <a:lstStyle/>
          <a:p>
            <a:pPr indent="0" marL="0">
              <a:lnSpc>
                <a:spcPts val="1450"/>
              </a:lnSpc>
              <a:buNone/>
            </a:pPr>
            <a:r>
              <a:rPr lang="en-US" sz="1100" dirty="0">
                <a:solidFill>
                  <a:srgbClr val="3D4859"/>
                </a:solidFill>
                <a:latin typeface="Calibri" pitchFamily="34" charset="0"/>
                <a:ea typeface="Calibri" pitchFamily="34" charset="-122"/>
                <a:cs typeface="Calibri" pitchFamily="34" charset="-120"/>
              </a:rPr>
              <a:t>Hybrid 0.9559 vs Prompt-RAG 0.9779. Reframed as a cost-quality frontier.</a:t>
            </a:r>
            <a:endParaRPr lang="en-US" sz="1100" dirty="0"/>
          </a:p>
        </p:txBody>
      </p:sp>
      <p:sp>
        <p:nvSpPr>
          <p:cNvPr id="24" name="Shape 22"/>
          <p:cNvSpPr/>
          <p:nvPr/>
        </p:nvSpPr>
        <p:spPr>
          <a:xfrm>
            <a:off x="438912" y="5148072"/>
            <a:ext cx="11283696" cy="585216"/>
          </a:xfrm>
          <a:prstGeom prst="rect">
            <a:avLst/>
          </a:prstGeom>
          <a:solidFill>
            <a:srgbClr val="EDE8DC"/>
          </a:solidFill>
          <a:ln w="12700">
            <a:solidFill>
              <a:srgbClr val="333333"/>
            </a:solidFill>
            <a:prstDash val="solid"/>
          </a:ln>
        </p:spPr>
      </p:sp>
      <p:sp>
        <p:nvSpPr>
          <p:cNvPr id="25" name="Text 23"/>
          <p:cNvSpPr/>
          <p:nvPr/>
        </p:nvSpPr>
        <p:spPr>
          <a:xfrm>
            <a:off x="566928" y="5257800"/>
            <a:ext cx="502920" cy="274320"/>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H5</a:t>
            </a:r>
            <a:endParaRPr lang="en-US" sz="1300" dirty="0"/>
          </a:p>
        </p:txBody>
      </p:sp>
      <p:sp>
        <p:nvSpPr>
          <p:cNvPr id="26" name="Text 24"/>
          <p:cNvSpPr/>
          <p:nvPr/>
        </p:nvSpPr>
        <p:spPr>
          <a:xfrm>
            <a:off x="1115568" y="5276088"/>
            <a:ext cx="3977640" cy="365760"/>
          </a:xfrm>
          <a:prstGeom prst="rect">
            <a:avLst/>
          </a:prstGeom>
          <a:noFill/>
          <a:ln/>
        </p:spPr>
        <p:txBody>
          <a:bodyPr wrap="square" lIns="0" tIns="0" rIns="0" bIns="0" rtlCol="0" anchor="t"/>
          <a:lstStyle/>
          <a:p>
            <a:pPr indent="0" marL="0">
              <a:lnSpc>
                <a:spcPts val="1400"/>
              </a:lnSpc>
              <a:buNone/>
            </a:pPr>
            <a:r>
              <a:rPr lang="en-US" sz="1150" dirty="0">
                <a:solidFill>
                  <a:srgbClr val="1B2A41"/>
                </a:solidFill>
                <a:latin typeface="Calibri" pitchFamily="34" charset="0"/>
                <a:ea typeface="Calibri" pitchFamily="34" charset="-122"/>
                <a:cs typeface="Calibri" pitchFamily="34" charset="-120"/>
              </a:rPr>
              <a:t>Faithfulness independent of retrieval quality</a:t>
            </a:r>
            <a:endParaRPr lang="en-US" sz="1150" dirty="0"/>
          </a:p>
        </p:txBody>
      </p:sp>
      <p:sp>
        <p:nvSpPr>
          <p:cNvPr id="27" name="Text 25"/>
          <p:cNvSpPr/>
          <p:nvPr/>
        </p:nvSpPr>
        <p:spPr>
          <a:xfrm>
            <a:off x="5230368" y="5276088"/>
            <a:ext cx="1691640" cy="274320"/>
          </a:xfrm>
          <a:prstGeom prst="rect">
            <a:avLst/>
          </a:prstGeom>
          <a:noFill/>
          <a:ln/>
        </p:spPr>
        <p:txBody>
          <a:bodyPr wrap="square" lIns="0" tIns="0" rIns="0" bIns="0" rtlCol="0" anchor="ctr"/>
          <a:lstStyle/>
          <a:p>
            <a:pPr indent="0" marL="0">
              <a:buNone/>
            </a:pPr>
            <a:r>
              <a:rPr lang="en-US" sz="1150" b="1" dirty="0">
                <a:solidFill>
                  <a:srgbClr val="2C6B4F"/>
                </a:solidFill>
                <a:latin typeface="Calibri" pitchFamily="34" charset="0"/>
                <a:ea typeface="Calibri" pitchFamily="34" charset="-122"/>
                <a:cs typeface="Calibri" pitchFamily="34" charset="-120"/>
              </a:rPr>
              <a:t>Partially supported</a:t>
            </a:r>
            <a:endParaRPr lang="en-US" sz="1150" dirty="0"/>
          </a:p>
        </p:txBody>
      </p:sp>
      <p:sp>
        <p:nvSpPr>
          <p:cNvPr id="28" name="Text 26"/>
          <p:cNvSpPr/>
          <p:nvPr/>
        </p:nvSpPr>
        <p:spPr>
          <a:xfrm>
            <a:off x="7059168" y="5257800"/>
            <a:ext cx="4535424" cy="457200"/>
          </a:xfrm>
          <a:prstGeom prst="rect">
            <a:avLst/>
          </a:prstGeom>
          <a:noFill/>
          <a:ln/>
        </p:spPr>
        <p:txBody>
          <a:bodyPr wrap="square" lIns="0" tIns="0" rIns="0" bIns="0" rtlCol="0" anchor="t"/>
          <a:lstStyle/>
          <a:p>
            <a:pPr indent="0" marL="0">
              <a:lnSpc>
                <a:spcPts val="1450"/>
              </a:lnSpc>
              <a:buNone/>
            </a:pPr>
            <a:r>
              <a:rPr lang="en-US" sz="1100" dirty="0">
                <a:solidFill>
                  <a:srgbClr val="3D4859"/>
                </a:solidFill>
                <a:latin typeface="Calibri" pitchFamily="34" charset="0"/>
                <a:ea typeface="Calibri" pitchFamily="34" charset="-122"/>
                <a:cs typeface="Calibri" pitchFamily="34" charset="-120"/>
              </a:rPr>
              <a:t>Faithfulness is enforced at generation; retrieval sets what can be said, not how faithfully.</a:t>
            </a:r>
            <a:endParaRPr lang="en-US" sz="1100" dirty="0"/>
          </a:p>
        </p:txBody>
      </p:sp>
      <p:sp>
        <p:nvSpPr>
          <p:cNvPr id="29" name="Text 27"/>
          <p:cNvSpPr/>
          <p:nvPr/>
        </p:nvSpPr>
        <p:spPr>
          <a:xfrm>
            <a:off x="566928" y="5943600"/>
            <a:ext cx="11027664" cy="365760"/>
          </a:xfrm>
          <a:prstGeom prst="rect">
            <a:avLst/>
          </a:prstGeom>
          <a:noFill/>
          <a:ln/>
        </p:spPr>
        <p:txBody>
          <a:bodyPr wrap="square" lIns="0" tIns="0" rIns="0" bIns="0" rtlCol="0" anchor="ctr"/>
          <a:lstStyle/>
          <a:p>
            <a:pPr indent="0" marL="0">
              <a:buNone/>
            </a:pPr>
            <a:r>
              <a:rPr lang="en-US" sz="1600" i="1" dirty="0">
                <a:solidFill>
                  <a:srgbClr val="1B2A41"/>
                </a:solidFill>
                <a:latin typeface="Cambria" pitchFamily="34" charset="0"/>
                <a:ea typeface="Cambria" pitchFamily="34" charset="-122"/>
                <a:cs typeface="Cambria" pitchFamily="34" charset="-120"/>
              </a:rPr>
              <a:t>A preregistered study that confirms everything it predicted has usually not been preregistered.</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66928" y="329184"/>
            <a:ext cx="548640" cy="274320"/>
          </a:xfrm>
          <a:prstGeom prst="rect">
            <a:avLst/>
          </a:prstGeom>
          <a:noFill/>
          <a:ln/>
        </p:spPr>
        <p:txBody>
          <a:bodyPr wrap="square" rtlCol="0" anchor="ctr"/>
          <a:lstStyle/>
          <a:p>
            <a:pPr indent="0" marL="0">
              <a:buNone/>
            </a:pPr>
            <a:r>
              <a:rPr lang="en-US" sz="1100" b="1" spc="200" kern="0" dirty="0">
                <a:solidFill>
                  <a:srgbClr val="C0492A"/>
                </a:solidFill>
                <a:latin typeface="Calibri" pitchFamily="34" charset="0"/>
                <a:ea typeface="Calibri" pitchFamily="34" charset="-122"/>
                <a:cs typeface="Calibri" pitchFamily="34" charset="-120"/>
              </a:rPr>
              <a:t>13</a:t>
            </a:r>
            <a:endParaRPr lang="en-US" sz="1100" dirty="0"/>
          </a:p>
        </p:txBody>
      </p:sp>
      <p:sp>
        <p:nvSpPr>
          <p:cNvPr id="3" name="Text 1"/>
          <p:cNvSpPr/>
          <p:nvPr/>
        </p:nvSpPr>
        <p:spPr>
          <a:xfrm>
            <a:off x="1069848" y="329184"/>
            <a:ext cx="7315200" cy="274320"/>
          </a:xfrm>
          <a:prstGeom prst="rect">
            <a:avLst/>
          </a:prstGeom>
          <a:noFill/>
          <a:ln/>
        </p:spPr>
        <p:txBody>
          <a:bodyPr wrap="square" rtlCol="0" anchor="ctr"/>
          <a:lstStyle/>
          <a:p>
            <a:pPr indent="0" marL="0">
              <a:buNone/>
            </a:pPr>
            <a:r>
              <a:rPr lang="en-US" sz="950" spc="240" kern="0" dirty="0">
                <a:solidFill>
                  <a:srgbClr val="6E7787"/>
                </a:solidFill>
                <a:latin typeface="Calibri" pitchFamily="34" charset="0"/>
                <a:ea typeface="Calibri" pitchFamily="34" charset="-122"/>
                <a:cs typeface="Calibri" pitchFamily="34" charset="-120"/>
              </a:rPr>
              <a:t>GENERALISATION</a:t>
            </a:r>
            <a:endParaRPr lang="en-US" sz="950" dirty="0"/>
          </a:p>
        </p:txBody>
      </p:sp>
      <p:sp>
        <p:nvSpPr>
          <p:cNvPr id="4" name="Text 2"/>
          <p:cNvSpPr/>
          <p:nvPr/>
        </p:nvSpPr>
        <p:spPr>
          <a:xfrm>
            <a:off x="566928" y="777240"/>
            <a:ext cx="11027664" cy="868680"/>
          </a:xfrm>
          <a:prstGeom prst="rect">
            <a:avLst/>
          </a:prstGeom>
          <a:noFill/>
          <a:ln/>
        </p:spPr>
        <p:txBody>
          <a:bodyPr wrap="square" lIns="0" tIns="0" rIns="0" bIns="0" rtlCol="0" anchor="t"/>
          <a:lstStyle/>
          <a:p>
            <a:pPr indent="0" marL="0">
              <a:lnSpc>
                <a:spcPts val="3360"/>
              </a:lnSpc>
              <a:buNone/>
            </a:pPr>
            <a:r>
              <a:rPr lang="en-US" sz="3000" dirty="0">
                <a:solidFill>
                  <a:srgbClr val="1B2A41"/>
                </a:solidFill>
                <a:latin typeface="Cambria" pitchFamily="34" charset="0"/>
                <a:ea typeface="Cambria" pitchFamily="34" charset="-122"/>
                <a:cs typeface="Cambria" pitchFamily="34" charset="-120"/>
              </a:rPr>
              <a:t>Does it hold outside the pilot?</a:t>
            </a:r>
            <a:endParaRPr lang="en-US" sz="3000" dirty="0"/>
          </a:p>
        </p:txBody>
      </p:sp>
      <p:sp>
        <p:nvSpPr>
          <p:cNvPr id="5" name="Text 3"/>
          <p:cNvSpPr/>
          <p:nvPr/>
        </p:nvSpPr>
        <p:spPr>
          <a:xfrm>
            <a:off x="566928" y="1600200"/>
            <a:ext cx="8822131" cy="777240"/>
          </a:xfrm>
          <a:prstGeom prst="rect">
            <a:avLst/>
          </a:prstGeom>
          <a:noFill/>
          <a:ln/>
        </p:spPr>
        <p:txBody>
          <a:bodyPr wrap="square" lIns="0" tIns="0" rIns="0" bIns="0" rtlCol="0" anchor="t"/>
          <a:lstStyle/>
          <a:p>
            <a:pPr indent="0" marL="0">
              <a:lnSpc>
                <a:spcPts val="2103"/>
              </a:lnSpc>
              <a:buNone/>
            </a:pPr>
            <a:r>
              <a:rPr lang="en-US" sz="1450" dirty="0">
                <a:solidFill>
                  <a:srgbClr val="3D4859"/>
                </a:solidFill>
                <a:latin typeface="Calibri" pitchFamily="34" charset="0"/>
                <a:ea typeface="Calibri" pitchFamily="34" charset="-122"/>
                <a:cs typeface="Calibri" pitchFamily="34" charset="-120"/>
              </a:rPr>
              <a:t>Twelve fresh questions on an independently acquired document set, with every configuration frozen beforehand. Separately, the corpus was scaled to 130 documents to test whether the pipeline holds.</a:t>
            </a:r>
            <a:endParaRPr lang="en-US" sz="1450" dirty="0"/>
          </a:p>
        </p:txBody>
      </p:sp>
      <p:sp>
        <p:nvSpPr>
          <p:cNvPr id="6" name="Shape 4"/>
          <p:cNvSpPr/>
          <p:nvPr/>
        </p:nvSpPr>
        <p:spPr>
          <a:xfrm>
            <a:off x="566928" y="2514600"/>
            <a:ext cx="5183002" cy="2743200"/>
          </a:xfrm>
          <a:prstGeom prst="rect">
            <a:avLst/>
          </a:prstGeom>
          <a:solidFill>
            <a:srgbClr val="EDE8DC"/>
          </a:solidFill>
          <a:ln w="9525">
            <a:solidFill>
              <a:srgbClr val="D4CEC0"/>
            </a:solidFill>
            <a:prstDash val="solid"/>
          </a:ln>
        </p:spPr>
      </p:sp>
      <p:sp>
        <p:nvSpPr>
          <p:cNvPr id="7" name="Text 5"/>
          <p:cNvSpPr/>
          <p:nvPr/>
        </p:nvSpPr>
        <p:spPr>
          <a:xfrm>
            <a:off x="841248" y="2724912"/>
            <a:ext cx="4572000" cy="237744"/>
          </a:xfrm>
          <a:prstGeom prst="rect">
            <a:avLst/>
          </a:prstGeom>
          <a:noFill/>
          <a:ln/>
        </p:spPr>
        <p:txBody>
          <a:bodyPr wrap="square" lIns="0" tIns="0" rIns="0" bIns="0" rtlCol="0" anchor="ctr"/>
          <a:lstStyle/>
          <a:p>
            <a:pPr indent="0" marL="0">
              <a:buNone/>
            </a:pPr>
            <a:r>
              <a:rPr lang="en-US" sz="900" b="1" spc="150" kern="0" dirty="0">
                <a:solidFill>
                  <a:srgbClr val="6E7787"/>
                </a:solidFill>
                <a:latin typeface="Calibri" pitchFamily="34" charset="0"/>
                <a:ea typeface="Calibri" pitchFamily="34" charset="-122"/>
                <a:cs typeface="Calibri" pitchFamily="34" charset="-120"/>
              </a:rPr>
              <a:t>INDEPENDENT HOLDOUT  ·  12 QUESTIONS</a:t>
            </a:r>
            <a:endParaRPr lang="en-US" sz="900" dirty="0"/>
          </a:p>
        </p:txBody>
      </p:sp>
      <p:sp>
        <p:nvSpPr>
          <p:cNvPr id="8" name="Text 6"/>
          <p:cNvSpPr/>
          <p:nvPr/>
        </p:nvSpPr>
        <p:spPr>
          <a:xfrm>
            <a:off x="841248" y="3108960"/>
            <a:ext cx="2011680" cy="274320"/>
          </a:xfrm>
          <a:prstGeom prst="rect">
            <a:avLst/>
          </a:prstGeom>
          <a:noFill/>
          <a:ln/>
        </p:spPr>
        <p:txBody>
          <a:bodyPr wrap="square" lIns="0" tIns="0" rIns="0" bIns="0" rtlCol="0" anchor="ctr"/>
          <a:lstStyle/>
          <a:p>
            <a:pPr indent="0" marL="0">
              <a:buNone/>
            </a:pPr>
            <a:r>
              <a:rPr lang="en-US" sz="1250" b="1" dirty="0">
                <a:solidFill>
                  <a:srgbClr val="C0492A"/>
                </a:solidFill>
                <a:latin typeface="Calibri" pitchFamily="34" charset="0"/>
                <a:ea typeface="Calibri" pitchFamily="34" charset="-122"/>
                <a:cs typeface="Calibri" pitchFamily="34" charset="-120"/>
              </a:rPr>
              <a:t>BM25</a:t>
            </a:r>
            <a:endParaRPr lang="en-US" sz="1250" dirty="0"/>
          </a:p>
        </p:txBody>
      </p:sp>
      <p:sp>
        <p:nvSpPr>
          <p:cNvPr id="9" name="Shape 7"/>
          <p:cNvSpPr/>
          <p:nvPr/>
        </p:nvSpPr>
        <p:spPr>
          <a:xfrm>
            <a:off x="2944368" y="3163824"/>
            <a:ext cx="1920240" cy="164592"/>
          </a:xfrm>
          <a:prstGeom prst="rect">
            <a:avLst/>
          </a:prstGeom>
          <a:solidFill>
            <a:srgbClr val="E4DED0"/>
          </a:solidFill>
          <a:ln w="12700">
            <a:solidFill>
              <a:srgbClr val="333333"/>
            </a:solidFill>
            <a:prstDash val="solid"/>
          </a:ln>
        </p:spPr>
      </p:sp>
      <p:sp>
        <p:nvSpPr>
          <p:cNvPr id="10" name="Shape 8"/>
          <p:cNvSpPr/>
          <p:nvPr/>
        </p:nvSpPr>
        <p:spPr>
          <a:xfrm>
            <a:off x="2944368" y="3163824"/>
            <a:ext cx="1280224" cy="164592"/>
          </a:xfrm>
          <a:prstGeom prst="rect">
            <a:avLst/>
          </a:prstGeom>
          <a:solidFill>
            <a:srgbClr val="C0492A"/>
          </a:solidFill>
          <a:ln w="12700">
            <a:solidFill>
              <a:srgbClr val="333333"/>
            </a:solidFill>
            <a:prstDash val="solid"/>
          </a:ln>
        </p:spPr>
      </p:sp>
      <p:sp>
        <p:nvSpPr>
          <p:cNvPr id="11" name="Text 9"/>
          <p:cNvSpPr/>
          <p:nvPr/>
        </p:nvSpPr>
        <p:spPr>
          <a:xfrm>
            <a:off x="4974336" y="3127248"/>
            <a:ext cx="822960" cy="256032"/>
          </a:xfrm>
          <a:prstGeom prst="rect">
            <a:avLst/>
          </a:prstGeom>
          <a:noFill/>
          <a:ln/>
        </p:spPr>
        <p:txBody>
          <a:bodyPr wrap="square" lIns="0" tIns="0" rIns="0" bIns="0" rtlCol="0" anchor="ctr"/>
          <a:lstStyle/>
          <a:p>
            <a:pPr indent="0" marL="0">
              <a:buNone/>
            </a:pPr>
            <a:r>
              <a:rPr lang="en-US" sz="1100" dirty="0">
                <a:solidFill>
                  <a:srgbClr val="3D4859"/>
                </a:solidFill>
                <a:latin typeface="Calibri" pitchFamily="34" charset="0"/>
                <a:ea typeface="Calibri" pitchFamily="34" charset="-122"/>
                <a:cs typeface="Calibri" pitchFamily="34" charset="-120"/>
              </a:rPr>
              <a:t>0.6667</a:t>
            </a:r>
            <a:endParaRPr lang="en-US" sz="1100" dirty="0"/>
          </a:p>
        </p:txBody>
      </p:sp>
      <p:sp>
        <p:nvSpPr>
          <p:cNvPr id="12" name="Text 10"/>
          <p:cNvSpPr/>
          <p:nvPr/>
        </p:nvSpPr>
        <p:spPr>
          <a:xfrm>
            <a:off x="841248" y="3566160"/>
            <a:ext cx="2011680" cy="274320"/>
          </a:xfrm>
          <a:prstGeom prst="rect">
            <a:avLst/>
          </a:prstGeom>
          <a:noFill/>
          <a:ln/>
        </p:spPr>
        <p:txBody>
          <a:bodyPr wrap="square" lIns="0" tIns="0" rIns="0" bIns="0" rtlCol="0" anchor="ctr"/>
          <a:lstStyle/>
          <a:p>
            <a:pPr indent="0" marL="0">
              <a:buNone/>
            </a:pPr>
            <a:r>
              <a:rPr lang="en-US" sz="1250" dirty="0">
                <a:solidFill>
                  <a:srgbClr val="6E7787"/>
                </a:solidFill>
                <a:latin typeface="Calibri" pitchFamily="34" charset="0"/>
                <a:ea typeface="Calibri" pitchFamily="34" charset="-122"/>
                <a:cs typeface="Calibri" pitchFamily="34" charset="-120"/>
              </a:rPr>
              <a:t>Hybrid R4</a:t>
            </a:r>
            <a:endParaRPr lang="en-US" sz="1250" dirty="0"/>
          </a:p>
        </p:txBody>
      </p:sp>
      <p:sp>
        <p:nvSpPr>
          <p:cNvPr id="13" name="Shape 11"/>
          <p:cNvSpPr/>
          <p:nvPr/>
        </p:nvSpPr>
        <p:spPr>
          <a:xfrm>
            <a:off x="2944368" y="3621024"/>
            <a:ext cx="1920240" cy="164592"/>
          </a:xfrm>
          <a:prstGeom prst="rect">
            <a:avLst/>
          </a:prstGeom>
          <a:solidFill>
            <a:srgbClr val="E4DED0"/>
          </a:solidFill>
          <a:ln w="12700">
            <a:solidFill>
              <a:srgbClr val="333333"/>
            </a:solidFill>
            <a:prstDash val="solid"/>
          </a:ln>
        </p:spPr>
      </p:sp>
      <p:sp>
        <p:nvSpPr>
          <p:cNvPr id="14" name="Shape 12"/>
          <p:cNvSpPr/>
          <p:nvPr/>
        </p:nvSpPr>
        <p:spPr>
          <a:xfrm>
            <a:off x="2944368" y="3621024"/>
            <a:ext cx="1266782" cy="164592"/>
          </a:xfrm>
          <a:prstGeom prst="rect">
            <a:avLst/>
          </a:prstGeom>
          <a:solidFill>
            <a:srgbClr val="8A93A2"/>
          </a:solidFill>
          <a:ln w="12700">
            <a:solidFill>
              <a:srgbClr val="333333"/>
            </a:solidFill>
            <a:prstDash val="solid"/>
          </a:ln>
        </p:spPr>
      </p:sp>
      <p:sp>
        <p:nvSpPr>
          <p:cNvPr id="15" name="Text 13"/>
          <p:cNvSpPr/>
          <p:nvPr/>
        </p:nvSpPr>
        <p:spPr>
          <a:xfrm>
            <a:off x="4974336" y="3584448"/>
            <a:ext cx="822960" cy="256032"/>
          </a:xfrm>
          <a:prstGeom prst="rect">
            <a:avLst/>
          </a:prstGeom>
          <a:noFill/>
          <a:ln/>
        </p:spPr>
        <p:txBody>
          <a:bodyPr wrap="square" lIns="0" tIns="0" rIns="0" bIns="0" rtlCol="0" anchor="ctr"/>
          <a:lstStyle/>
          <a:p>
            <a:pPr indent="0" marL="0">
              <a:buNone/>
            </a:pPr>
            <a:r>
              <a:rPr lang="en-US" sz="1100" dirty="0">
                <a:solidFill>
                  <a:srgbClr val="3D4859"/>
                </a:solidFill>
                <a:latin typeface="Calibri" pitchFamily="34" charset="0"/>
                <a:ea typeface="Calibri" pitchFamily="34" charset="-122"/>
                <a:cs typeface="Calibri" pitchFamily="34" charset="-120"/>
              </a:rPr>
              <a:t>0.6597</a:t>
            </a:r>
            <a:endParaRPr lang="en-US" sz="1100" dirty="0"/>
          </a:p>
        </p:txBody>
      </p:sp>
      <p:sp>
        <p:nvSpPr>
          <p:cNvPr id="16" name="Text 14"/>
          <p:cNvSpPr/>
          <p:nvPr/>
        </p:nvSpPr>
        <p:spPr>
          <a:xfrm>
            <a:off x="841248" y="4023360"/>
            <a:ext cx="2011680" cy="274320"/>
          </a:xfrm>
          <a:prstGeom prst="rect">
            <a:avLst/>
          </a:prstGeom>
          <a:noFill/>
          <a:ln/>
        </p:spPr>
        <p:txBody>
          <a:bodyPr wrap="square" lIns="0" tIns="0" rIns="0" bIns="0" rtlCol="0" anchor="ctr"/>
          <a:lstStyle/>
          <a:p>
            <a:pPr indent="0" marL="0">
              <a:buNone/>
            </a:pPr>
            <a:r>
              <a:rPr lang="en-US" sz="1250" dirty="0">
                <a:solidFill>
                  <a:srgbClr val="6E7787"/>
                </a:solidFill>
                <a:latin typeface="Calibri" pitchFamily="34" charset="0"/>
                <a:ea typeface="Calibri" pitchFamily="34" charset="-122"/>
                <a:cs typeface="Calibri" pitchFamily="34" charset="-120"/>
              </a:rPr>
              <a:t>FAISS cosine</a:t>
            </a:r>
            <a:endParaRPr lang="en-US" sz="1250" dirty="0"/>
          </a:p>
        </p:txBody>
      </p:sp>
      <p:sp>
        <p:nvSpPr>
          <p:cNvPr id="17" name="Shape 15"/>
          <p:cNvSpPr/>
          <p:nvPr/>
        </p:nvSpPr>
        <p:spPr>
          <a:xfrm>
            <a:off x="2944368" y="4078224"/>
            <a:ext cx="1920240" cy="164592"/>
          </a:xfrm>
          <a:prstGeom prst="rect">
            <a:avLst/>
          </a:prstGeom>
          <a:solidFill>
            <a:srgbClr val="E4DED0"/>
          </a:solidFill>
          <a:ln w="12700">
            <a:solidFill>
              <a:srgbClr val="333333"/>
            </a:solidFill>
            <a:prstDash val="solid"/>
          </a:ln>
        </p:spPr>
      </p:sp>
      <p:sp>
        <p:nvSpPr>
          <p:cNvPr id="18" name="Shape 16"/>
          <p:cNvSpPr/>
          <p:nvPr/>
        </p:nvSpPr>
        <p:spPr>
          <a:xfrm>
            <a:off x="2944368" y="4078224"/>
            <a:ext cx="1045379" cy="164592"/>
          </a:xfrm>
          <a:prstGeom prst="rect">
            <a:avLst/>
          </a:prstGeom>
          <a:solidFill>
            <a:srgbClr val="8A93A2"/>
          </a:solidFill>
          <a:ln w="12700">
            <a:solidFill>
              <a:srgbClr val="333333"/>
            </a:solidFill>
            <a:prstDash val="solid"/>
          </a:ln>
        </p:spPr>
      </p:sp>
      <p:sp>
        <p:nvSpPr>
          <p:cNvPr id="19" name="Text 17"/>
          <p:cNvSpPr/>
          <p:nvPr/>
        </p:nvSpPr>
        <p:spPr>
          <a:xfrm>
            <a:off x="4974336" y="4041648"/>
            <a:ext cx="822960" cy="256032"/>
          </a:xfrm>
          <a:prstGeom prst="rect">
            <a:avLst/>
          </a:prstGeom>
          <a:noFill/>
          <a:ln/>
        </p:spPr>
        <p:txBody>
          <a:bodyPr wrap="square" lIns="0" tIns="0" rIns="0" bIns="0" rtlCol="0" anchor="ctr"/>
          <a:lstStyle/>
          <a:p>
            <a:pPr indent="0" marL="0">
              <a:buNone/>
            </a:pPr>
            <a:r>
              <a:rPr lang="en-US" sz="1100" dirty="0">
                <a:solidFill>
                  <a:srgbClr val="3D4859"/>
                </a:solidFill>
                <a:latin typeface="Calibri" pitchFamily="34" charset="0"/>
                <a:ea typeface="Calibri" pitchFamily="34" charset="-122"/>
                <a:cs typeface="Calibri" pitchFamily="34" charset="-120"/>
              </a:rPr>
              <a:t>0.5444</a:t>
            </a:r>
            <a:endParaRPr lang="en-US" sz="1100" dirty="0"/>
          </a:p>
        </p:txBody>
      </p:sp>
      <p:sp>
        <p:nvSpPr>
          <p:cNvPr id="20" name="Text 18"/>
          <p:cNvSpPr/>
          <p:nvPr/>
        </p:nvSpPr>
        <p:spPr>
          <a:xfrm>
            <a:off x="841248" y="4480560"/>
            <a:ext cx="2011680" cy="274320"/>
          </a:xfrm>
          <a:prstGeom prst="rect">
            <a:avLst/>
          </a:prstGeom>
          <a:noFill/>
          <a:ln/>
        </p:spPr>
        <p:txBody>
          <a:bodyPr wrap="square" lIns="0" tIns="0" rIns="0" bIns="0" rtlCol="0" anchor="ctr"/>
          <a:lstStyle/>
          <a:p>
            <a:pPr indent="0" marL="0">
              <a:buNone/>
            </a:pPr>
            <a:r>
              <a:rPr lang="en-US" sz="1250" dirty="0">
                <a:solidFill>
                  <a:srgbClr val="6E7787"/>
                </a:solidFill>
                <a:latin typeface="Calibri" pitchFamily="34" charset="0"/>
                <a:ea typeface="Calibri" pitchFamily="34" charset="-122"/>
                <a:cs typeface="Calibri" pitchFamily="34" charset="-120"/>
              </a:rPr>
              <a:t>Entity Graph v4</a:t>
            </a:r>
            <a:endParaRPr lang="en-US" sz="1250" dirty="0"/>
          </a:p>
        </p:txBody>
      </p:sp>
      <p:sp>
        <p:nvSpPr>
          <p:cNvPr id="21" name="Shape 19"/>
          <p:cNvSpPr/>
          <p:nvPr/>
        </p:nvSpPr>
        <p:spPr>
          <a:xfrm>
            <a:off x="2944368" y="4535424"/>
            <a:ext cx="1920240" cy="164592"/>
          </a:xfrm>
          <a:prstGeom prst="rect">
            <a:avLst/>
          </a:prstGeom>
          <a:solidFill>
            <a:srgbClr val="E4DED0"/>
          </a:solidFill>
          <a:ln w="12700">
            <a:solidFill>
              <a:srgbClr val="333333"/>
            </a:solidFill>
            <a:prstDash val="solid"/>
          </a:ln>
        </p:spPr>
      </p:sp>
      <p:sp>
        <p:nvSpPr>
          <p:cNvPr id="22" name="Shape 20"/>
          <p:cNvSpPr/>
          <p:nvPr/>
        </p:nvSpPr>
        <p:spPr>
          <a:xfrm>
            <a:off x="2944368" y="4535424"/>
            <a:ext cx="991228" cy="164592"/>
          </a:xfrm>
          <a:prstGeom prst="rect">
            <a:avLst/>
          </a:prstGeom>
          <a:solidFill>
            <a:srgbClr val="8A93A2"/>
          </a:solidFill>
          <a:ln w="12700">
            <a:solidFill>
              <a:srgbClr val="333333"/>
            </a:solidFill>
            <a:prstDash val="solid"/>
          </a:ln>
        </p:spPr>
      </p:sp>
      <p:sp>
        <p:nvSpPr>
          <p:cNvPr id="23" name="Text 21"/>
          <p:cNvSpPr/>
          <p:nvPr/>
        </p:nvSpPr>
        <p:spPr>
          <a:xfrm>
            <a:off x="4974336" y="4498848"/>
            <a:ext cx="822960" cy="256032"/>
          </a:xfrm>
          <a:prstGeom prst="rect">
            <a:avLst/>
          </a:prstGeom>
          <a:noFill/>
          <a:ln/>
        </p:spPr>
        <p:txBody>
          <a:bodyPr wrap="square" lIns="0" tIns="0" rIns="0" bIns="0" rtlCol="0" anchor="ctr"/>
          <a:lstStyle/>
          <a:p>
            <a:pPr indent="0" marL="0">
              <a:buNone/>
            </a:pPr>
            <a:r>
              <a:rPr lang="en-US" sz="1100" dirty="0">
                <a:solidFill>
                  <a:srgbClr val="3D4859"/>
                </a:solidFill>
                <a:latin typeface="Calibri" pitchFamily="34" charset="0"/>
                <a:ea typeface="Calibri" pitchFamily="34" charset="-122"/>
                <a:cs typeface="Calibri" pitchFamily="34" charset="-120"/>
              </a:rPr>
              <a:t>0.5162</a:t>
            </a:r>
            <a:endParaRPr lang="en-US" sz="1100" dirty="0"/>
          </a:p>
        </p:txBody>
      </p:sp>
      <p:sp>
        <p:nvSpPr>
          <p:cNvPr id="24" name="Text 22"/>
          <p:cNvSpPr/>
          <p:nvPr/>
        </p:nvSpPr>
        <p:spPr>
          <a:xfrm>
            <a:off x="841248" y="4956048"/>
            <a:ext cx="4754880" cy="256032"/>
          </a:xfrm>
          <a:prstGeom prst="rect">
            <a:avLst/>
          </a:prstGeom>
          <a:noFill/>
          <a:ln/>
        </p:spPr>
        <p:txBody>
          <a:bodyPr wrap="square" lIns="0" tIns="0" rIns="0" bIns="0" rtlCol="0" anchor="ctr"/>
          <a:lstStyle/>
          <a:p>
            <a:pPr indent="0" marL="0">
              <a:buNone/>
            </a:pPr>
            <a:r>
              <a:rPr lang="en-US" sz="1150" i="1" dirty="0">
                <a:solidFill>
                  <a:srgbClr val="1B2A41"/>
                </a:solidFill>
                <a:latin typeface="Calibri" pitchFamily="34" charset="0"/>
                <a:ea typeface="Calibri" pitchFamily="34" charset="-122"/>
                <a:cs typeface="Calibri" pitchFamily="34" charset="-120"/>
              </a:rPr>
              <a:t>Ordering preserved. BM25 first, dense retrieval below it.</a:t>
            </a:r>
            <a:endParaRPr lang="en-US" sz="1150" dirty="0"/>
          </a:p>
        </p:txBody>
      </p:sp>
      <p:sp>
        <p:nvSpPr>
          <p:cNvPr id="25" name="Shape 23"/>
          <p:cNvSpPr/>
          <p:nvPr/>
        </p:nvSpPr>
        <p:spPr>
          <a:xfrm>
            <a:off x="6080760" y="2514600"/>
            <a:ext cx="5513832" cy="2743200"/>
          </a:xfrm>
          <a:prstGeom prst="rect">
            <a:avLst/>
          </a:prstGeom>
          <a:solidFill>
            <a:srgbClr val="FBF9F4"/>
          </a:solidFill>
          <a:ln w="9525">
            <a:solidFill>
              <a:srgbClr val="D4CEC0"/>
            </a:solidFill>
            <a:prstDash val="solid"/>
          </a:ln>
        </p:spPr>
      </p:sp>
      <p:sp>
        <p:nvSpPr>
          <p:cNvPr id="26" name="Text 24"/>
          <p:cNvSpPr/>
          <p:nvPr/>
        </p:nvSpPr>
        <p:spPr>
          <a:xfrm>
            <a:off x="6355080" y="2724912"/>
            <a:ext cx="5029200" cy="237744"/>
          </a:xfrm>
          <a:prstGeom prst="rect">
            <a:avLst/>
          </a:prstGeom>
          <a:noFill/>
          <a:ln/>
        </p:spPr>
        <p:txBody>
          <a:bodyPr wrap="square" lIns="0" tIns="0" rIns="0" bIns="0" rtlCol="0" anchor="ctr"/>
          <a:lstStyle/>
          <a:p>
            <a:pPr indent="0" marL="0">
              <a:buNone/>
            </a:pPr>
            <a:r>
              <a:rPr lang="en-US" sz="900" b="1" spc="150" kern="0" dirty="0">
                <a:solidFill>
                  <a:srgbClr val="6E7787"/>
                </a:solidFill>
                <a:latin typeface="Calibri" pitchFamily="34" charset="0"/>
                <a:ea typeface="Calibri" pitchFamily="34" charset="-122"/>
                <a:cs typeface="Calibri" pitchFamily="34" charset="-120"/>
              </a:rPr>
              <a:t>SCALE TEST  ·  130 DOCUMENTS, 100 QUESTIONS</a:t>
            </a:r>
            <a:endParaRPr lang="en-US" sz="900" dirty="0"/>
          </a:p>
        </p:txBody>
      </p:sp>
      <p:sp>
        <p:nvSpPr>
          <p:cNvPr id="27" name="Text 25"/>
          <p:cNvSpPr/>
          <p:nvPr/>
        </p:nvSpPr>
        <p:spPr>
          <a:xfrm>
            <a:off x="6355080" y="3063240"/>
            <a:ext cx="1280160" cy="237744"/>
          </a:xfrm>
          <a:prstGeom prst="rect">
            <a:avLst/>
          </a:prstGeom>
          <a:noFill/>
          <a:ln/>
        </p:spPr>
        <p:txBody>
          <a:bodyPr wrap="square" lIns="0" tIns="0" rIns="0" bIns="0" rtlCol="0" anchor="ctr"/>
          <a:lstStyle/>
          <a:p>
            <a:pPr indent="0" marL="0">
              <a:buNone/>
            </a:pPr>
            <a:r>
              <a:rPr lang="en-US" sz="900" b="1" spc="130" kern="0" dirty="0">
                <a:solidFill>
                  <a:srgbClr val="2C6B4F"/>
                </a:solidFill>
                <a:latin typeface="Calibri" pitchFamily="34" charset="0"/>
                <a:ea typeface="Calibri" pitchFamily="34" charset="-122"/>
                <a:cs typeface="Calibri" pitchFamily="34" charset="-120"/>
              </a:rPr>
              <a:t>HELD</a:t>
            </a:r>
            <a:endParaRPr lang="en-US" sz="900" dirty="0"/>
          </a:p>
        </p:txBody>
      </p:sp>
      <p:sp>
        <p:nvSpPr>
          <p:cNvPr id="28" name="Text 26"/>
          <p:cNvSpPr/>
          <p:nvPr/>
        </p:nvSpPr>
        <p:spPr>
          <a:xfrm>
            <a:off x="7589520" y="3026664"/>
            <a:ext cx="3730752" cy="713232"/>
          </a:xfrm>
          <a:prstGeom prst="rect">
            <a:avLst/>
          </a:prstGeom>
          <a:noFill/>
          <a:ln/>
        </p:spPr>
        <p:txBody>
          <a:bodyPr wrap="square" lIns="0" tIns="0" rIns="0" bIns="0" rtlCol="0" anchor="t"/>
          <a:lstStyle/>
          <a:p>
            <a:pPr indent="0" marL="0">
              <a:lnSpc>
                <a:spcPts val="1500"/>
              </a:lnSpc>
              <a:buNone/>
            </a:pPr>
            <a:r>
              <a:rPr lang="en-US" sz="1100" dirty="0">
                <a:solidFill>
                  <a:srgbClr val="3D4859"/>
                </a:solidFill>
                <a:latin typeface="Calibri" pitchFamily="34" charset="0"/>
                <a:ea typeface="Calibri" pitchFamily="34" charset="-122"/>
                <a:cs typeface="Calibri" pitchFamily="34" charset="-120"/>
              </a:rPr>
              <a:t>FAISS remained weakest or near-weakest. BM25, Hybrid and Prompt-RAG each beat it on nDCG after Holm correction.</a:t>
            </a:r>
            <a:endParaRPr lang="en-US" sz="1100" dirty="0"/>
          </a:p>
        </p:txBody>
      </p:sp>
      <p:sp>
        <p:nvSpPr>
          <p:cNvPr id="29" name="Text 27"/>
          <p:cNvSpPr/>
          <p:nvPr/>
        </p:nvSpPr>
        <p:spPr>
          <a:xfrm>
            <a:off x="6355080" y="3813048"/>
            <a:ext cx="1280160" cy="237744"/>
          </a:xfrm>
          <a:prstGeom prst="rect">
            <a:avLst/>
          </a:prstGeom>
          <a:noFill/>
          <a:ln/>
        </p:spPr>
        <p:txBody>
          <a:bodyPr wrap="square" lIns="0" tIns="0" rIns="0" bIns="0" rtlCol="0" anchor="ctr"/>
          <a:lstStyle/>
          <a:p>
            <a:pPr indent="0" marL="0">
              <a:buNone/>
            </a:pPr>
            <a:r>
              <a:rPr lang="en-US" sz="900" b="1" spc="130" kern="0" dirty="0">
                <a:solidFill>
                  <a:srgbClr val="9A7017"/>
                </a:solidFill>
                <a:latin typeface="Calibri" pitchFamily="34" charset="0"/>
                <a:ea typeface="Calibri" pitchFamily="34" charset="-122"/>
                <a:cs typeface="Calibri" pitchFamily="34" charset="-120"/>
              </a:rPr>
              <a:t>CHANGED</a:t>
            </a:r>
            <a:endParaRPr lang="en-US" sz="900" dirty="0"/>
          </a:p>
        </p:txBody>
      </p:sp>
      <p:sp>
        <p:nvSpPr>
          <p:cNvPr id="30" name="Text 28"/>
          <p:cNvSpPr/>
          <p:nvPr/>
        </p:nvSpPr>
        <p:spPr>
          <a:xfrm>
            <a:off x="7589520" y="3776472"/>
            <a:ext cx="3730752" cy="713232"/>
          </a:xfrm>
          <a:prstGeom prst="rect">
            <a:avLst/>
          </a:prstGeom>
          <a:noFill/>
          <a:ln/>
        </p:spPr>
        <p:txBody>
          <a:bodyPr wrap="square" lIns="0" tIns="0" rIns="0" bIns="0" rtlCol="0" anchor="t"/>
          <a:lstStyle/>
          <a:p>
            <a:pPr indent="0" marL="0">
              <a:lnSpc>
                <a:spcPts val="1500"/>
              </a:lnSpc>
              <a:buNone/>
            </a:pPr>
            <a:r>
              <a:rPr lang="en-US" sz="1100" dirty="0">
                <a:solidFill>
                  <a:srgbClr val="3D4859"/>
                </a:solidFill>
                <a:latin typeface="Calibri" pitchFamily="34" charset="0"/>
                <a:ea typeface="Calibri" pitchFamily="34" charset="-122"/>
                <a:cs typeface="Calibri" pitchFamily="34" charset="-120"/>
              </a:rPr>
              <a:t>Prompt-RAG led the pilot on nDCG; at scale BM25 led by 0.0004 — a practical tie. Benchmark construction moved the ordering.</a:t>
            </a:r>
            <a:endParaRPr lang="en-US" sz="1100" dirty="0"/>
          </a:p>
        </p:txBody>
      </p:sp>
      <p:sp>
        <p:nvSpPr>
          <p:cNvPr id="31" name="Text 29"/>
          <p:cNvSpPr/>
          <p:nvPr/>
        </p:nvSpPr>
        <p:spPr>
          <a:xfrm>
            <a:off x="6355080" y="4562856"/>
            <a:ext cx="1280160" cy="237744"/>
          </a:xfrm>
          <a:prstGeom prst="rect">
            <a:avLst/>
          </a:prstGeom>
          <a:noFill/>
          <a:ln/>
        </p:spPr>
        <p:txBody>
          <a:bodyPr wrap="square" lIns="0" tIns="0" rIns="0" bIns="0" rtlCol="0" anchor="ctr"/>
          <a:lstStyle/>
          <a:p>
            <a:pPr indent="0" marL="0">
              <a:buNone/>
            </a:pPr>
            <a:r>
              <a:rPr lang="en-US" sz="900" b="1" spc="130" kern="0" dirty="0">
                <a:solidFill>
                  <a:srgbClr val="C0492A"/>
                </a:solidFill>
                <a:latin typeface="Calibri" pitchFamily="34" charset="0"/>
                <a:ea typeface="Calibri" pitchFamily="34" charset="-122"/>
                <a:cs typeface="Calibri" pitchFamily="34" charset="-120"/>
              </a:rPr>
              <a:t>NOT CLAIMED</a:t>
            </a:r>
            <a:endParaRPr lang="en-US" sz="900" dirty="0"/>
          </a:p>
        </p:txBody>
      </p:sp>
      <p:sp>
        <p:nvSpPr>
          <p:cNvPr id="32" name="Text 30"/>
          <p:cNvSpPr/>
          <p:nvPr/>
        </p:nvSpPr>
        <p:spPr>
          <a:xfrm>
            <a:off x="7589520" y="4526280"/>
            <a:ext cx="3730752" cy="713232"/>
          </a:xfrm>
          <a:prstGeom prst="rect">
            <a:avLst/>
          </a:prstGeom>
          <a:noFill/>
          <a:ln/>
        </p:spPr>
        <p:txBody>
          <a:bodyPr wrap="square" lIns="0" tIns="0" rIns="0" bIns="0" rtlCol="0" anchor="t"/>
          <a:lstStyle/>
          <a:p>
            <a:pPr indent="0" marL="0">
              <a:lnSpc>
                <a:spcPts val="1500"/>
              </a:lnSpc>
              <a:buNone/>
            </a:pPr>
            <a:r>
              <a:rPr lang="en-US" sz="1100" dirty="0">
                <a:solidFill>
                  <a:srgbClr val="3D4859"/>
                </a:solidFill>
                <a:latin typeface="Calibri" pitchFamily="34" charset="0"/>
                <a:ea typeface="Calibri" pitchFamily="34" charset="-122"/>
                <a:cs typeface="Calibri" pitchFamily="34" charset="-120"/>
              </a:rPr>
              <a:t>R4 labels are AI-assigned with no owner-labelled overlap. It demonstrates engineering scalability, not confirmatory validity.</a:t>
            </a:r>
            <a:endParaRPr lang="en-US" sz="1100" dirty="0"/>
          </a:p>
        </p:txBody>
      </p:sp>
      <p:sp>
        <p:nvSpPr>
          <p:cNvPr id="33" name="Text 31"/>
          <p:cNvSpPr/>
          <p:nvPr/>
        </p:nvSpPr>
        <p:spPr>
          <a:xfrm>
            <a:off x="566928" y="5486400"/>
            <a:ext cx="11027664" cy="457200"/>
          </a:xfrm>
          <a:prstGeom prst="rect">
            <a:avLst/>
          </a:prstGeom>
          <a:noFill/>
          <a:ln/>
        </p:spPr>
        <p:txBody>
          <a:bodyPr wrap="square" lIns="0" tIns="0" rIns="0" bIns="0" rtlCol="0" anchor="t"/>
          <a:lstStyle/>
          <a:p>
            <a:pPr indent="0" marL="0">
              <a:lnSpc>
                <a:spcPts val="1700"/>
              </a:lnSpc>
              <a:buNone/>
            </a:pPr>
            <a:r>
              <a:rPr lang="en-US" sz="1250" dirty="0">
                <a:solidFill>
                  <a:srgbClr val="3D4859"/>
                </a:solidFill>
                <a:latin typeface="Calibri" pitchFamily="34" charset="0"/>
                <a:ea typeface="Calibri" pitchFamily="34" charset="-122"/>
                <a:cs typeface="Calibri" pitchFamily="34" charset="-120"/>
              </a:rPr>
              <a:t>All main paired confidence intervals cross zero. These are directional findings that reproduce, not decisive superiority claims.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4"/>
        </a:solidFill>
      </p:bgPr>
    </p:bg>
    <p:spTree>
      <p:nvGrpSpPr>
        <p:cNvPr id="1" name=""/>
        <p:cNvGrpSpPr/>
        <p:nvPr/>
      </p:nvGrpSpPr>
      <p:grpSpPr>
        <a:xfrm>
          <a:off x="0" y="0"/>
          <a:ext cx="0" cy="0"/>
          <a:chOff x="0" y="0"/>
          <a:chExt cx="0" cy="0"/>
        </a:xfrm>
      </p:grpSpPr>
      <p:sp>
        <p:nvSpPr>
          <p:cNvPr id="2" name="Text 0"/>
          <p:cNvSpPr/>
          <p:nvPr/>
        </p:nvSpPr>
        <p:spPr>
          <a:xfrm>
            <a:off x="566928" y="329184"/>
            <a:ext cx="548640" cy="274320"/>
          </a:xfrm>
          <a:prstGeom prst="rect">
            <a:avLst/>
          </a:prstGeom>
          <a:noFill/>
          <a:ln/>
        </p:spPr>
        <p:txBody>
          <a:bodyPr wrap="square" rtlCol="0" anchor="ctr"/>
          <a:lstStyle/>
          <a:p>
            <a:pPr indent="0" marL="0">
              <a:buNone/>
            </a:pPr>
            <a:r>
              <a:rPr lang="en-US" sz="1100" b="1" spc="200" kern="0" dirty="0">
                <a:solidFill>
                  <a:srgbClr val="C0492A"/>
                </a:solidFill>
                <a:latin typeface="Calibri" pitchFamily="34" charset="0"/>
                <a:ea typeface="Calibri" pitchFamily="34" charset="-122"/>
                <a:cs typeface="Calibri" pitchFamily="34" charset="-120"/>
              </a:rPr>
              <a:t>14</a:t>
            </a:r>
            <a:endParaRPr lang="en-US" sz="1100" dirty="0"/>
          </a:p>
        </p:txBody>
      </p:sp>
      <p:sp>
        <p:nvSpPr>
          <p:cNvPr id="3" name="Text 1"/>
          <p:cNvSpPr/>
          <p:nvPr/>
        </p:nvSpPr>
        <p:spPr>
          <a:xfrm>
            <a:off x="1069848" y="329184"/>
            <a:ext cx="7315200" cy="274320"/>
          </a:xfrm>
          <a:prstGeom prst="rect">
            <a:avLst/>
          </a:prstGeom>
          <a:noFill/>
          <a:ln/>
        </p:spPr>
        <p:txBody>
          <a:bodyPr wrap="square" rtlCol="0" anchor="ctr"/>
          <a:lstStyle/>
          <a:p>
            <a:pPr indent="0" marL="0">
              <a:buNone/>
            </a:pPr>
            <a:r>
              <a:rPr lang="en-US" sz="950" spc="240" kern="0" dirty="0">
                <a:solidFill>
                  <a:srgbClr val="6E7787"/>
                </a:solidFill>
                <a:latin typeface="Calibri" pitchFamily="34" charset="0"/>
                <a:ea typeface="Calibri" pitchFamily="34" charset="-122"/>
                <a:cs typeface="Calibri" pitchFamily="34" charset="-120"/>
              </a:rPr>
              <a:t>CONTRIBUTION</a:t>
            </a:r>
            <a:endParaRPr lang="en-US" sz="950" dirty="0"/>
          </a:p>
        </p:txBody>
      </p:sp>
      <p:sp>
        <p:nvSpPr>
          <p:cNvPr id="4" name="Text 2"/>
          <p:cNvSpPr/>
          <p:nvPr/>
        </p:nvSpPr>
        <p:spPr>
          <a:xfrm>
            <a:off x="566928" y="777240"/>
            <a:ext cx="11027664" cy="868680"/>
          </a:xfrm>
          <a:prstGeom prst="rect">
            <a:avLst/>
          </a:prstGeom>
          <a:noFill/>
          <a:ln/>
        </p:spPr>
        <p:txBody>
          <a:bodyPr wrap="square" lIns="0" tIns="0" rIns="0" bIns="0" rtlCol="0" anchor="t"/>
          <a:lstStyle/>
          <a:p>
            <a:pPr indent="0" marL="0">
              <a:lnSpc>
                <a:spcPts val="3360"/>
              </a:lnSpc>
              <a:buNone/>
            </a:pPr>
            <a:r>
              <a:rPr lang="en-US" sz="3000" dirty="0">
                <a:solidFill>
                  <a:srgbClr val="1B2A41"/>
                </a:solidFill>
                <a:latin typeface="Cambria" pitchFamily="34" charset="0"/>
                <a:ea typeface="Cambria" pitchFamily="34" charset="-122"/>
                <a:cs typeface="Cambria" pitchFamily="34" charset="-120"/>
              </a:rPr>
              <a:t>What exists now that did not before.</a:t>
            </a:r>
            <a:endParaRPr lang="en-US" sz="3000" dirty="0"/>
          </a:p>
        </p:txBody>
      </p:sp>
      <p:sp>
        <p:nvSpPr>
          <p:cNvPr id="5" name="Shape 3"/>
          <p:cNvSpPr/>
          <p:nvPr/>
        </p:nvSpPr>
        <p:spPr>
          <a:xfrm>
            <a:off x="566928" y="2194560"/>
            <a:ext cx="5376672" cy="1572768"/>
          </a:xfrm>
          <a:prstGeom prst="rect">
            <a:avLst/>
          </a:prstGeom>
          <a:solidFill>
            <a:srgbClr val="F4E0D8"/>
          </a:solidFill>
          <a:ln w="9525">
            <a:solidFill>
              <a:srgbClr val="D4CEC0"/>
            </a:solidFill>
            <a:prstDash val="solid"/>
          </a:ln>
        </p:spPr>
      </p:sp>
      <p:sp>
        <p:nvSpPr>
          <p:cNvPr id="6" name="Text 4"/>
          <p:cNvSpPr/>
          <p:nvPr/>
        </p:nvSpPr>
        <p:spPr>
          <a:xfrm>
            <a:off x="822960" y="2414016"/>
            <a:ext cx="4864608" cy="329184"/>
          </a:xfrm>
          <a:prstGeom prst="rect">
            <a:avLst/>
          </a:prstGeom>
          <a:noFill/>
          <a:ln/>
        </p:spPr>
        <p:txBody>
          <a:bodyPr wrap="square" lIns="0" tIns="0" rIns="0" bIns="0" rtlCol="0" anchor="ctr"/>
          <a:lstStyle/>
          <a:p>
            <a:pPr indent="0" marL="0">
              <a:buNone/>
            </a:pPr>
            <a:r>
              <a:rPr lang="en-US" sz="1800" dirty="0">
                <a:solidFill>
                  <a:srgbClr val="C0492A"/>
                </a:solidFill>
                <a:latin typeface="Cambria" pitchFamily="34" charset="0"/>
                <a:ea typeface="Cambria" pitchFamily="34" charset="-122"/>
                <a:cs typeface="Cambria" pitchFamily="34" charset="-120"/>
              </a:rPr>
              <a:t>A reusable benchmark</a:t>
            </a:r>
            <a:endParaRPr lang="en-US" sz="1800" dirty="0"/>
          </a:p>
        </p:txBody>
      </p:sp>
      <p:sp>
        <p:nvSpPr>
          <p:cNvPr id="7" name="Text 5"/>
          <p:cNvSpPr/>
          <p:nvPr/>
        </p:nvSpPr>
        <p:spPr>
          <a:xfrm>
            <a:off x="822960" y="2816352"/>
            <a:ext cx="4864608" cy="822960"/>
          </a:xfrm>
          <a:prstGeom prst="rect">
            <a:avLst/>
          </a:prstGeom>
          <a:noFill/>
          <a:ln/>
        </p:spPr>
        <p:txBody>
          <a:bodyPr wrap="square" lIns="0" tIns="0" rIns="0" bIns="0" rtlCol="0" anchor="t"/>
          <a:lstStyle/>
          <a:p>
            <a:pPr indent="0" marL="0">
              <a:lnSpc>
                <a:spcPts val="1650"/>
              </a:lnSpc>
              <a:buNone/>
            </a:pPr>
            <a:r>
              <a:rPr lang="en-US" sz="1200" dirty="0">
                <a:solidFill>
                  <a:srgbClr val="3D4859"/>
                </a:solidFill>
                <a:latin typeface="Calibri" pitchFamily="34" charset="0"/>
                <a:ea typeface="Calibri" pitchFamily="34" charset="-122"/>
                <a:cs typeface="Calibri" pitchFamily="34" charset="-120"/>
              </a:rPr>
              <a:t>22 policy documents, 34 categorised questions, 183 pooled human relevance judgements at κ = 0.7421. Released with hashes and manifests so any retriever can be scored against it.</a:t>
            </a:r>
            <a:endParaRPr lang="en-US" sz="1200" dirty="0"/>
          </a:p>
        </p:txBody>
      </p:sp>
      <p:sp>
        <p:nvSpPr>
          <p:cNvPr id="8" name="Shape 6"/>
          <p:cNvSpPr/>
          <p:nvPr/>
        </p:nvSpPr>
        <p:spPr>
          <a:xfrm>
            <a:off x="6217920" y="2194560"/>
            <a:ext cx="5376672" cy="1572768"/>
          </a:xfrm>
          <a:prstGeom prst="rect">
            <a:avLst/>
          </a:prstGeom>
          <a:solidFill>
            <a:srgbClr val="EDE8DC"/>
          </a:solidFill>
          <a:ln w="9525">
            <a:solidFill>
              <a:srgbClr val="D4CEC0"/>
            </a:solidFill>
            <a:prstDash val="solid"/>
          </a:ln>
        </p:spPr>
      </p:sp>
      <p:sp>
        <p:nvSpPr>
          <p:cNvPr id="9" name="Text 7"/>
          <p:cNvSpPr/>
          <p:nvPr/>
        </p:nvSpPr>
        <p:spPr>
          <a:xfrm>
            <a:off x="6473952" y="2414016"/>
            <a:ext cx="4864608" cy="329184"/>
          </a:xfrm>
          <a:prstGeom prst="rect">
            <a:avLst/>
          </a:prstGeom>
          <a:noFill/>
          <a:ln/>
        </p:spPr>
        <p:txBody>
          <a:bodyPr wrap="square" lIns="0" tIns="0" rIns="0" bIns="0" rtlCol="0" anchor="ctr"/>
          <a:lstStyle/>
          <a:p>
            <a:pPr indent="0" marL="0">
              <a:buNone/>
            </a:pPr>
            <a:r>
              <a:rPr lang="en-US" sz="1800" dirty="0">
                <a:solidFill>
                  <a:srgbClr val="9A7017"/>
                </a:solidFill>
                <a:latin typeface="Cambria" pitchFamily="34" charset="0"/>
                <a:ea typeface="Cambria" pitchFamily="34" charset="-122"/>
                <a:cs typeface="Cambria" pitchFamily="34" charset="-120"/>
              </a:rPr>
              <a:t>A measured counter-result</a:t>
            </a:r>
            <a:endParaRPr lang="en-US" sz="1800" dirty="0"/>
          </a:p>
        </p:txBody>
      </p:sp>
      <p:sp>
        <p:nvSpPr>
          <p:cNvPr id="10" name="Text 8"/>
          <p:cNvSpPr/>
          <p:nvPr/>
        </p:nvSpPr>
        <p:spPr>
          <a:xfrm>
            <a:off x="6473952" y="2816352"/>
            <a:ext cx="4864608" cy="822960"/>
          </a:xfrm>
          <a:prstGeom prst="rect">
            <a:avLst/>
          </a:prstGeom>
          <a:noFill/>
          <a:ln/>
        </p:spPr>
        <p:txBody>
          <a:bodyPr wrap="square" lIns="0" tIns="0" rIns="0" bIns="0" rtlCol="0" anchor="t"/>
          <a:lstStyle/>
          <a:p>
            <a:pPr indent="0" marL="0">
              <a:lnSpc>
                <a:spcPts val="1650"/>
              </a:lnSpc>
              <a:buNone/>
            </a:pPr>
            <a:r>
              <a:rPr lang="en-US" sz="1200" dirty="0">
                <a:solidFill>
                  <a:srgbClr val="3D4859"/>
                </a:solidFill>
                <a:latin typeface="Calibri" pitchFamily="34" charset="0"/>
                <a:ea typeface="Calibri" pitchFamily="34" charset="-122"/>
                <a:cs typeface="Calibri" pitchFamily="34" charset="-120"/>
              </a:rPr>
              <a:t>On domain-specific policy text, lexical retrieval matches or beats dense embeddings — with the mechanism identified and the failure mode isolated to a specific query type.</a:t>
            </a:r>
            <a:endParaRPr lang="en-US" sz="1200" dirty="0"/>
          </a:p>
        </p:txBody>
      </p:sp>
      <p:sp>
        <p:nvSpPr>
          <p:cNvPr id="11" name="Shape 9"/>
          <p:cNvSpPr/>
          <p:nvPr/>
        </p:nvSpPr>
        <p:spPr>
          <a:xfrm>
            <a:off x="566928" y="4041648"/>
            <a:ext cx="5376672" cy="1572768"/>
          </a:xfrm>
          <a:prstGeom prst="rect">
            <a:avLst/>
          </a:prstGeom>
          <a:solidFill>
            <a:srgbClr val="EDE8DC"/>
          </a:solidFill>
          <a:ln w="9525">
            <a:solidFill>
              <a:srgbClr val="D4CEC0"/>
            </a:solidFill>
            <a:prstDash val="solid"/>
          </a:ln>
        </p:spPr>
      </p:sp>
      <p:sp>
        <p:nvSpPr>
          <p:cNvPr id="12" name="Text 10"/>
          <p:cNvSpPr/>
          <p:nvPr/>
        </p:nvSpPr>
        <p:spPr>
          <a:xfrm>
            <a:off x="822960" y="4261104"/>
            <a:ext cx="4864608" cy="329184"/>
          </a:xfrm>
          <a:prstGeom prst="rect">
            <a:avLst/>
          </a:prstGeom>
          <a:noFill/>
          <a:ln/>
        </p:spPr>
        <p:txBody>
          <a:bodyPr wrap="square" lIns="0" tIns="0" rIns="0" bIns="0" rtlCol="0" anchor="ctr"/>
          <a:lstStyle/>
          <a:p>
            <a:pPr indent="0" marL="0">
              <a:buNone/>
            </a:pPr>
            <a:r>
              <a:rPr lang="en-US" sz="1800" dirty="0">
                <a:solidFill>
                  <a:srgbClr val="2C6B4F"/>
                </a:solidFill>
                <a:latin typeface="Cambria" pitchFamily="34" charset="0"/>
                <a:ea typeface="Cambria" pitchFamily="34" charset="-122"/>
                <a:cs typeface="Cambria" pitchFamily="34" charset="-120"/>
              </a:rPr>
              <a:t>A cost-aware recommendation</a:t>
            </a:r>
            <a:endParaRPr lang="en-US" sz="1800" dirty="0"/>
          </a:p>
        </p:txBody>
      </p:sp>
      <p:sp>
        <p:nvSpPr>
          <p:cNvPr id="13" name="Text 11"/>
          <p:cNvSpPr/>
          <p:nvPr/>
        </p:nvSpPr>
        <p:spPr>
          <a:xfrm>
            <a:off x="822960" y="4663440"/>
            <a:ext cx="4864608" cy="822960"/>
          </a:xfrm>
          <a:prstGeom prst="rect">
            <a:avLst/>
          </a:prstGeom>
          <a:noFill/>
          <a:ln/>
        </p:spPr>
        <p:txBody>
          <a:bodyPr wrap="square" lIns="0" tIns="0" rIns="0" bIns="0" rtlCol="0" anchor="t"/>
          <a:lstStyle/>
          <a:p>
            <a:pPr indent="0" marL="0">
              <a:lnSpc>
                <a:spcPts val="1650"/>
              </a:lnSpc>
              <a:buNone/>
            </a:pPr>
            <a:r>
              <a:rPr lang="en-US" sz="1200" dirty="0">
                <a:solidFill>
                  <a:srgbClr val="3D4859"/>
                </a:solidFill>
                <a:latin typeface="Calibri" pitchFamily="34" charset="0"/>
                <a:ea typeface="Calibri" pitchFamily="34" charset="-122"/>
                <a:cs typeface="Calibri" pitchFamily="34" charset="-120"/>
              </a:rPr>
              <a:t>For a citizen-facing policy assistant, BM25 or BM25-plus-fusion is the defensible default. LLM reranking must justify its latency against a measured gain, not an assumed one.</a:t>
            </a:r>
            <a:endParaRPr lang="en-US" sz="1200" dirty="0"/>
          </a:p>
        </p:txBody>
      </p:sp>
      <p:sp>
        <p:nvSpPr>
          <p:cNvPr id="14" name="Shape 12"/>
          <p:cNvSpPr/>
          <p:nvPr/>
        </p:nvSpPr>
        <p:spPr>
          <a:xfrm>
            <a:off x="6217920" y="4041648"/>
            <a:ext cx="5376672" cy="1572768"/>
          </a:xfrm>
          <a:prstGeom prst="rect">
            <a:avLst/>
          </a:prstGeom>
          <a:solidFill>
            <a:srgbClr val="EDE8DC"/>
          </a:solidFill>
          <a:ln w="9525">
            <a:solidFill>
              <a:srgbClr val="D4CEC0"/>
            </a:solidFill>
            <a:prstDash val="solid"/>
          </a:ln>
        </p:spPr>
      </p:sp>
      <p:sp>
        <p:nvSpPr>
          <p:cNvPr id="15" name="Text 13"/>
          <p:cNvSpPr/>
          <p:nvPr/>
        </p:nvSpPr>
        <p:spPr>
          <a:xfrm>
            <a:off x="6473952" y="4261104"/>
            <a:ext cx="4864608" cy="329184"/>
          </a:xfrm>
          <a:prstGeom prst="rect">
            <a:avLst/>
          </a:prstGeom>
          <a:noFill/>
          <a:ln/>
        </p:spPr>
        <p:txBody>
          <a:bodyPr wrap="square" lIns="0" tIns="0" rIns="0" bIns="0" rtlCol="0" anchor="ctr"/>
          <a:lstStyle/>
          <a:p>
            <a:pPr indent="0" marL="0">
              <a:buNone/>
            </a:pPr>
            <a:r>
              <a:rPr lang="en-US" sz="1800" dirty="0">
                <a:solidFill>
                  <a:srgbClr val="5B3F82"/>
                </a:solidFill>
                <a:latin typeface="Cambria" pitchFamily="34" charset="0"/>
                <a:ea typeface="Cambria" pitchFamily="34" charset="-122"/>
                <a:cs typeface="Cambria" pitchFamily="34" charset="-120"/>
              </a:rPr>
              <a:t>A fully auditable pipeline</a:t>
            </a:r>
            <a:endParaRPr lang="en-US" sz="1800" dirty="0"/>
          </a:p>
        </p:txBody>
      </p:sp>
      <p:sp>
        <p:nvSpPr>
          <p:cNvPr id="16" name="Text 14"/>
          <p:cNvSpPr/>
          <p:nvPr/>
        </p:nvSpPr>
        <p:spPr>
          <a:xfrm>
            <a:off x="6473952" y="4663440"/>
            <a:ext cx="4864608" cy="822960"/>
          </a:xfrm>
          <a:prstGeom prst="rect">
            <a:avLst/>
          </a:prstGeom>
          <a:noFill/>
          <a:ln/>
        </p:spPr>
        <p:txBody>
          <a:bodyPr wrap="square" lIns="0" tIns="0" rIns="0" bIns="0" rtlCol="0" anchor="t"/>
          <a:lstStyle/>
          <a:p>
            <a:pPr indent="0" marL="0">
              <a:lnSpc>
                <a:spcPts val="1650"/>
              </a:lnSpc>
              <a:buNone/>
            </a:pPr>
            <a:r>
              <a:rPr lang="en-US" sz="1200" dirty="0">
                <a:solidFill>
                  <a:srgbClr val="3D4859"/>
                </a:solidFill>
                <a:latin typeface="Calibri" pitchFamily="34" charset="0"/>
                <a:ea typeface="Calibri" pitchFamily="34" charset="-122"/>
                <a:cs typeface="Calibri" pitchFamily="34" charset="-120"/>
              </a:rPr>
              <a:t>Frozen configurations, zero retries, preserved failures, per-query traces. Every number in this talk can be recomputed from the repository in one command.</a:t>
            </a:r>
            <a:endParaRPr lang="en-US" sz="1200" dirty="0"/>
          </a:p>
        </p:txBody>
      </p:sp>
      <p:sp>
        <p:nvSpPr>
          <p:cNvPr id="17" name="Text 15"/>
          <p:cNvSpPr/>
          <p:nvPr/>
        </p:nvSpPr>
        <p:spPr>
          <a:xfrm>
            <a:off x="566928" y="5742432"/>
            <a:ext cx="11027664" cy="365760"/>
          </a:xfrm>
          <a:prstGeom prst="rect">
            <a:avLst/>
          </a:prstGeom>
          <a:noFill/>
          <a:ln/>
        </p:spPr>
        <p:txBody>
          <a:bodyPr wrap="square" lIns="0" tIns="0" rIns="0" bIns="0" rtlCol="0" anchor="ctr"/>
          <a:lstStyle/>
          <a:p>
            <a:pPr indent="0" marL="0">
              <a:buNone/>
            </a:pPr>
            <a:r>
              <a:rPr lang="en-US" sz="1650" i="1" dirty="0">
                <a:solidFill>
                  <a:srgbClr val="1B2A41"/>
                </a:solidFill>
                <a:latin typeface="Cambria" pitchFamily="34" charset="0"/>
                <a:ea typeface="Cambria" pitchFamily="34" charset="-122"/>
                <a:cs typeface="Cambria" pitchFamily="34" charset="-120"/>
              </a:rPr>
              <a:t>The benchmark is the part that outlives the result. Anyone can now disagree with me and prove it.</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566928" y="329184"/>
            <a:ext cx="548640" cy="274320"/>
          </a:xfrm>
          <a:prstGeom prst="rect">
            <a:avLst/>
          </a:prstGeom>
          <a:noFill/>
          <a:ln/>
        </p:spPr>
        <p:txBody>
          <a:bodyPr wrap="square" rtlCol="0" anchor="ctr"/>
          <a:lstStyle/>
          <a:p>
            <a:pPr indent="0" marL="0">
              <a:buNone/>
            </a:pPr>
            <a:r>
              <a:rPr lang="en-US" sz="1100" b="1" spc="200" kern="0" dirty="0">
                <a:solidFill>
                  <a:srgbClr val="C0492A"/>
                </a:solidFill>
                <a:latin typeface="Calibri" pitchFamily="34" charset="0"/>
                <a:ea typeface="Calibri" pitchFamily="34" charset="-122"/>
                <a:cs typeface="Calibri" pitchFamily="34" charset="-120"/>
              </a:rPr>
              <a:t>15</a:t>
            </a:r>
            <a:endParaRPr lang="en-US" sz="1100" dirty="0"/>
          </a:p>
        </p:txBody>
      </p:sp>
      <p:sp>
        <p:nvSpPr>
          <p:cNvPr id="3" name="Text 1"/>
          <p:cNvSpPr/>
          <p:nvPr/>
        </p:nvSpPr>
        <p:spPr>
          <a:xfrm>
            <a:off x="1069848" y="329184"/>
            <a:ext cx="7315200" cy="274320"/>
          </a:xfrm>
          <a:prstGeom prst="rect">
            <a:avLst/>
          </a:prstGeom>
          <a:noFill/>
          <a:ln/>
        </p:spPr>
        <p:txBody>
          <a:bodyPr wrap="square" rtlCol="0" anchor="ctr"/>
          <a:lstStyle/>
          <a:p>
            <a:pPr indent="0" marL="0">
              <a:buNone/>
            </a:pPr>
            <a:r>
              <a:rPr lang="en-US" sz="950" spc="240" kern="0" dirty="0">
                <a:solidFill>
                  <a:srgbClr val="8A96A8"/>
                </a:solidFill>
                <a:latin typeface="Calibri" pitchFamily="34" charset="0"/>
                <a:ea typeface="Calibri" pitchFamily="34" charset="-122"/>
                <a:cs typeface="Calibri" pitchFamily="34" charset="-120"/>
              </a:rPr>
              <a:t>LIMITS AND NEXT STEPS</a:t>
            </a:r>
            <a:endParaRPr lang="en-US" sz="950" dirty="0"/>
          </a:p>
        </p:txBody>
      </p:sp>
      <p:sp>
        <p:nvSpPr>
          <p:cNvPr id="4" name="Text 2"/>
          <p:cNvSpPr/>
          <p:nvPr/>
        </p:nvSpPr>
        <p:spPr>
          <a:xfrm>
            <a:off x="566928" y="777240"/>
            <a:ext cx="11027664" cy="868680"/>
          </a:xfrm>
          <a:prstGeom prst="rect">
            <a:avLst/>
          </a:prstGeom>
          <a:noFill/>
          <a:ln/>
        </p:spPr>
        <p:txBody>
          <a:bodyPr wrap="square" lIns="0" tIns="0" rIns="0" bIns="0" rtlCol="0" anchor="t"/>
          <a:lstStyle/>
          <a:p>
            <a:pPr indent="0" marL="0">
              <a:lnSpc>
                <a:spcPts val="3360"/>
              </a:lnSpc>
              <a:buNone/>
            </a:pPr>
            <a:r>
              <a:rPr lang="en-US" sz="3000" dirty="0">
                <a:solidFill>
                  <a:srgbClr val="FFFFFF"/>
                </a:solidFill>
                <a:latin typeface="Cambria" pitchFamily="34" charset="0"/>
                <a:ea typeface="Cambria" pitchFamily="34" charset="-122"/>
                <a:cs typeface="Cambria" pitchFamily="34" charset="-120"/>
              </a:rPr>
              <a:t>What I am not claiming.</a:t>
            </a:r>
            <a:endParaRPr lang="en-US" sz="3000" dirty="0"/>
          </a:p>
        </p:txBody>
      </p:sp>
      <p:sp>
        <p:nvSpPr>
          <p:cNvPr id="5" name="Text 3"/>
          <p:cNvSpPr/>
          <p:nvPr/>
        </p:nvSpPr>
        <p:spPr>
          <a:xfrm>
            <a:off x="566928" y="1965960"/>
            <a:ext cx="3017520" cy="310896"/>
          </a:xfrm>
          <a:prstGeom prst="rect">
            <a:avLst/>
          </a:prstGeom>
          <a:noFill/>
          <a:ln/>
        </p:spPr>
        <p:txBody>
          <a:bodyPr wrap="square" lIns="0" tIns="0" rIns="0" bIns="0" rtlCol="0" anchor="ctr"/>
          <a:lstStyle/>
          <a:p>
            <a:pPr indent="0" marL="0">
              <a:buNone/>
            </a:pPr>
            <a:r>
              <a:rPr lang="en-US" sz="1300" b="1" dirty="0">
                <a:solidFill>
                  <a:srgbClr val="C0492A"/>
                </a:solidFill>
                <a:latin typeface="Calibri" pitchFamily="34" charset="0"/>
                <a:ea typeface="Calibri" pitchFamily="34" charset="-122"/>
                <a:cs typeface="Calibri" pitchFamily="34" charset="-120"/>
              </a:rPr>
              <a:t>Sample size</a:t>
            </a:r>
            <a:endParaRPr lang="en-US" sz="1300" dirty="0"/>
          </a:p>
        </p:txBody>
      </p:sp>
      <p:sp>
        <p:nvSpPr>
          <p:cNvPr id="6" name="Text 4"/>
          <p:cNvSpPr/>
          <p:nvPr/>
        </p:nvSpPr>
        <p:spPr>
          <a:xfrm>
            <a:off x="3767328" y="1947672"/>
            <a:ext cx="7827264" cy="731520"/>
          </a:xfrm>
          <a:prstGeom prst="rect">
            <a:avLst/>
          </a:prstGeom>
          <a:noFill/>
          <a:ln/>
        </p:spPr>
        <p:txBody>
          <a:bodyPr wrap="square" lIns="0" tIns="0" rIns="0" bIns="0" rtlCol="0" anchor="t"/>
          <a:lstStyle/>
          <a:p>
            <a:pPr indent="0" marL="0">
              <a:lnSpc>
                <a:spcPts val="1700"/>
              </a:lnSpc>
              <a:buNone/>
            </a:pPr>
            <a:r>
              <a:rPr lang="en-US" sz="1250" dirty="0">
                <a:solidFill>
                  <a:srgbClr val="B9C2CF"/>
                </a:solidFill>
                <a:latin typeface="Calibri" pitchFamily="34" charset="0"/>
                <a:ea typeface="Calibri" pitchFamily="34" charset="-122"/>
                <a:cs typeface="Calibri" pitchFamily="34" charset="-120"/>
              </a:rPr>
              <a:t>34 pilot and 12 holdout questions. Intervals are wide; I report direction and mechanism, not decisive superiority.</a:t>
            </a:r>
            <a:endParaRPr lang="en-US" sz="1250" dirty="0"/>
          </a:p>
        </p:txBody>
      </p:sp>
      <p:sp>
        <p:nvSpPr>
          <p:cNvPr id="7" name="Text 5"/>
          <p:cNvSpPr/>
          <p:nvPr/>
        </p:nvSpPr>
        <p:spPr>
          <a:xfrm>
            <a:off x="566928" y="2898648"/>
            <a:ext cx="3017520" cy="310896"/>
          </a:xfrm>
          <a:prstGeom prst="rect">
            <a:avLst/>
          </a:prstGeom>
          <a:noFill/>
          <a:ln/>
        </p:spPr>
        <p:txBody>
          <a:bodyPr wrap="square" lIns="0" tIns="0" rIns="0" bIns="0" rtlCol="0" anchor="ctr"/>
          <a:lstStyle/>
          <a:p>
            <a:pPr indent="0" marL="0">
              <a:buNone/>
            </a:pPr>
            <a:r>
              <a:rPr lang="en-US" sz="1300" b="1" dirty="0">
                <a:solidFill>
                  <a:srgbClr val="C0492A"/>
                </a:solidFill>
                <a:latin typeface="Calibri" pitchFamily="34" charset="0"/>
                <a:ea typeface="Calibri" pitchFamily="34" charset="-122"/>
                <a:cs typeface="Calibri" pitchFamily="34" charset="-120"/>
              </a:rPr>
              <a:t>Construct validity of paraphrase</a:t>
            </a:r>
            <a:endParaRPr lang="en-US" sz="1300" dirty="0"/>
          </a:p>
        </p:txBody>
      </p:sp>
      <p:sp>
        <p:nvSpPr>
          <p:cNvPr id="8" name="Text 6"/>
          <p:cNvSpPr/>
          <p:nvPr/>
        </p:nvSpPr>
        <p:spPr>
          <a:xfrm>
            <a:off x="3767328" y="2880360"/>
            <a:ext cx="7827264" cy="731520"/>
          </a:xfrm>
          <a:prstGeom prst="rect">
            <a:avLst/>
          </a:prstGeom>
          <a:noFill/>
          <a:ln/>
        </p:spPr>
        <p:txBody>
          <a:bodyPr wrap="square" lIns="0" tIns="0" rIns="0" bIns="0" rtlCol="0" anchor="t"/>
          <a:lstStyle/>
          <a:p>
            <a:pPr indent="0" marL="0">
              <a:lnSpc>
                <a:spcPts val="1700"/>
              </a:lnSpc>
              <a:buNone/>
            </a:pPr>
            <a:r>
              <a:rPr lang="en-US" sz="1250" dirty="0">
                <a:solidFill>
                  <a:srgbClr val="B9C2CF"/>
                </a:solidFill>
                <a:latin typeface="Calibri" pitchFamily="34" charset="0"/>
                <a:ea typeface="Calibri" pitchFamily="34" charset="-122"/>
                <a:cs typeface="Calibri" pitchFamily="34" charset="-120"/>
              </a:rPr>
              <a:t>Some rewritten questions retained document terminology, weakening the intended lexical-mismatch test. A paraphrase-only follow-up is preregistered.</a:t>
            </a:r>
            <a:endParaRPr lang="en-US" sz="1250" dirty="0"/>
          </a:p>
        </p:txBody>
      </p:sp>
      <p:sp>
        <p:nvSpPr>
          <p:cNvPr id="9" name="Text 7"/>
          <p:cNvSpPr/>
          <p:nvPr/>
        </p:nvSpPr>
        <p:spPr>
          <a:xfrm>
            <a:off x="566928" y="3831336"/>
            <a:ext cx="3017520" cy="310896"/>
          </a:xfrm>
          <a:prstGeom prst="rect">
            <a:avLst/>
          </a:prstGeom>
          <a:noFill/>
          <a:ln/>
        </p:spPr>
        <p:txBody>
          <a:bodyPr wrap="square" lIns="0" tIns="0" rIns="0" bIns="0" rtlCol="0" anchor="ctr"/>
          <a:lstStyle/>
          <a:p>
            <a:pPr indent="0" marL="0">
              <a:buNone/>
            </a:pPr>
            <a:r>
              <a:rPr lang="en-US" sz="1300" b="1" dirty="0">
                <a:solidFill>
                  <a:srgbClr val="C0492A"/>
                </a:solidFill>
                <a:latin typeface="Calibri" pitchFamily="34" charset="0"/>
                <a:ea typeface="Calibri" pitchFamily="34" charset="-122"/>
                <a:cs typeface="Calibri" pitchFamily="34" charset="-120"/>
              </a:rPr>
              <a:t>Scale evidence is engineering</a:t>
            </a:r>
            <a:endParaRPr lang="en-US" sz="1300" dirty="0"/>
          </a:p>
        </p:txBody>
      </p:sp>
      <p:sp>
        <p:nvSpPr>
          <p:cNvPr id="10" name="Text 8"/>
          <p:cNvSpPr/>
          <p:nvPr/>
        </p:nvSpPr>
        <p:spPr>
          <a:xfrm>
            <a:off x="3767328" y="3813048"/>
            <a:ext cx="7827264" cy="731520"/>
          </a:xfrm>
          <a:prstGeom prst="rect">
            <a:avLst/>
          </a:prstGeom>
          <a:noFill/>
          <a:ln/>
        </p:spPr>
        <p:txBody>
          <a:bodyPr wrap="square" lIns="0" tIns="0" rIns="0" bIns="0" rtlCol="0" anchor="t"/>
          <a:lstStyle/>
          <a:p>
            <a:pPr indent="0" marL="0">
              <a:lnSpc>
                <a:spcPts val="1700"/>
              </a:lnSpc>
              <a:buNone/>
            </a:pPr>
            <a:r>
              <a:rPr lang="en-US" sz="1250" dirty="0">
                <a:solidFill>
                  <a:srgbClr val="B9C2CF"/>
                </a:solidFill>
                <a:latin typeface="Calibri" pitchFamily="34" charset="0"/>
                <a:ea typeface="Calibri" pitchFamily="34" charset="-122"/>
                <a:cs typeface="Calibri" pitchFamily="34" charset="-120"/>
              </a:rPr>
              <a:t>The 130-document run used AI-assigned labels with no human overlap. It shows the pipeline holds, not that the findings confirm.</a:t>
            </a:r>
            <a:endParaRPr lang="en-US" sz="1250" dirty="0"/>
          </a:p>
        </p:txBody>
      </p:sp>
      <p:sp>
        <p:nvSpPr>
          <p:cNvPr id="11" name="Text 9"/>
          <p:cNvSpPr/>
          <p:nvPr/>
        </p:nvSpPr>
        <p:spPr>
          <a:xfrm>
            <a:off x="566928" y="4764024"/>
            <a:ext cx="3017520" cy="310896"/>
          </a:xfrm>
          <a:prstGeom prst="rect">
            <a:avLst/>
          </a:prstGeom>
          <a:noFill/>
          <a:ln/>
        </p:spPr>
        <p:txBody>
          <a:bodyPr wrap="square" lIns="0" tIns="0" rIns="0" bIns="0" rtlCol="0" anchor="ctr"/>
          <a:lstStyle/>
          <a:p>
            <a:pPr indent="0" marL="0">
              <a:buNone/>
            </a:pPr>
            <a:r>
              <a:rPr lang="en-US" sz="1300" b="1" dirty="0">
                <a:solidFill>
                  <a:srgbClr val="C0492A"/>
                </a:solidFill>
                <a:latin typeface="Calibri" pitchFamily="34" charset="0"/>
                <a:ea typeface="Calibri" pitchFamily="34" charset="-122"/>
                <a:cs typeface="Calibri" pitchFamily="34" charset="-120"/>
              </a:rPr>
              <a:t>Single language, single domain</a:t>
            </a:r>
            <a:endParaRPr lang="en-US" sz="1300" dirty="0"/>
          </a:p>
        </p:txBody>
      </p:sp>
      <p:sp>
        <p:nvSpPr>
          <p:cNvPr id="12" name="Text 10"/>
          <p:cNvSpPr/>
          <p:nvPr/>
        </p:nvSpPr>
        <p:spPr>
          <a:xfrm>
            <a:off x="3767328" y="4745736"/>
            <a:ext cx="7827264" cy="731520"/>
          </a:xfrm>
          <a:prstGeom prst="rect">
            <a:avLst/>
          </a:prstGeom>
          <a:noFill/>
          <a:ln/>
        </p:spPr>
        <p:txBody>
          <a:bodyPr wrap="square" lIns="0" tIns="0" rIns="0" bIns="0" rtlCol="0" anchor="t"/>
          <a:lstStyle/>
          <a:p>
            <a:pPr indent="0" marL="0">
              <a:lnSpc>
                <a:spcPts val="1700"/>
              </a:lnSpc>
              <a:buNone/>
            </a:pPr>
            <a:r>
              <a:rPr lang="en-US" sz="1250" dirty="0">
                <a:solidFill>
                  <a:srgbClr val="B9C2CF"/>
                </a:solidFill>
                <a:latin typeface="Calibri" pitchFamily="34" charset="0"/>
                <a:ea typeface="Calibri" pitchFamily="34" charset="-122"/>
                <a:cs typeface="Calibri" pitchFamily="34" charset="-120"/>
              </a:rPr>
              <a:t>English-language Indian policy text. No claim transfers to other domains or languages without re-measurement.</a:t>
            </a:r>
            <a:endParaRPr lang="en-US" sz="1250" dirty="0"/>
          </a:p>
        </p:txBody>
      </p:sp>
      <p:sp>
        <p:nvSpPr>
          <p:cNvPr id="13" name="Shape 11"/>
          <p:cNvSpPr/>
          <p:nvPr/>
        </p:nvSpPr>
        <p:spPr>
          <a:xfrm>
            <a:off x="566928" y="5715000"/>
            <a:ext cx="11027664" cy="18288"/>
          </a:xfrm>
          <a:prstGeom prst="rect">
            <a:avLst/>
          </a:prstGeom>
          <a:solidFill>
            <a:srgbClr val="3A4A63"/>
          </a:solidFill>
          <a:ln w="12700">
            <a:solidFill>
              <a:srgbClr val="333333"/>
            </a:solidFill>
            <a:prstDash val="solid"/>
          </a:ln>
        </p:spPr>
      </p:sp>
      <p:sp>
        <p:nvSpPr>
          <p:cNvPr id="14" name="Text 12"/>
          <p:cNvSpPr/>
          <p:nvPr/>
        </p:nvSpPr>
        <p:spPr>
          <a:xfrm>
            <a:off x="566928" y="5943600"/>
            <a:ext cx="5486400" cy="411480"/>
          </a:xfrm>
          <a:prstGeom prst="rect">
            <a:avLst/>
          </a:prstGeom>
          <a:noFill/>
          <a:ln/>
        </p:spPr>
        <p:txBody>
          <a:bodyPr wrap="square" lIns="0" tIns="0" rIns="0" bIns="0" rtlCol="0" anchor="ctr"/>
          <a:lstStyle/>
          <a:p>
            <a:pPr indent="0" marL="0">
              <a:buNone/>
            </a:pPr>
            <a:r>
              <a:rPr lang="en-US" sz="2200" dirty="0">
                <a:solidFill>
                  <a:srgbClr val="FFFFFF"/>
                </a:solidFill>
                <a:latin typeface="Cambria" pitchFamily="34" charset="0"/>
                <a:ea typeface="Cambria" pitchFamily="34" charset="-122"/>
                <a:cs typeface="Cambria" pitchFamily="34" charset="-120"/>
              </a:rPr>
              <a:t>Thank you  ·  Questions</a:t>
            </a:r>
            <a:endParaRPr lang="en-US" sz="2200" dirty="0"/>
          </a:p>
        </p:txBody>
      </p:sp>
      <p:sp>
        <p:nvSpPr>
          <p:cNvPr id="15" name="Text 13"/>
          <p:cNvSpPr/>
          <p:nvPr/>
        </p:nvSpPr>
        <p:spPr>
          <a:xfrm>
            <a:off x="6510528" y="6053328"/>
            <a:ext cx="5084064" cy="274320"/>
          </a:xfrm>
          <a:prstGeom prst="rect">
            <a:avLst/>
          </a:prstGeom>
          <a:noFill/>
          <a:ln/>
        </p:spPr>
        <p:txBody>
          <a:bodyPr wrap="square" lIns="0" tIns="0" rIns="0" bIns="0" rtlCol="0" anchor="ctr"/>
          <a:lstStyle/>
          <a:p>
            <a:pPr algn="r" indent="0" marL="0">
              <a:buNone/>
            </a:pPr>
            <a:r>
              <a:rPr lang="en-US" sz="1000" dirty="0">
                <a:solidFill>
                  <a:srgbClr val="6E7B8E"/>
                </a:solidFill>
                <a:latin typeface="Calibri" pitchFamily="34" charset="0"/>
                <a:ea typeface="Calibri" pitchFamily="34" charset="-122"/>
                <a:cs typeface="Calibri" pitchFamily="34" charset="-120"/>
              </a:rPr>
              <a:t>Every figure recomputes from the repository  ·  runs/canonical_v2_pilot/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2026-08-07T16:11:46Z</dcterms:created>
  <dcterms:modified xsi:type="dcterms:W3CDTF">2026-08-07T16:11:46Z</dcterms:modified>
</cp:coreProperties>
</file>